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1.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charts/chart2.xml" ContentType="application/vnd.openxmlformats-officedocument.drawingml.chart+xml"/>
  <Override PartName="/ppt/slideMasters/slideMaster15.xml" ContentType="application/vnd.openxmlformats-officedocument.presentationml.slideMaster+xml"/>
  <Override PartName="/ppt/slides/slide15.xml" ContentType="application/vnd.openxmlformats-officedocument.presentationml.slide+xml"/>
  <Override PartName="/ppt/charts/chart3.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charts/chart4.xml" ContentType="application/vnd.openxmlformats-officedocument.drawingml.chart+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a290aff1-aee3-ccee-e31e-02fdc380f540}">
          <p14:sldIdLst>
            <p14:sldId id="256"/>
          </p14:sldIdLst>
        </p14:section>
        <p14:section name="Default-1" id="{bb5f1b56-0d93-0719-cd36-c94c1ca4ccb3}">
          <p14:sldIdLst>
            <p14:sldId id="257"/>
            <p14:sldId id="258"/>
          </p14:sldIdLst>
        </p14:section>
        <p14:section name="Level 1 · Method" id="{c380bd69-9a40-e861-d200-5d4be002f0ac}">
          <p14:sldIdLst>
            <p14:sldId id="259"/>
          </p14:sldIdLst>
        </p14:section>
        <p14:section name="Default-2" id="{ed65155d-4dd0-9107-983c-7afa89ea8ead}">
          <p14:sldIdLst>
            <p14:sldId id="260"/>
            <p14:sldId id="261"/>
            <p14:sldId id="262"/>
            <p14:sldId id="263"/>
            <p14:sldId id="264"/>
            <p14:sldId id="265"/>
          </p14:sldIdLst>
        </p14:section>
        <p14:section name="Level 1 · Results" id="{77c5ac8c-6dd8-7bfe-52fb-3dea262a83a4}">
          <p14:sldIdLst>
            <p14:sldId id="266"/>
          </p14:sldIdLst>
        </p14:section>
        <p14:section name="Default-3" id="{c6b2741f-e694-7283-f447-fd199871efdb}">
          <p14:sldIdLst>
            <p14:sldId id="267"/>
            <p14:sldId id="268"/>
            <p14:sldId id="269"/>
            <p14:sldId id="270"/>
          </p14:sldIdLst>
        </p14:section>
        <p14:section name="Level 2" id="{74f85332-34e4-c6a1-72f9-72e83407ec7e}">
          <p14:sldIdLst>
            <p14:sldId id="271"/>
          </p14:sldIdLst>
        </p14:section>
        <p14:section name="Conclusion" id="{f1ec1717-e75c-4ece-d69f-469c69f39078}">
          <p14:sldIdLst>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chart>
    <c:title>
      <c:tx>
        <c:rich>
          <a:bodyPr/>
          <a:lstStyle/>
          <a:p>
            <a:pPr>
              <a:defRPr sz="1300" b="0" i="0" u="none" strike="noStrike">
                <a:solidFill>
                  <a:srgbClr val="EEF3FA"/>
                </a:solidFill>
                <a:latin typeface="+mn-lt"/>
              </a:defRPr>
            </a:pPr>
            <a:r>
              <a:rPr sz="1300" b="0" i="0" u="none" strike="noStrike">
                <a:solidFill>
                  <a:srgbClr val="EEF3FA"/>
                </a:solidFill>
                <a:latin typeface="+mn-lt"/>
              </a:rPr>
              <a:t>Mean validation position error per epoch (FK-checked)</a:t>
            </a:r>
          </a:p>
        </c:rich>
      </c:tx>
      <c:layout/>
      <c:overlay val="0"/>
    </c:title>
    <c:autoTitleDeleted val="0"/>
    <c:plotArea>
      <c:layout/>
      <c:lineChart>
        <c:varyColors val="0"/>
        <c:ser>
          <c:idx val="0"/>
          <c:order val="0"/>
          <c:tx>
            <c:strRef>
              <c:f>Sheet1!$B$1</c:f>
              <c:strCache>
                <c:ptCount val="1"/>
                <c:pt idx="0">
                  <c:v>Baseline MLP · 20 k samples</c:v>
                </c:pt>
              </c:strCache>
            </c:strRef>
          </c:tx>
          <c:spPr>
            <a:solidFill>
              <a:srgbClr val="E9B440"/>
            </a:solidFill>
            <a:ln w="28575" cap="flat">
              <a:solidFill>
                <a:srgbClr val="E9B440"/>
              </a:solidFill>
              <a:prstDash val="solid"/>
              <a:round/>
            </a:ln>
            <a:effectLst/>
          </c:spPr>
          <c:invertIfNegative val="0"/>
          <c:dLbls>
            <c:numFmt formatCode="#,##0" sourceLinked="0"/>
            <c:txPr>
              <a:bodyPr/>
              <a:lstStyle/>
              <a:p>
                <a:pPr>
                  <a:defRPr b="0" i="0" strike="noStrike" sz="1000" u="none">
                    <a:solidFill>
                      <a:srgbClr val="EEF3FA"/>
                    </a:solidFill>
                    <a:latin typeface="+mn-lt"/>
                  </a:defRPr>
                </a:pPr>
              </a:p>
            </c:txPr>
            <c:showLegendKey val="0"/>
            <c:showVal val="0"/>
            <c:showCatName val="0"/>
            <c:showSerName val="0"/>
            <c:showPercent val="0"/>
            <c:showBubbleSize val="0"/>
            <c:showLeaderLines val="0"/>
          </c:dLbls>
          <c:marker>
            <c:symbol val="none"/>
            <c:size val="6"/>
            <c:spPr>
              <a:solidFill>
                <a:srgbClr val="E9B440"/>
              </a:solidFill>
              <a:ln w="9525" cap="flat">
                <a:solidFill>
                  <a:srgbClr val="E9B440"/>
                </a:solidFill>
                <a:prstDash val="solid"/>
                <a:round/>
              </a:ln>
              <a:effectLst/>
            </c:spPr>
          </c:marker>
          <c:cat>
            <c:multiLvlStrRef>
              <c:f>Sheet1!$A$2:$A$121</c:f>
              <c:multiLvlStrCache>
                <c:ptCount val="120"/>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pt idx="96">
                    <c:v>97</c:v>
                  </c:pt>
                  <c:pt idx="97">
                    <c:v>98</c:v>
                  </c:pt>
                  <c:pt idx="98">
                    <c:v>99</c:v>
                  </c:pt>
                  <c:pt idx="99">
                    <c:v>100</c:v>
                  </c:pt>
                  <c:pt idx="100">
                    <c:v>101</c:v>
                  </c:pt>
                  <c:pt idx="101">
                    <c:v>102</c:v>
                  </c:pt>
                  <c:pt idx="102">
                    <c:v>103</c:v>
                  </c:pt>
                  <c:pt idx="103">
                    <c:v>104</c:v>
                  </c:pt>
                  <c:pt idx="104">
                    <c:v>105</c:v>
                  </c:pt>
                  <c:pt idx="105">
                    <c:v>106</c:v>
                  </c:pt>
                  <c:pt idx="106">
                    <c:v>107</c:v>
                  </c:pt>
                  <c:pt idx="107">
                    <c:v>108</c:v>
                  </c:pt>
                  <c:pt idx="108">
                    <c:v>109</c:v>
                  </c:pt>
                  <c:pt idx="109">
                    <c:v>110</c:v>
                  </c:pt>
                  <c:pt idx="110">
                    <c:v>111</c:v>
                  </c:pt>
                  <c:pt idx="111">
                    <c:v>112</c:v>
                  </c:pt>
                  <c:pt idx="112">
                    <c:v>113</c:v>
                  </c:pt>
                  <c:pt idx="113">
                    <c:v>114</c:v>
                  </c:pt>
                  <c:pt idx="114">
                    <c:v>115</c:v>
                  </c:pt>
                  <c:pt idx="115">
                    <c:v>116</c:v>
                  </c:pt>
                  <c:pt idx="116">
                    <c:v>117</c:v>
                  </c:pt>
                  <c:pt idx="117">
                    <c:v>118</c:v>
                  </c:pt>
                  <c:pt idx="118">
                    <c:v>119</c:v>
                  </c:pt>
                  <c:pt idx="119">
                    <c:v>120</c:v>
                  </c:pt>
                </c:lvl>
              </c:multiLvlStrCache>
            </c:multiLvlStrRef>
          </c:cat>
          <c:val>
            <c:numRef>
              <c:f>Sheet1!$B$2:$B$121</c:f>
              <c:numCache>
                <c:formatCode>General</c:formatCode>
                <c:ptCount val="120"/>
                <c:pt idx="0">
                  <c:v>473.33</c:v>
                </c:pt>
                <c:pt idx="1">
                  <c:v>364.57</c:v>
                </c:pt>
                <c:pt idx="2">
                  <c:v>277.8</c:v>
                </c:pt>
                <c:pt idx="3">
                  <c:v>204.53</c:v>
                </c:pt>
                <c:pt idx="4">
                  <c:v>175.76</c:v>
                </c:pt>
                <c:pt idx="5">
                  <c:v>170.68</c:v>
                </c:pt>
                <c:pt idx="6">
                  <c:v>164.7</c:v>
                </c:pt>
                <c:pt idx="7">
                  <c:v>163.88</c:v>
                </c:pt>
                <c:pt idx="8">
                  <c:v>160.61</c:v>
                </c:pt>
                <c:pt idx="9">
                  <c:v>155.15</c:v>
                </c:pt>
                <c:pt idx="10">
                  <c:v>150.21</c:v>
                </c:pt>
                <c:pt idx="11">
                  <c:v>158.49</c:v>
                </c:pt>
                <c:pt idx="12">
                  <c:v>147.93</c:v>
                </c:pt>
                <c:pt idx="13">
                  <c:v>149.75</c:v>
                </c:pt>
                <c:pt idx="14">
                  <c:v>148.02</c:v>
                </c:pt>
                <c:pt idx="15">
                  <c:v>145.43</c:v>
                </c:pt>
                <c:pt idx="16">
                  <c:v>148.63</c:v>
                </c:pt>
                <c:pt idx="17">
                  <c:v>143.58</c:v>
                </c:pt>
                <c:pt idx="18">
                  <c:v>146.62</c:v>
                </c:pt>
                <c:pt idx="19">
                  <c:v>142.52</c:v>
                </c:pt>
                <c:pt idx="20">
                  <c:v>139.74</c:v>
                </c:pt>
                <c:pt idx="21">
                  <c:v>142.97</c:v>
                </c:pt>
                <c:pt idx="22">
                  <c:v>143.59</c:v>
                </c:pt>
                <c:pt idx="23">
                  <c:v>141.34</c:v>
                </c:pt>
                <c:pt idx="24">
                  <c:v>141.46</c:v>
                </c:pt>
                <c:pt idx="25">
                  <c:v>136.8</c:v>
                </c:pt>
                <c:pt idx="26">
                  <c:v>138.5</c:v>
                </c:pt>
                <c:pt idx="27">
                  <c:v>135.34</c:v>
                </c:pt>
                <c:pt idx="28">
                  <c:v>136.48</c:v>
                </c:pt>
                <c:pt idx="29">
                  <c:v>133.91</c:v>
                </c:pt>
                <c:pt idx="30">
                  <c:v>137.37</c:v>
                </c:pt>
                <c:pt idx="31">
                  <c:v>129.85</c:v>
                </c:pt>
                <c:pt idx="32">
                  <c:v>135.76</c:v>
                </c:pt>
                <c:pt idx="33">
                  <c:v>132.54</c:v>
                </c:pt>
                <c:pt idx="34">
                  <c:v>130.88</c:v>
                </c:pt>
                <c:pt idx="35">
                  <c:v>130.63</c:v>
                </c:pt>
                <c:pt idx="36">
                  <c:v>129.82</c:v>
                </c:pt>
                <c:pt idx="37">
                  <c:v>126.73</c:v>
                </c:pt>
                <c:pt idx="38">
                  <c:v>126.82</c:v>
                </c:pt>
                <c:pt idx="39">
                  <c:v>126.53</c:v>
                </c:pt>
                <c:pt idx="40">
                  <c:v>127.08</c:v>
                </c:pt>
                <c:pt idx="41">
                  <c:v>124.39</c:v>
                </c:pt>
                <c:pt idx="42">
                  <c:v>121.35</c:v>
                </c:pt>
                <c:pt idx="43">
                  <c:v>123.49</c:v>
                </c:pt>
                <c:pt idx="44">
                  <c:v>124.3</c:v>
                </c:pt>
                <c:pt idx="45">
                  <c:v>122.42</c:v>
                </c:pt>
                <c:pt idx="46">
                  <c:v>123.07</c:v>
                </c:pt>
                <c:pt idx="47">
                  <c:v>121.5</c:v>
                </c:pt>
                <c:pt idx="48">
                  <c:v>119.63</c:v>
                </c:pt>
                <c:pt idx="49">
                  <c:v>117.54</c:v>
                </c:pt>
                <c:pt idx="50">
                  <c:v>119.54</c:v>
                </c:pt>
                <c:pt idx="51">
                  <c:v>116.2</c:v>
                </c:pt>
                <c:pt idx="52">
                  <c:v>119.02</c:v>
                </c:pt>
                <c:pt idx="53">
                  <c:v>117.58</c:v>
                </c:pt>
                <c:pt idx="54">
                  <c:v>116.28</c:v>
                </c:pt>
                <c:pt idx="55">
                  <c:v>115.9</c:v>
                </c:pt>
                <c:pt idx="56">
                  <c:v>112.86</c:v>
                </c:pt>
                <c:pt idx="57">
                  <c:v>112.9</c:v>
                </c:pt>
                <c:pt idx="58">
                  <c:v>113.06</c:v>
                </c:pt>
                <c:pt idx="59">
                  <c:v>114.77</c:v>
                </c:pt>
              </c:numCache>
            </c:numRef>
          </c:val>
          <c:smooth val="0"/>
        </c:ser>
        <c:ser>
          <c:idx val="1"/>
          <c:order val="1"/>
          <c:tx>
            <c:strRef>
              <c:f>Sheet1!$C$1</c:f>
              <c:strCache>
                <c:ptCount val="1"/>
                <c:pt idx="0">
                  <c:v>Residual MLP · 200 k samples</c:v>
                </c:pt>
              </c:strCache>
            </c:strRef>
          </c:tx>
          <c:spPr>
            <a:solidFill>
              <a:srgbClr val="45C99A"/>
            </a:solidFill>
            <a:ln w="28575" cap="flat">
              <a:solidFill>
                <a:srgbClr val="45C99A"/>
              </a:solidFill>
              <a:prstDash val="solid"/>
              <a:round/>
            </a:ln>
            <a:effectLst/>
          </c:spPr>
          <c:invertIfNegative val="0"/>
          <c:dLbls>
            <c:numFmt formatCode="#,##0" sourceLinked="0"/>
            <c:txPr>
              <a:bodyPr/>
              <a:lstStyle/>
              <a:p>
                <a:pPr>
                  <a:defRPr b="0" i="0" strike="noStrike" sz="1000" u="none">
                    <a:solidFill>
                      <a:srgbClr val="EEF3FA"/>
                    </a:solidFill>
                    <a:latin typeface="+mn-lt"/>
                  </a:defRPr>
                </a:pPr>
              </a:p>
            </c:txPr>
            <c:showLegendKey val="0"/>
            <c:showVal val="0"/>
            <c:showCatName val="0"/>
            <c:showSerName val="0"/>
            <c:showPercent val="0"/>
            <c:showBubbleSize val="0"/>
            <c:showLeaderLines val="0"/>
          </c:dLbls>
          <c:marker>
            <c:symbol val="none"/>
            <c:size val="6"/>
            <c:spPr>
              <a:solidFill>
                <a:srgbClr val="45C99A"/>
              </a:solidFill>
              <a:ln w="9525" cap="flat">
                <a:solidFill>
                  <a:srgbClr val="45C99A"/>
                </a:solidFill>
                <a:prstDash val="solid"/>
                <a:round/>
              </a:ln>
              <a:effectLst/>
            </c:spPr>
          </c:marker>
          <c:cat>
            <c:multiLvlStrRef>
              <c:f>Sheet1!$A$2:$A$121</c:f>
              <c:multiLvlStrCache>
                <c:ptCount val="120"/>
                <c:lvl>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pt idx="56">
                    <c:v>57</c:v>
                  </c:pt>
                  <c:pt idx="57">
                    <c:v>58</c:v>
                  </c:pt>
                  <c:pt idx="58">
                    <c:v>59</c:v>
                  </c:pt>
                  <c:pt idx="59">
                    <c:v>60</c:v>
                  </c:pt>
                  <c:pt idx="60">
                    <c:v>61</c:v>
                  </c:pt>
                  <c:pt idx="61">
                    <c:v>62</c:v>
                  </c:pt>
                  <c:pt idx="62">
                    <c:v>63</c:v>
                  </c:pt>
                  <c:pt idx="63">
                    <c:v>64</c:v>
                  </c:pt>
                  <c:pt idx="64">
                    <c:v>65</c:v>
                  </c:pt>
                  <c:pt idx="65">
                    <c:v>66</c:v>
                  </c:pt>
                  <c:pt idx="66">
                    <c:v>67</c:v>
                  </c:pt>
                  <c:pt idx="67">
                    <c:v>68</c:v>
                  </c:pt>
                  <c:pt idx="68">
                    <c:v>69</c:v>
                  </c:pt>
                  <c:pt idx="69">
                    <c:v>70</c:v>
                  </c:pt>
                  <c:pt idx="70">
                    <c:v>71</c:v>
                  </c:pt>
                  <c:pt idx="71">
                    <c:v>72</c:v>
                  </c:pt>
                  <c:pt idx="72">
                    <c:v>73</c:v>
                  </c:pt>
                  <c:pt idx="73">
                    <c:v>74</c:v>
                  </c:pt>
                  <c:pt idx="74">
                    <c:v>75</c:v>
                  </c:pt>
                  <c:pt idx="75">
                    <c:v>76</c:v>
                  </c:pt>
                  <c:pt idx="76">
                    <c:v>77</c:v>
                  </c:pt>
                  <c:pt idx="77">
                    <c:v>78</c:v>
                  </c:pt>
                  <c:pt idx="78">
                    <c:v>79</c:v>
                  </c:pt>
                  <c:pt idx="79">
                    <c:v>80</c:v>
                  </c:pt>
                  <c:pt idx="80">
                    <c:v>81</c:v>
                  </c:pt>
                  <c:pt idx="81">
                    <c:v>82</c:v>
                  </c:pt>
                  <c:pt idx="82">
                    <c:v>83</c:v>
                  </c:pt>
                  <c:pt idx="83">
                    <c:v>84</c:v>
                  </c:pt>
                  <c:pt idx="84">
                    <c:v>85</c:v>
                  </c:pt>
                  <c:pt idx="85">
                    <c:v>86</c:v>
                  </c:pt>
                  <c:pt idx="86">
                    <c:v>87</c:v>
                  </c:pt>
                  <c:pt idx="87">
                    <c:v>88</c:v>
                  </c:pt>
                  <c:pt idx="88">
                    <c:v>89</c:v>
                  </c:pt>
                  <c:pt idx="89">
                    <c:v>90</c:v>
                  </c:pt>
                  <c:pt idx="90">
                    <c:v>91</c:v>
                  </c:pt>
                  <c:pt idx="91">
                    <c:v>92</c:v>
                  </c:pt>
                  <c:pt idx="92">
                    <c:v>93</c:v>
                  </c:pt>
                  <c:pt idx="93">
                    <c:v>94</c:v>
                  </c:pt>
                  <c:pt idx="94">
                    <c:v>95</c:v>
                  </c:pt>
                  <c:pt idx="95">
                    <c:v>96</c:v>
                  </c:pt>
                  <c:pt idx="96">
                    <c:v>97</c:v>
                  </c:pt>
                  <c:pt idx="97">
                    <c:v>98</c:v>
                  </c:pt>
                  <c:pt idx="98">
                    <c:v>99</c:v>
                  </c:pt>
                  <c:pt idx="99">
                    <c:v>100</c:v>
                  </c:pt>
                  <c:pt idx="100">
                    <c:v>101</c:v>
                  </c:pt>
                  <c:pt idx="101">
                    <c:v>102</c:v>
                  </c:pt>
                  <c:pt idx="102">
                    <c:v>103</c:v>
                  </c:pt>
                  <c:pt idx="103">
                    <c:v>104</c:v>
                  </c:pt>
                  <c:pt idx="104">
                    <c:v>105</c:v>
                  </c:pt>
                  <c:pt idx="105">
                    <c:v>106</c:v>
                  </c:pt>
                  <c:pt idx="106">
                    <c:v>107</c:v>
                  </c:pt>
                  <c:pt idx="107">
                    <c:v>108</c:v>
                  </c:pt>
                  <c:pt idx="108">
                    <c:v>109</c:v>
                  </c:pt>
                  <c:pt idx="109">
                    <c:v>110</c:v>
                  </c:pt>
                  <c:pt idx="110">
                    <c:v>111</c:v>
                  </c:pt>
                  <c:pt idx="111">
                    <c:v>112</c:v>
                  </c:pt>
                  <c:pt idx="112">
                    <c:v>113</c:v>
                  </c:pt>
                  <c:pt idx="113">
                    <c:v>114</c:v>
                  </c:pt>
                  <c:pt idx="114">
                    <c:v>115</c:v>
                  </c:pt>
                  <c:pt idx="115">
                    <c:v>116</c:v>
                  </c:pt>
                  <c:pt idx="116">
                    <c:v>117</c:v>
                  </c:pt>
                  <c:pt idx="117">
                    <c:v>118</c:v>
                  </c:pt>
                  <c:pt idx="118">
                    <c:v>119</c:v>
                  </c:pt>
                  <c:pt idx="119">
                    <c:v>120</c:v>
                  </c:pt>
                </c:lvl>
              </c:multiLvlStrCache>
            </c:multiLvlStrRef>
          </c:cat>
          <c:val>
            <c:numRef>
              <c:f>Sheet1!$C$2:$C$121</c:f>
              <c:numCache>
                <c:formatCode>General</c:formatCode>
                <c:ptCount val="120"/>
                <c:pt idx="0">
                  <c:v>144.39</c:v>
                </c:pt>
                <c:pt idx="1">
                  <c:v>98.02</c:v>
                </c:pt>
                <c:pt idx="2">
                  <c:v>74.45</c:v>
                </c:pt>
                <c:pt idx="3">
                  <c:v>62.33</c:v>
                </c:pt>
                <c:pt idx="4">
                  <c:v>61.77</c:v>
                </c:pt>
                <c:pt idx="5">
                  <c:v>55.64</c:v>
                </c:pt>
                <c:pt idx="6">
                  <c:v>52.17</c:v>
                </c:pt>
                <c:pt idx="7">
                  <c:v>52.93</c:v>
                </c:pt>
                <c:pt idx="8">
                  <c:v>49.74</c:v>
                </c:pt>
                <c:pt idx="9">
                  <c:v>47.59</c:v>
                </c:pt>
                <c:pt idx="10">
                  <c:v>47.21</c:v>
                </c:pt>
                <c:pt idx="11">
                  <c:v>48.28</c:v>
                </c:pt>
                <c:pt idx="12">
                  <c:v>45.53</c:v>
                </c:pt>
                <c:pt idx="13">
                  <c:v>44.44</c:v>
                </c:pt>
                <c:pt idx="14">
                  <c:v>44.24</c:v>
                </c:pt>
                <c:pt idx="15">
                  <c:v>42.53</c:v>
                </c:pt>
                <c:pt idx="16">
                  <c:v>38.98</c:v>
                </c:pt>
                <c:pt idx="17">
                  <c:v>44.14</c:v>
                </c:pt>
                <c:pt idx="18">
                  <c:v>39.85</c:v>
                </c:pt>
                <c:pt idx="19">
                  <c:v>37.93</c:v>
                </c:pt>
                <c:pt idx="20">
                  <c:v>37.71</c:v>
                </c:pt>
                <c:pt idx="21">
                  <c:v>38.26</c:v>
                </c:pt>
                <c:pt idx="22">
                  <c:v>38.75</c:v>
                </c:pt>
                <c:pt idx="23">
                  <c:v>34.91</c:v>
                </c:pt>
                <c:pt idx="24">
                  <c:v>35.8</c:v>
                </c:pt>
                <c:pt idx="25">
                  <c:v>35.94</c:v>
                </c:pt>
                <c:pt idx="26">
                  <c:v>34.24</c:v>
                </c:pt>
                <c:pt idx="27">
                  <c:v>33.53</c:v>
                </c:pt>
                <c:pt idx="28">
                  <c:v>35.58</c:v>
                </c:pt>
                <c:pt idx="29">
                  <c:v>33.72</c:v>
                </c:pt>
                <c:pt idx="30">
                  <c:v>33.74</c:v>
                </c:pt>
                <c:pt idx="31">
                  <c:v>33.65</c:v>
                </c:pt>
                <c:pt idx="32">
                  <c:v>32.74</c:v>
                </c:pt>
                <c:pt idx="33">
                  <c:v>32.36</c:v>
                </c:pt>
                <c:pt idx="34">
                  <c:v>30.38</c:v>
                </c:pt>
                <c:pt idx="35">
                  <c:v>32.79</c:v>
                </c:pt>
                <c:pt idx="36">
                  <c:v>30.1</c:v>
                </c:pt>
                <c:pt idx="37">
                  <c:v>32.56</c:v>
                </c:pt>
                <c:pt idx="38">
                  <c:v>30.19</c:v>
                </c:pt>
                <c:pt idx="39">
                  <c:v>29.49</c:v>
                </c:pt>
                <c:pt idx="40">
                  <c:v>29.55</c:v>
                </c:pt>
                <c:pt idx="41">
                  <c:v>33.68</c:v>
                </c:pt>
                <c:pt idx="42">
                  <c:v>28.71</c:v>
                </c:pt>
                <c:pt idx="43">
                  <c:v>28.3</c:v>
                </c:pt>
                <c:pt idx="44">
                  <c:v>29.31</c:v>
                </c:pt>
                <c:pt idx="45">
                  <c:v>29.77</c:v>
                </c:pt>
                <c:pt idx="46">
                  <c:v>28.06</c:v>
                </c:pt>
                <c:pt idx="47">
                  <c:v>29.13</c:v>
                </c:pt>
                <c:pt idx="48">
                  <c:v>26.63</c:v>
                </c:pt>
                <c:pt idx="49">
                  <c:v>27.63</c:v>
                </c:pt>
                <c:pt idx="50">
                  <c:v>30.59</c:v>
                </c:pt>
                <c:pt idx="51">
                  <c:v>29.39</c:v>
                </c:pt>
                <c:pt idx="52">
                  <c:v>27.39</c:v>
                </c:pt>
                <c:pt idx="53">
                  <c:v>27.4</c:v>
                </c:pt>
                <c:pt idx="54">
                  <c:v>26.14</c:v>
                </c:pt>
                <c:pt idx="55">
                  <c:v>26.94</c:v>
                </c:pt>
                <c:pt idx="56">
                  <c:v>26.01</c:v>
                </c:pt>
                <c:pt idx="57">
                  <c:v>26.55</c:v>
                </c:pt>
                <c:pt idx="58">
                  <c:v>28.1</c:v>
                </c:pt>
                <c:pt idx="59">
                  <c:v>27.28</c:v>
                </c:pt>
                <c:pt idx="60">
                  <c:v>26.03</c:v>
                </c:pt>
                <c:pt idx="61">
                  <c:v>26.71</c:v>
                </c:pt>
                <c:pt idx="62">
                  <c:v>26.09</c:v>
                </c:pt>
                <c:pt idx="63">
                  <c:v>24.9</c:v>
                </c:pt>
                <c:pt idx="64">
                  <c:v>25.38</c:v>
                </c:pt>
                <c:pt idx="65">
                  <c:v>25.28</c:v>
                </c:pt>
                <c:pt idx="66">
                  <c:v>24.15</c:v>
                </c:pt>
                <c:pt idx="67">
                  <c:v>25.84</c:v>
                </c:pt>
                <c:pt idx="68">
                  <c:v>25.16</c:v>
                </c:pt>
                <c:pt idx="69">
                  <c:v>26.18</c:v>
                </c:pt>
                <c:pt idx="70">
                  <c:v>25.83</c:v>
                </c:pt>
                <c:pt idx="71">
                  <c:v>25.18</c:v>
                </c:pt>
                <c:pt idx="72">
                  <c:v>26.64</c:v>
                </c:pt>
                <c:pt idx="73">
                  <c:v>24.57</c:v>
                </c:pt>
                <c:pt idx="74">
                  <c:v>26.59</c:v>
                </c:pt>
                <c:pt idx="75">
                  <c:v>26.16</c:v>
                </c:pt>
                <c:pt idx="76">
                  <c:v>23.41</c:v>
                </c:pt>
                <c:pt idx="77">
                  <c:v>25.57</c:v>
                </c:pt>
                <c:pt idx="78">
                  <c:v>24.07</c:v>
                </c:pt>
                <c:pt idx="79">
                  <c:v>23.68</c:v>
                </c:pt>
                <c:pt idx="80">
                  <c:v>23.93</c:v>
                </c:pt>
                <c:pt idx="81">
                  <c:v>22.85</c:v>
                </c:pt>
                <c:pt idx="82">
                  <c:v>23.73</c:v>
                </c:pt>
                <c:pt idx="83">
                  <c:v>24.28</c:v>
                </c:pt>
                <c:pt idx="84">
                  <c:v>23.51</c:v>
                </c:pt>
                <c:pt idx="85">
                  <c:v>24.93</c:v>
                </c:pt>
                <c:pt idx="86">
                  <c:v>22.82</c:v>
                </c:pt>
                <c:pt idx="87">
                  <c:v>23.61</c:v>
                </c:pt>
                <c:pt idx="88">
                  <c:v>23.74</c:v>
                </c:pt>
                <c:pt idx="89">
                  <c:v>23.57</c:v>
                </c:pt>
                <c:pt idx="90">
                  <c:v>22.87</c:v>
                </c:pt>
                <c:pt idx="91">
                  <c:v>23.99</c:v>
                </c:pt>
                <c:pt idx="92">
                  <c:v>22.85</c:v>
                </c:pt>
                <c:pt idx="93">
                  <c:v>23.93</c:v>
                </c:pt>
                <c:pt idx="94">
                  <c:v>24.45</c:v>
                </c:pt>
                <c:pt idx="95">
                  <c:v>22.95</c:v>
                </c:pt>
                <c:pt idx="96">
                  <c:v>22.84</c:v>
                </c:pt>
                <c:pt idx="97">
                  <c:v>23.46</c:v>
                </c:pt>
                <c:pt idx="98">
                  <c:v>22.99</c:v>
                </c:pt>
                <c:pt idx="99">
                  <c:v>23.01</c:v>
                </c:pt>
                <c:pt idx="100">
                  <c:v>23.09</c:v>
                </c:pt>
                <c:pt idx="101">
                  <c:v>22.79</c:v>
                </c:pt>
                <c:pt idx="102">
                  <c:v>22.42</c:v>
                </c:pt>
                <c:pt idx="103">
                  <c:v>23.85</c:v>
                </c:pt>
                <c:pt idx="104">
                  <c:v>22.08</c:v>
                </c:pt>
                <c:pt idx="105">
                  <c:v>24.5</c:v>
                </c:pt>
                <c:pt idx="106">
                  <c:v>22.82</c:v>
                </c:pt>
                <c:pt idx="107">
                  <c:v>23.99</c:v>
                </c:pt>
                <c:pt idx="108">
                  <c:v>22.91</c:v>
                </c:pt>
                <c:pt idx="109">
                  <c:v>22.72</c:v>
                </c:pt>
                <c:pt idx="110">
                  <c:v>22.92</c:v>
                </c:pt>
                <c:pt idx="111">
                  <c:v>21.5</c:v>
                </c:pt>
                <c:pt idx="112">
                  <c:v>22.8</c:v>
                </c:pt>
                <c:pt idx="113">
                  <c:v>21.92</c:v>
                </c:pt>
                <c:pt idx="114">
                  <c:v>23.41</c:v>
                </c:pt>
                <c:pt idx="115">
                  <c:v>25.85</c:v>
                </c:pt>
                <c:pt idx="116">
                  <c:v>21.93</c:v>
                </c:pt>
                <c:pt idx="117">
                  <c:v>21.63</c:v>
                </c:pt>
                <c:pt idx="118">
                  <c:v>21.97</c:v>
                </c:pt>
                <c:pt idx="119">
                  <c:v>23.38</c:v>
                </c:pt>
              </c:numCache>
            </c:numRef>
          </c:val>
          <c:smooth val="0"/>
        </c:ser>
        <c:dLbls>
          <c:numFmt formatCode="#,##0" sourceLinked="0"/>
          <c:txPr>
            <a:bodyPr/>
            <a:lstStyle/>
            <a:p>
              <a:pPr>
                <a:defRPr b="0" i="0" strike="noStrike" sz="1000" u="none">
                  <a:solidFill>
                    <a:srgbClr val="EEF3FA"/>
                  </a:solidFill>
                  <a:latin typeface="+mn-lt"/>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title>
          <c:tx>
            <c:rich>
              <a:bodyPr/>
              <a:lstStyle/>
              <a:p>
                <a:pPr>
                  <a:defRPr sz="1000" b="0" i="0" u="none" strike="noStrike">
                    <a:solidFill>
                      <a:srgbClr val="7F8FA8"/>
                    </a:solidFill>
                    <a:latin typeface="Arial"/>
                  </a:defRPr>
                </a:pPr>
                <a:r>
                  <a:rPr sz="1000" b="0" i="0" u="none" strike="noStrike">
                    <a:solidFill>
                      <a:srgbClr val="7F8FA8"/>
                    </a:solidFill>
                    <a:latin typeface="Arial"/>
                  </a:rPr>
                  <a:t>epoch</a:t>
                </a:r>
              </a:p>
            </c:rich>
          </c:tx>
          <c:layout/>
          <c:overlay val="0"/>
        </c:title>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AEBBD0"/>
                </a:solidFill>
                <a:latin typeface="+mn-lt"/>
              </a:defRPr>
            </a:pPr>
            <a:endParaRPr lang="en-US"/>
          </a:p>
        </c:txPr>
        <c:crossAx val="2094734552"/>
        <c:crosses val="autoZero"/>
        <c:auto val="1"/>
        <c:lblAlgn val="ctr"/>
        <c:noMultiLvlLbl val="1"/>
        <c:tickLblSkip val="20"/>
      </c:catAx>
      <c:valAx>
        <c:axId val="2094734552"/>
        <c:scaling>
          <c:logBase val="10"/>
          <c:orientation val="minMax"/>
          <c:max val="1000"/>
          <c:min val="10"/>
        </c:scaling>
        <c:delete val="0"/>
        <c:axPos val="l"/>
        <c:majorGridlines>
          <c:spPr>
            <a:ln w="9525" cap="flat">
              <a:solidFill>
                <a:srgbClr val="1E2E47"/>
              </a:solidFill>
              <a:prstDash val="solid"/>
              <a:round/>
            </a:ln>
          </c:spPr>
        </c:majorGridlines>
        <c:title>
          <c:tx>
            <c:rich>
              <a:bodyPr/>
              <a:lstStyle/>
              <a:p>
                <a:pPr>
                  <a:defRPr sz="1000" b="0" i="0" u="none" strike="noStrike">
                    <a:solidFill>
                      <a:srgbClr val="7F8FA8"/>
                    </a:solidFill>
                    <a:latin typeface="Arial"/>
                  </a:defRPr>
                </a:pPr>
                <a:r>
                  <a:rPr sz="1000" b="0" i="0" u="none" strike="noStrike">
                    <a:solidFill>
                      <a:srgbClr val="7F8FA8"/>
                    </a:solidFill>
                    <a:latin typeface="Arial"/>
                  </a:rPr>
                  <a:t>mm (log scale)</a:t>
                </a:r>
              </a:p>
            </c:rich>
          </c:tx>
          <c:layout/>
          <c:overlay val="0"/>
        </c:title>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7F8FA8"/>
                </a:solidFill>
                <a:latin typeface="+mn-lt"/>
              </a:defRPr>
            </a:pPr>
            <a:endParaRPr lang="en-US"/>
          </a:p>
        </c:txPr>
        <c:crossAx val="2094734554"/>
        <c:crosses val="autoZero"/>
        <c:crossBetween val="between"/>
      </c:valAx>
      <c:spPr>
        <a:solidFill>
          <a:srgbClr val="0F1B2D"/>
        </a:solidFill>
        <a:ln>
          <a:noFill/>
        </a:ln>
        <a:effectLst/>
      </c:spPr>
    </c:plotArea>
    <c:legend>
      <c:legendPos val="t"/>
      <c:overlay val="0"/>
      <c:txPr>
        <a:bodyPr/>
        <a:lstStyle/>
        <a:p>
          <a:pPr>
            <a:defRPr sz="1100">
              <a:solidFill>
                <a:srgbClr val="AEBBD0"/>
              </a:solidFill>
              <a:latin typeface="+mn-lt"/>
              <a:cs typeface="+mn-lt"/>
            </a:defRPr>
          </a:pPr>
          <a:endParaRPr lang="en-US"/>
        </a:p>
      </c:txPr>
    </c:legend>
    <c:plotVisOnly val="1"/>
    <c:dispBlanksAs val="span"/>
  </c:chart>
  <c:spPr>
    <a:solidFill>
      <a:srgbClr val="0F1B2D"/>
    </a:solidFill>
    <a:ln w="12700" cap="flat">
      <a:solidFill>
        <a:srgbClr val="23344F"/>
      </a:solid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0"/>
  <c:chart>
    <c:title>
      <c:tx>
        <c:rich>
          <a:bodyPr/>
          <a:lstStyle/>
          <a:p>
            <a:pPr>
              <a:defRPr sz="1300" b="0" i="0" u="none" strike="noStrike">
                <a:solidFill>
                  <a:srgbClr val="EEF3FA"/>
                </a:solidFill>
                <a:latin typeface="+mn-lt"/>
              </a:defRPr>
            </a:pPr>
            <a:r>
              <a:rPr sz="1300" b="0" i="0" u="none" strike="noStrike">
                <a:solidFill>
                  <a:srgbClr val="EEF3FA"/>
                </a:solidFill>
                <a:latin typeface="+mn-lt"/>
              </a:rPr>
              <a:t>Targets reached within … (% of 2,000, warm start)</a:t>
            </a:r>
          </a:p>
        </c:rich>
      </c:tx>
      <c:layout/>
      <c:overlay val="0"/>
    </c:title>
    <c:autoTitleDeleted val="0"/>
    <c:plotArea>
      <c:layout/>
      <c:barChart>
        <c:barDir val="col"/>
        <c:grouping val="clustered"/>
        <c:varyColors val="0"/>
        <c:ser>
          <c:idx val="0"/>
          <c:order val="0"/>
          <c:tx>
            <c:strRef>
              <c:f>Sheet1!$B$1</c:f>
              <c:strCache>
                <c:ptCount val="1"/>
                <c:pt idx="0">
                  <c:v>Network alone</c:v>
                </c:pt>
              </c:strCache>
            </c:strRef>
          </c:tx>
          <c:spPr>
            <a:solidFill>
              <a:srgbClr val="199E70"/>
            </a:solidFill>
            <a:effectLst/>
          </c:spPr>
          <c:invertIfNegative val="0"/>
          <c:dLbls>
            <c:numFmt formatCode="0" sourceLinked="0"/>
            <c:txPr>
              <a:bodyPr/>
              <a:lstStyle/>
              <a:p>
                <a:pPr>
                  <a:defRPr b="0" i="0" strike="noStrike" sz="1000" u="none">
                    <a:solidFill>
                      <a:srgbClr val="EEF3FA"/>
                    </a:solidFill>
                    <a:latin typeface="+mn-lt"/>
                  </a:defRPr>
                </a:pPr>
              </a:p>
            </c:txPr>
            <c:showLegendKey val="0"/>
            <c:showVal val="1"/>
            <c:showCatName val="0"/>
            <c:showSerName val="0"/>
            <c:showPercent val="0"/>
            <c:showBubbleSize val="0"/>
            <c:showLeaderLines val="0"/>
          </c:dLbls>
          <c:cat>
            <c:multiLvlStrRef>
              <c:f>Sheet1!$A$2:$A$4</c:f>
              <c:multiLvlStrCache>
                <c:ptCount val="3"/>
                <c:lvl>
                  <c:pt idx="0">
                    <c:v>≤ 1 mm</c:v>
                  </c:pt>
                  <c:pt idx="1">
                    <c:v>≤ 10 mm</c:v>
                  </c:pt>
                  <c:pt idx="2">
                    <c:v>≤ 50 mm</c:v>
                  </c:pt>
                </c:lvl>
              </c:multiLvlStrCache>
            </c:multiLvlStrRef>
          </c:cat>
          <c:val>
            <c:numRef>
              <c:f>Sheet1!$B$2:$B$4</c:f>
              <c:numCache>
                <c:formatCode>General</c:formatCode>
                <c:ptCount val="3"/>
                <c:pt idx="0">
                  <c:v>0</c:v>
                </c:pt>
                <c:pt idx="1">
                  <c:v>11</c:v>
                </c:pt>
                <c:pt idx="2">
                  <c:v>95</c:v>
                </c:pt>
              </c:numCache>
            </c:numRef>
          </c:val>
        </c:ser>
        <c:ser>
          <c:idx val="1"/>
          <c:order val="1"/>
          <c:tx>
            <c:strRef>
              <c:f>Sheet1!$C$1</c:f>
              <c:strCache>
                <c:ptCount val="1"/>
                <c:pt idx="0">
                  <c:v>Classical IK (DLS)</c:v>
                </c:pt>
              </c:strCache>
            </c:strRef>
          </c:tx>
          <c:spPr>
            <a:solidFill>
              <a:srgbClr val="D95926"/>
            </a:solidFill>
            <a:effectLst/>
          </c:spPr>
          <c:invertIfNegative val="0"/>
          <c:dLbls>
            <c:numFmt formatCode="0" sourceLinked="0"/>
            <c:txPr>
              <a:bodyPr/>
              <a:lstStyle/>
              <a:p>
                <a:pPr>
                  <a:defRPr b="0" i="0" strike="noStrike" sz="1000" u="none">
                    <a:solidFill>
                      <a:srgbClr val="EEF3FA"/>
                    </a:solidFill>
                    <a:latin typeface="+mn-lt"/>
                  </a:defRPr>
                </a:pPr>
              </a:p>
            </c:txPr>
            <c:showLegendKey val="0"/>
            <c:showVal val="1"/>
            <c:showCatName val="0"/>
            <c:showSerName val="0"/>
            <c:showPercent val="0"/>
            <c:showBubbleSize val="0"/>
            <c:showLeaderLines val="0"/>
          </c:dLbls>
          <c:cat>
            <c:multiLvlStrRef>
              <c:f>Sheet1!$A$2:$A$4</c:f>
              <c:multiLvlStrCache>
                <c:ptCount val="3"/>
                <c:lvl>
                  <c:pt idx="0">
                    <c:v>≤ 1 mm</c:v>
                  </c:pt>
                  <c:pt idx="1">
                    <c:v>≤ 10 mm</c:v>
                  </c:pt>
                  <c:pt idx="2">
                    <c:v>≤ 50 mm</c:v>
                  </c:pt>
                </c:lvl>
              </c:multiLvlStrCache>
            </c:multiLvlStrRef>
          </c:cat>
          <c:val>
            <c:numRef>
              <c:f>Sheet1!$C$2:$C$4</c:f>
              <c:numCache>
                <c:formatCode>General</c:formatCode>
                <c:ptCount val="3"/>
                <c:pt idx="0">
                  <c:v>25.7</c:v>
                </c:pt>
                <c:pt idx="1">
                  <c:v>89</c:v>
                </c:pt>
                <c:pt idx="2">
                  <c:v>100</c:v>
                </c:pt>
              </c:numCache>
            </c:numRef>
          </c:val>
        </c:ser>
        <c:ser>
          <c:idx val="2"/>
          <c:order val="2"/>
          <c:tx>
            <c:strRef>
              <c:f>Sheet1!$D$1</c:f>
              <c:strCache>
                <c:ptCount val="1"/>
                <c:pt idx="0">
                  <c:v>Network + LM</c:v>
                </c:pt>
              </c:strCache>
            </c:strRef>
          </c:tx>
          <c:spPr>
            <a:solidFill>
              <a:srgbClr val="3987E5"/>
            </a:solidFill>
            <a:effectLst/>
          </c:spPr>
          <c:invertIfNegative val="0"/>
          <c:dLbls>
            <c:numFmt formatCode="0" sourceLinked="0"/>
            <c:txPr>
              <a:bodyPr/>
              <a:lstStyle/>
              <a:p>
                <a:pPr>
                  <a:defRPr b="0" i="0" strike="noStrike" sz="1000" u="none">
                    <a:solidFill>
                      <a:srgbClr val="EEF3FA"/>
                    </a:solidFill>
                    <a:latin typeface="+mn-lt"/>
                  </a:defRPr>
                </a:pPr>
              </a:p>
            </c:txPr>
            <c:showLegendKey val="0"/>
            <c:showVal val="1"/>
            <c:showCatName val="0"/>
            <c:showSerName val="0"/>
            <c:showPercent val="0"/>
            <c:showBubbleSize val="0"/>
            <c:showLeaderLines val="0"/>
          </c:dLbls>
          <c:cat>
            <c:multiLvlStrRef>
              <c:f>Sheet1!$A$2:$A$4</c:f>
              <c:multiLvlStrCache>
                <c:ptCount val="3"/>
                <c:lvl>
                  <c:pt idx="0">
                    <c:v>≤ 1 mm</c:v>
                  </c:pt>
                  <c:pt idx="1">
                    <c:v>≤ 10 mm</c:v>
                  </c:pt>
                  <c:pt idx="2">
                    <c:v>≤ 50 mm</c:v>
                  </c:pt>
                </c:lvl>
              </c:multiLvlStrCache>
            </c:multiLvlStrRef>
          </c:cat>
          <c:val>
            <c:numRef>
              <c:f>Sheet1!$D$2:$D$4</c:f>
              <c:numCache>
                <c:formatCode>General</c:formatCode>
                <c:ptCount val="3"/>
                <c:pt idx="0">
                  <c:v>100</c:v>
                </c:pt>
                <c:pt idx="1">
                  <c:v>100</c:v>
                </c:pt>
                <c:pt idx="2">
                  <c:v>100</c:v>
                </c:pt>
              </c:numCache>
            </c:numRef>
          </c:val>
        </c:ser>
        <c:dLbls>
          <c:numFmt formatCode="0" sourceLinked="0"/>
          <c:txPr>
            <a:bodyPr/>
            <a:lstStyle/>
            <a:p>
              <a:pPr>
                <a:defRPr b="0" i="0" strike="noStrike" sz="1000" u="none">
                  <a:solidFill>
                    <a:srgbClr val="EEF3FA"/>
                  </a:solidFill>
                  <a:latin typeface="+mn-lt"/>
                </a:defRPr>
              </a:pPr>
            </a:p>
          </c:txPr>
          <c:showLegendKey val="0"/>
          <c:showVal val="1"/>
          <c:showCatName val="0"/>
          <c:showSerName val="0"/>
          <c:showPercent val="0"/>
          <c:showBubbleSize val="0"/>
          <c:showLeaderLines val="0"/>
        </c:dLbls>
        <c:gapWidth val="55"/>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AEBBD0"/>
                </a:solidFill>
                <a:latin typeface="+mn-lt"/>
              </a:defRPr>
            </a:pPr>
            <a:endParaRPr lang="en-US"/>
          </a:p>
        </c:txPr>
        <c:crossAx val="2094734552"/>
        <c:crosses val="autoZero"/>
        <c:auto val="1"/>
        <c:lblAlgn val="ctr"/>
        <c:noMultiLvlLbl val="1"/>
      </c:catAx>
      <c:valAx>
        <c:axId val="2094734552"/>
        <c:scaling>
          <c:orientation val="minMax"/>
          <c:max val="110"/>
          <c:min val="0"/>
        </c:scaling>
        <c:delete val="0"/>
        <c:axPos val="l"/>
        <c:majorGridlines>
          <c:spPr>
            <a:ln w="9525" cap="flat">
              <a:solidFill>
                <a:srgbClr val="1E2E47"/>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7F8FA8"/>
                </a:solidFill>
                <a:latin typeface="+mn-lt"/>
              </a:defRPr>
            </a:pPr>
            <a:endParaRPr lang="en-US"/>
          </a:p>
        </c:txPr>
        <c:crossAx val="2094734554"/>
        <c:crosses val="autoZero"/>
        <c:crossBetween val="between"/>
        <c:majorUnit val="25"/>
      </c:valAx>
      <c:spPr>
        <a:solidFill>
          <a:srgbClr val="0F1B2D"/>
        </a:solidFill>
        <a:ln>
          <a:noFill/>
        </a:ln>
        <a:effectLst/>
      </c:spPr>
    </c:plotArea>
    <c:legend>
      <c:legendPos val="t"/>
      <c:overlay val="0"/>
      <c:txPr>
        <a:bodyPr/>
        <a:lstStyle/>
        <a:p>
          <a:pPr>
            <a:defRPr sz="1100">
              <a:solidFill>
                <a:srgbClr val="AEBBD0"/>
              </a:solidFill>
              <a:latin typeface="+mn-lt"/>
              <a:cs typeface="+mn-lt"/>
            </a:defRPr>
          </a:pPr>
          <a:endParaRPr lang="en-US"/>
        </a:p>
      </c:txPr>
    </c:legend>
    <c:plotVisOnly val="1"/>
    <c:dispBlanksAs val="span"/>
  </c:chart>
  <c:spPr>
    <a:solidFill>
      <a:srgbClr val="0F1B2D"/>
    </a:solidFill>
    <a:ln w="12700" cap="flat">
      <a:solidFill>
        <a:srgbClr val="23344F"/>
      </a:solid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0"/>
  <c:chart>
    <c:title>
      <c:tx>
        <c:rich>
          <a:bodyPr/>
          <a:lstStyle/>
          <a:p>
            <a:pPr>
              <a:defRPr sz="1300" b="0" i="0" u="none" strike="noStrike">
                <a:solidFill>
                  <a:srgbClr val="EEF3FA"/>
                </a:solidFill>
                <a:latin typeface="+mn-lt"/>
              </a:defRPr>
            </a:pPr>
            <a:r>
              <a:rPr sz="1300" b="0" i="0" u="none" strike="noStrike">
                <a:solidFill>
                  <a:srgbClr val="EEF3FA"/>
                </a:solidFill>
                <a:latin typeface="+mn-lt"/>
              </a:rPr>
              <a:t>Cold start, % of 2,000 targets</a:t>
            </a:r>
          </a:p>
        </c:rich>
      </c:tx>
      <c:layout/>
      <c:overlay val="0"/>
    </c:title>
    <c:autoTitleDeleted val="0"/>
    <c:plotArea>
      <c:layout/>
      <c:barChart>
        <c:barDir val="col"/>
        <c:grouping val="clustered"/>
        <c:varyColors val="0"/>
        <c:ser>
          <c:idx val="0"/>
          <c:order val="0"/>
          <c:tx>
            <c:strRef>
              <c:f>Sheet1!$B$1</c:f>
              <c:strCache>
                <c:ptCount val="1"/>
                <c:pt idx="0">
                  <c:v>Network alone</c:v>
                </c:pt>
              </c:strCache>
            </c:strRef>
          </c:tx>
          <c:spPr>
            <a:solidFill>
              <a:srgbClr val="199E70"/>
            </a:solidFill>
            <a:effectLst/>
          </c:spPr>
          <c:invertIfNegative val="0"/>
          <c:dLbls>
            <c:numFmt formatCode="0.0" sourceLinked="0"/>
            <c:txPr>
              <a:bodyPr/>
              <a:lstStyle/>
              <a:p>
                <a:pPr>
                  <a:defRPr b="0" i="0" strike="noStrike" sz="1000" u="none">
                    <a:solidFill>
                      <a:srgbClr val="EEF3FA"/>
                    </a:solidFill>
                    <a:latin typeface="+mn-lt"/>
                  </a:defRPr>
                </a:pPr>
              </a:p>
            </c:txPr>
            <c:showLegendKey val="0"/>
            <c:showVal val="1"/>
            <c:showCatName val="0"/>
            <c:showSerName val="0"/>
            <c:showPercent val="0"/>
            <c:showBubbleSize val="0"/>
            <c:showLeaderLines val="0"/>
          </c:dLbls>
          <c:cat>
            <c:multiLvlStrRef>
              <c:f>Sheet1!$A$2:$A$4</c:f>
              <c:multiLvlStrCache>
                <c:ptCount val="3"/>
                <c:lvl>
                  <c:pt idx="0">
                    <c:v>valid ≤ 1 mm &amp; 1°</c:v>
                  </c:pt>
                  <c:pt idx="1">
                    <c:v>self-collision</c:v>
                  </c:pt>
                  <c:pt idx="2">
                    <c:v>limit violation</c:v>
                  </c:pt>
                </c:lvl>
              </c:multiLvlStrCache>
            </c:multiLvlStrRef>
          </c:cat>
          <c:val>
            <c:numRef>
              <c:f>Sheet1!$B$2:$B$4</c:f>
              <c:numCache>
                <c:formatCode>General</c:formatCode>
                <c:ptCount val="3"/>
                <c:pt idx="0">
                  <c:v>0</c:v>
                </c:pt>
                <c:pt idx="1">
                  <c:v>6.4</c:v>
                </c:pt>
                <c:pt idx="2">
                  <c:v>14.5</c:v>
                </c:pt>
              </c:numCache>
            </c:numRef>
          </c:val>
        </c:ser>
        <c:ser>
          <c:idx val="1"/>
          <c:order val="1"/>
          <c:tx>
            <c:strRef>
              <c:f>Sheet1!$C$1</c:f>
              <c:strCache>
                <c:ptCount val="1"/>
                <c:pt idx="0">
                  <c:v>Classical IK (DLS)</c:v>
                </c:pt>
              </c:strCache>
            </c:strRef>
          </c:tx>
          <c:spPr>
            <a:solidFill>
              <a:srgbClr val="D95926"/>
            </a:solidFill>
            <a:effectLst/>
          </c:spPr>
          <c:invertIfNegative val="0"/>
          <c:dLbls>
            <c:numFmt formatCode="0.0" sourceLinked="0"/>
            <c:txPr>
              <a:bodyPr/>
              <a:lstStyle/>
              <a:p>
                <a:pPr>
                  <a:defRPr b="0" i="0" strike="noStrike" sz="1000" u="none">
                    <a:solidFill>
                      <a:srgbClr val="EEF3FA"/>
                    </a:solidFill>
                    <a:latin typeface="+mn-lt"/>
                  </a:defRPr>
                </a:pPr>
              </a:p>
            </c:txPr>
            <c:showLegendKey val="0"/>
            <c:showVal val="1"/>
            <c:showCatName val="0"/>
            <c:showSerName val="0"/>
            <c:showPercent val="0"/>
            <c:showBubbleSize val="0"/>
            <c:showLeaderLines val="0"/>
          </c:dLbls>
          <c:cat>
            <c:multiLvlStrRef>
              <c:f>Sheet1!$A$2:$A$4</c:f>
              <c:multiLvlStrCache>
                <c:ptCount val="3"/>
                <c:lvl>
                  <c:pt idx="0">
                    <c:v>valid ≤ 1 mm &amp; 1°</c:v>
                  </c:pt>
                  <c:pt idx="1">
                    <c:v>self-collision</c:v>
                  </c:pt>
                  <c:pt idx="2">
                    <c:v>limit violation</c:v>
                  </c:pt>
                </c:lvl>
              </c:multiLvlStrCache>
            </c:multiLvlStrRef>
          </c:cat>
          <c:val>
            <c:numRef>
              <c:f>Sheet1!$C$2:$C$4</c:f>
              <c:numCache>
                <c:formatCode>General</c:formatCode>
                <c:ptCount val="3"/>
                <c:pt idx="0">
                  <c:v>2.6</c:v>
                </c:pt>
                <c:pt idx="1">
                  <c:v>22.8</c:v>
                </c:pt>
                <c:pt idx="2">
                  <c:v>39.3</c:v>
                </c:pt>
              </c:numCache>
            </c:numRef>
          </c:val>
        </c:ser>
        <c:ser>
          <c:idx val="2"/>
          <c:order val="2"/>
          <c:tx>
            <c:strRef>
              <c:f>Sheet1!$D$1</c:f>
              <c:strCache>
                <c:ptCount val="1"/>
                <c:pt idx="0">
                  <c:v>Network + LM</c:v>
                </c:pt>
              </c:strCache>
            </c:strRef>
          </c:tx>
          <c:spPr>
            <a:solidFill>
              <a:srgbClr val="3987E5"/>
            </a:solidFill>
            <a:effectLst/>
          </c:spPr>
          <c:invertIfNegative val="0"/>
          <c:dLbls>
            <c:numFmt formatCode="0.0" sourceLinked="0"/>
            <c:txPr>
              <a:bodyPr/>
              <a:lstStyle/>
              <a:p>
                <a:pPr>
                  <a:defRPr b="0" i="0" strike="noStrike" sz="1000" u="none">
                    <a:solidFill>
                      <a:srgbClr val="EEF3FA"/>
                    </a:solidFill>
                    <a:latin typeface="+mn-lt"/>
                  </a:defRPr>
                </a:pPr>
              </a:p>
            </c:txPr>
            <c:showLegendKey val="0"/>
            <c:showVal val="1"/>
            <c:showCatName val="0"/>
            <c:showSerName val="0"/>
            <c:showPercent val="0"/>
            <c:showBubbleSize val="0"/>
            <c:showLeaderLines val="0"/>
          </c:dLbls>
          <c:cat>
            <c:multiLvlStrRef>
              <c:f>Sheet1!$A$2:$A$4</c:f>
              <c:multiLvlStrCache>
                <c:ptCount val="3"/>
                <c:lvl>
                  <c:pt idx="0">
                    <c:v>valid ≤ 1 mm &amp; 1°</c:v>
                  </c:pt>
                  <c:pt idx="1">
                    <c:v>self-collision</c:v>
                  </c:pt>
                  <c:pt idx="2">
                    <c:v>limit violation</c:v>
                  </c:pt>
                </c:lvl>
              </c:multiLvlStrCache>
            </c:multiLvlStrRef>
          </c:cat>
          <c:val>
            <c:numRef>
              <c:f>Sheet1!$D$2:$D$4</c:f>
              <c:numCache>
                <c:formatCode>General</c:formatCode>
                <c:ptCount val="3"/>
                <c:pt idx="0">
                  <c:v>100</c:v>
                </c:pt>
                <c:pt idx="1">
                  <c:v>0</c:v>
                </c:pt>
                <c:pt idx="2">
                  <c:v>0</c:v>
                </c:pt>
              </c:numCache>
            </c:numRef>
          </c:val>
        </c:ser>
        <c:dLbls>
          <c:numFmt formatCode="0.0" sourceLinked="0"/>
          <c:txPr>
            <a:bodyPr/>
            <a:lstStyle/>
            <a:p>
              <a:pPr>
                <a:defRPr b="0" i="0" strike="noStrike" sz="1000" u="none">
                  <a:solidFill>
                    <a:srgbClr val="EEF3FA"/>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AEBBD0"/>
                </a:solidFill>
                <a:latin typeface="+mn-lt"/>
              </a:defRPr>
            </a:pPr>
            <a:endParaRPr lang="en-US"/>
          </a:p>
        </c:txPr>
        <c:crossAx val="2094734552"/>
        <c:crosses val="autoZero"/>
        <c:auto val="1"/>
        <c:lblAlgn val="ctr"/>
        <c:noMultiLvlLbl val="1"/>
      </c:catAx>
      <c:valAx>
        <c:axId val="2094734552"/>
        <c:scaling>
          <c:orientation val="minMax"/>
          <c:max val="110"/>
          <c:min val="0"/>
        </c:scaling>
        <c:delete val="0"/>
        <c:axPos val="l"/>
        <c:majorGridlines>
          <c:spPr>
            <a:ln w="9525" cap="flat">
              <a:solidFill>
                <a:srgbClr val="1E2E47"/>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7F8FA8"/>
                </a:solidFill>
                <a:latin typeface="+mn-lt"/>
              </a:defRPr>
            </a:pPr>
            <a:endParaRPr lang="en-US"/>
          </a:p>
        </c:txPr>
        <c:crossAx val="2094734554"/>
        <c:crosses val="autoZero"/>
        <c:crossBetween val="between"/>
        <c:majorUnit val="25"/>
      </c:valAx>
      <c:spPr>
        <a:solidFill>
          <a:srgbClr val="0F1B2D"/>
        </a:solidFill>
        <a:ln>
          <a:noFill/>
        </a:ln>
        <a:effectLst/>
      </c:spPr>
    </c:plotArea>
    <c:legend>
      <c:legendPos val="t"/>
      <c:overlay val="0"/>
      <c:txPr>
        <a:bodyPr/>
        <a:lstStyle/>
        <a:p>
          <a:pPr>
            <a:defRPr sz="1100">
              <a:solidFill>
                <a:srgbClr val="AEBBD0"/>
              </a:solidFill>
              <a:latin typeface="+mn-lt"/>
              <a:cs typeface="+mn-lt"/>
            </a:defRPr>
          </a:pPr>
          <a:endParaRPr lang="en-US"/>
        </a:p>
      </c:txPr>
    </c:legend>
    <c:plotVisOnly val="1"/>
    <c:dispBlanksAs val="span"/>
  </c:chart>
  <c:spPr>
    <a:solidFill>
      <a:srgbClr val="0F1B2D"/>
    </a:solidFill>
    <a:ln w="12700" cap="flat">
      <a:solidFill>
        <a:srgbClr val="23344F"/>
      </a:solid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0"/>
  <c:chart>
    <c:title>
      <c:tx>
        <c:rich>
          <a:bodyPr/>
          <a:lstStyle/>
          <a:p>
            <a:pPr>
              <a:defRPr sz="1300" b="0" i="0" u="none" strike="noStrike">
                <a:solidFill>
                  <a:srgbClr val="EEF3FA"/>
                </a:solidFill>
                <a:latin typeface="+mn-lt"/>
              </a:defRPr>
            </a:pPr>
            <a:r>
              <a:rPr sz="1300" b="0" i="0" u="none" strike="noStrike">
                <a:solidFill>
                  <a:srgbClr val="EEF3FA"/>
                </a:solidFill>
                <a:latin typeface="+mn-lt"/>
              </a:rPr>
              <a:t>"Everything at once", 200 unseen episodes (%)</a:t>
            </a:r>
          </a:p>
        </c:rich>
      </c:tx>
      <c:layout/>
      <c:overlay val="0"/>
    </c:title>
    <c:autoTitleDeleted val="0"/>
    <c:plotArea>
      <c:layout/>
      <c:barChart>
        <c:barDir val="col"/>
        <c:grouping val="clustered"/>
        <c:varyColors val="0"/>
        <c:ser>
          <c:idx val="0"/>
          <c:order val="0"/>
          <c:tx>
            <c:strRef>
              <c:f>Sheet1!$B$1</c:f>
              <c:strCache>
                <c:ptCount val="1"/>
                <c:pt idx="0">
                  <c:v>Straight path</c:v>
                </c:pt>
              </c:strCache>
            </c:strRef>
          </c:tx>
          <c:spPr>
            <a:solidFill>
              <a:srgbClr val="199E70"/>
            </a:solidFill>
            <a:effectLst/>
          </c:spPr>
          <c:invertIfNegative val="0"/>
          <c:dLbls>
            <c:numFmt formatCode="0.0" sourceLinked="0"/>
            <c:txPr>
              <a:bodyPr/>
              <a:lstStyle/>
              <a:p>
                <a:pPr>
                  <a:defRPr b="0" i="0" strike="noStrike" sz="1000" u="none">
                    <a:solidFill>
                      <a:srgbClr val="EEF3FA"/>
                    </a:solidFill>
                    <a:latin typeface="+mn-lt"/>
                  </a:defRPr>
                </a:pPr>
              </a:p>
            </c:txPr>
            <c:showLegendKey val="0"/>
            <c:showVal val="1"/>
            <c:showCatName val="0"/>
            <c:showSerName val="0"/>
            <c:showPercent val="0"/>
            <c:showBubbleSize val="0"/>
            <c:showLeaderLines val="0"/>
          </c:dLbls>
          <c:cat>
            <c:multiLvlStrRef>
              <c:f>Sheet1!$A$2:$A$4</c:f>
              <c:multiLvlStrCache>
                <c:ptCount val="3"/>
                <c:lvl>
                  <c:pt idx="0">
                    <c:v>reached goal</c:v>
                  </c:pt>
                  <c:pt idx="1">
                    <c:v>collided</c:v>
                  </c:pt>
                  <c:pt idx="2">
                    <c:v>stuck</c:v>
                  </c:pt>
                </c:lvl>
              </c:multiLvlStrCache>
            </c:multiLvlStrRef>
          </c:cat>
          <c:val>
            <c:numRef>
              <c:f>Sheet1!$B$2:$B$4</c:f>
              <c:numCache>
                <c:formatCode>General</c:formatCode>
                <c:ptCount val="3"/>
                <c:pt idx="0">
                  <c:v>50</c:v>
                </c:pt>
                <c:pt idx="1">
                  <c:v>50</c:v>
                </c:pt>
                <c:pt idx="2">
                  <c:v>0</c:v>
                </c:pt>
              </c:numCache>
            </c:numRef>
          </c:val>
        </c:ser>
        <c:ser>
          <c:idx val="1"/>
          <c:order val="1"/>
          <c:tx>
            <c:strRef>
              <c:f>Sheet1!$C$1</c:f>
              <c:strCache>
                <c:ptCount val="1"/>
                <c:pt idx="0">
                  <c:v>Potential field</c:v>
                </c:pt>
              </c:strCache>
            </c:strRef>
          </c:tx>
          <c:spPr>
            <a:solidFill>
              <a:srgbClr val="D95926"/>
            </a:solidFill>
            <a:effectLst/>
          </c:spPr>
          <c:invertIfNegative val="0"/>
          <c:dLbls>
            <c:numFmt formatCode="0.0" sourceLinked="0"/>
            <c:txPr>
              <a:bodyPr/>
              <a:lstStyle/>
              <a:p>
                <a:pPr>
                  <a:defRPr b="0" i="0" strike="noStrike" sz="1000" u="none">
                    <a:solidFill>
                      <a:srgbClr val="EEF3FA"/>
                    </a:solidFill>
                    <a:latin typeface="+mn-lt"/>
                  </a:defRPr>
                </a:pPr>
              </a:p>
            </c:txPr>
            <c:showLegendKey val="0"/>
            <c:showVal val="1"/>
            <c:showCatName val="0"/>
            <c:showSerName val="0"/>
            <c:showPercent val="0"/>
            <c:showBubbleSize val="0"/>
            <c:showLeaderLines val="0"/>
          </c:dLbls>
          <c:cat>
            <c:multiLvlStrRef>
              <c:f>Sheet1!$A$2:$A$4</c:f>
              <c:multiLvlStrCache>
                <c:ptCount val="3"/>
                <c:lvl>
                  <c:pt idx="0">
                    <c:v>reached goal</c:v>
                  </c:pt>
                  <c:pt idx="1">
                    <c:v>collided</c:v>
                  </c:pt>
                  <c:pt idx="2">
                    <c:v>stuck</c:v>
                  </c:pt>
                </c:lvl>
              </c:multiLvlStrCache>
            </c:multiLvlStrRef>
          </c:cat>
          <c:val>
            <c:numRef>
              <c:f>Sheet1!$C$2:$C$4</c:f>
              <c:numCache>
                <c:formatCode>General</c:formatCode>
                <c:ptCount val="3"/>
                <c:pt idx="0">
                  <c:v>71</c:v>
                </c:pt>
                <c:pt idx="1">
                  <c:v>2.5</c:v>
                </c:pt>
                <c:pt idx="2">
                  <c:v>26.5</c:v>
                </c:pt>
              </c:numCache>
            </c:numRef>
          </c:val>
        </c:ser>
        <c:ser>
          <c:idx val="2"/>
          <c:order val="2"/>
          <c:tx>
            <c:strRef>
              <c:f>Sheet1!$D$1</c:f>
              <c:strCache>
                <c:ptCount val="1"/>
                <c:pt idx="0">
                  <c:v>DRL agent (PPO)</c:v>
                </c:pt>
              </c:strCache>
            </c:strRef>
          </c:tx>
          <c:spPr>
            <a:solidFill>
              <a:srgbClr val="3987E5"/>
            </a:solidFill>
            <a:effectLst/>
          </c:spPr>
          <c:invertIfNegative val="0"/>
          <c:dLbls>
            <c:numFmt formatCode="0.0" sourceLinked="0"/>
            <c:txPr>
              <a:bodyPr/>
              <a:lstStyle/>
              <a:p>
                <a:pPr>
                  <a:defRPr b="0" i="0" strike="noStrike" sz="1000" u="none">
                    <a:solidFill>
                      <a:srgbClr val="EEF3FA"/>
                    </a:solidFill>
                    <a:latin typeface="+mn-lt"/>
                  </a:defRPr>
                </a:pPr>
              </a:p>
            </c:txPr>
            <c:showLegendKey val="0"/>
            <c:showVal val="1"/>
            <c:showCatName val="0"/>
            <c:showSerName val="0"/>
            <c:showPercent val="0"/>
            <c:showBubbleSize val="0"/>
            <c:showLeaderLines val="0"/>
          </c:dLbls>
          <c:cat>
            <c:multiLvlStrRef>
              <c:f>Sheet1!$A$2:$A$4</c:f>
              <c:multiLvlStrCache>
                <c:ptCount val="3"/>
                <c:lvl>
                  <c:pt idx="0">
                    <c:v>reached goal</c:v>
                  </c:pt>
                  <c:pt idx="1">
                    <c:v>collided</c:v>
                  </c:pt>
                  <c:pt idx="2">
                    <c:v>stuck</c:v>
                  </c:pt>
                </c:lvl>
              </c:multiLvlStrCache>
            </c:multiLvlStrRef>
          </c:cat>
          <c:val>
            <c:numRef>
              <c:f>Sheet1!$D$2:$D$4</c:f>
              <c:numCache>
                <c:formatCode>General</c:formatCode>
                <c:ptCount val="3"/>
                <c:pt idx="0">
                  <c:v>84</c:v>
                </c:pt>
                <c:pt idx="1">
                  <c:v>2</c:v>
                </c:pt>
                <c:pt idx="2">
                  <c:v>14</c:v>
                </c:pt>
              </c:numCache>
            </c:numRef>
          </c:val>
        </c:ser>
        <c:dLbls>
          <c:numFmt formatCode="0.0" sourceLinked="0"/>
          <c:txPr>
            <a:bodyPr/>
            <a:lstStyle/>
            <a:p>
              <a:pPr>
                <a:defRPr b="0" i="0" strike="noStrike" sz="1000" u="none">
                  <a:solidFill>
                    <a:srgbClr val="EEF3FA"/>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AEBBD0"/>
                </a:solidFill>
                <a:latin typeface="+mn-lt"/>
              </a:defRPr>
            </a:pPr>
            <a:endParaRPr lang="en-US"/>
          </a:p>
        </c:txPr>
        <c:crossAx val="2094734552"/>
        <c:crosses val="autoZero"/>
        <c:auto val="1"/>
        <c:lblAlgn val="ctr"/>
        <c:noMultiLvlLbl val="1"/>
      </c:catAx>
      <c:valAx>
        <c:axId val="2094734552"/>
        <c:scaling>
          <c:orientation val="minMax"/>
          <c:max val="110"/>
          <c:min val="0"/>
        </c:scaling>
        <c:delete val="0"/>
        <c:axPos val="l"/>
        <c:majorGridlines>
          <c:spPr>
            <a:ln w="9525" cap="flat">
              <a:solidFill>
                <a:srgbClr val="1E2E47"/>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7F8FA8"/>
                </a:solidFill>
                <a:latin typeface="+mn-lt"/>
              </a:defRPr>
            </a:pPr>
            <a:endParaRPr lang="en-US"/>
          </a:p>
        </c:txPr>
        <c:crossAx val="2094734554"/>
        <c:crosses val="autoZero"/>
        <c:crossBetween val="between"/>
        <c:majorUnit val="25"/>
      </c:valAx>
      <c:spPr>
        <a:solidFill>
          <a:srgbClr val="0F1B2D"/>
        </a:solidFill>
        <a:ln>
          <a:noFill/>
        </a:ln>
        <a:effectLst/>
      </c:spPr>
    </c:plotArea>
    <c:legend>
      <c:legendPos val="t"/>
      <c:overlay val="0"/>
      <c:txPr>
        <a:bodyPr/>
        <a:lstStyle/>
        <a:p>
          <a:pPr>
            <a:defRPr sz="1100">
              <a:solidFill>
                <a:srgbClr val="AEBBD0"/>
              </a:solidFill>
              <a:latin typeface="+mn-lt"/>
              <a:cs typeface="+mn-lt"/>
            </a:defRPr>
          </a:pPr>
          <a:endParaRPr lang="en-US"/>
        </a:p>
      </c:txPr>
    </c:legend>
    <c:plotVisOnly val="1"/>
    <c:dispBlanksAs val="span"/>
  </c:chart>
  <c:spPr>
    <a:solidFill>
      <a:srgbClr val="0F1B2D"/>
    </a:solidFill>
    <a:ln w="12700" cap="flat">
      <a:solidFill>
        <a:srgbClr val="23344F"/>
      </a:solid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(about 45 s).
Good morning. We are STP Team 06. Our project is Neural Kinematics and Reinforcement Learning for Collision-Free Space Manipulator Path Planning.
In this talk we show what we actually built and measured: a complete Level 1 pipeline that turns a target pose into collision-free joint angles, and a Level 2 reinforcement-learning agent that re-routes the arm around unexpected obstacles. Everything runs in PyBullet simulation on a UFactory xArm6, a six-joint arm standing in for the space manipulator.
All numbers in this deck come from result files in deliverables/results (re-measured for this presentation) or from the team's recorded runs, which are cited where they appear.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Problem statement (about 1 min).
Inverse kinematics asks: given where the gripper must be, and how it must be oriented, which six joint angles get it there?
For a space manipulator the answer must also be legal (inside every joint limit) and safe (the arm must never hit itself), and it has to come fast enough for real-time use.
The project brief splits the work into two levels. Level 1: a kinematics-aware AI model that computes joint angles and prevents self-collision. Level 2: a lightweight deep-reinforcement-learning agent that re-routes the arm in real time when obstacles or hardware position errors appear.
Both levels are implemented in simulation. The mentors approved using a standard arm, because the real manipulator's model is not available yet.
Source: Project Brief - Team 6.pdf; Level 1 Implementation Plan 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Fundamentals (about 1 min).
Forward kinematics, left: chain the six joint rotations and you get exactly one pose. PyBullet computes this with getLinkState; our renderer uses the same chain and matches PyBullet to 0.005 mm.
Inverse kinematics goes the other way. There is no general closed-form answer, and for the target in the clip our solver found 6 different joint configurations that all reach it exactly; four are shown.
That is why classical IK solvers iterate from a starting guess, and why our network also takes a seed: the arm's current joints decide which solution we want.
Clip: simulations/inverse_kinematics.mp4 (Simulation 3). Code: robot_config.py, refine/lm_solver.py (random_candidates).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Development approach (about 1 min).
We followed the Level 1 implementation plan step by step, and each step is one script in the repository.
1 robot setup with joints resolved by name; 2 dataset generation; 3 the collision classifier; 4 the IK network with the collision-aware loss; 5 the benchmark against PyBullet's classical solver; 6 Levenberg-Marquardt refinement, added after the benchmark showed that a network alone stays tens of millimetres off.
Beyond the plan: a deeper residual network, a web Studio that runs every step, and Level 2.
Reproducibility: the README recipe was re-run unchanged for this presentation; classical DLS reproduced exactly (5.07 mm, 9 % self-collision) and the neural baseline within noise (123 mm vs 128 mm in the README).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Technology (about 45 s).
PyBullet is the simulator: forward kinematics, Jacobians and the contact checks that label self-collision. It runs headless in DIRECT mode.
PyTorch trains both networks and also runs our batched Levenberg-Marquardt solver. NumPy and Matplotlib handle data and figures; the web Studio uses Three.js to show the robot from PyBullet's link frames.
The right column says where each result was computed. The team's best Level 1 network trained in 719 s on an NVIDIA RTX A6000; the Level 2 agent trained for 20 million steps in 134 minutes with GPU updates. For this presentation, everything was re-run on a 4-core CPU with no GPU: Python 3.13, PyTorch 2.14.1, PyBullet 3.2.7.</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robot (about 1 min).
The xArm6 comes from its URDF: meshes, six revolute joints and their limits, shown in the table.
Two details mattered. First, the URDF starts with a fixed world_joint at index 0, so assuming joints 0 to 5 silently shifts every index by one. robot_config.py resolves joints by name instead, which is also what lets a new robot drop in as one registry entry.
Second, PyBullet skips self-collision checks unless the URDF is loaded with URDF_USE_SELF_COLLISION; EXCLUDE_PARENT stops neighbouring links from always counting as touching.
The pose we control is the frame of link 6: a position and a quaternion.
Clip: simulations/robot_intro.mp4 (Simulation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Dataset (about 1 min).
No external dataset is needed: generate_dataset.py samples random joint angles, 70 % uniformly inside the limits and 30 % close to the limits where self-collisions concentrate.
For each sample PyBullet computes the end-effector pose and checks every link pair for contact; the result is one row: six angles, a position, a quaternion and a collision label.
The main dataset has 200,000 rows, of which 32,392 (16.2 %) are self-colliding; the clip ends with 7,000 of their end-effector positions: the red cluster is near the base, where the wrist can hit the body.
Re-checking the first 120 rows in PyBullet gives the same labels (100 % agreement).
The IK network is trained only on collision-free rows; the colliding rows train the classifier.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Representation (about 1 min).
Input: 13 numbers. The target position (3), its orientation as a quaternion (4), and a seed of 6 joint angles. In training, the seed is the true answer plus Gaussian noise of 0.3 radians, standing in for the arm's current joints.
Output: 12 numbers, the sine and cosine of each joint angle. On a circle, plus and minus 180 degrees are neighbours, so the training targets have no artificial jump; atan2 turns each pair back into an angle.
Because atan2 returns -180 to +180 degrees while joint 3 runs from -225 to +11, each angle is then shifted by 360 degrees into the joint range when possible: same pose, legal value.
Code: train_ik.load_dataset, IKNet.decode_angles, refine/lm_solver.wrap_to_limits.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Architecture (about 1 min).
The clip shows the baseline network from the plan, with its real activations for one held-out target: 13 inputs, three hidden layers of 256, 256 and 128 ReLU units, and 12 outputs.
The best network keeps exactly the same inputs, outputs and training loop, but has a deeper residual body: 2,050,316 parameters instead of 103,820.
On the target in the clip the baseline lands 92 mm away; the best network 16.7 mm. Over the whole held-out test split the best network averages 23.06 mm, re-measured here and identical to the recorded run.
Code: train_ik.IKNet (baseline), modelset/custom/model_set.py (best). Clip: simulations/neural_architecture.mp4 (Simulation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Collision awareness (about 1 min).
A small classifier, 6 inputs, two hidden layers of 64, one output, learns to predict self-collision from the joint angles alone. On 30,000 held-out poses it is 98.4 % accurate, with 95.9 % precision and 94.1 % recall (re-measured here).
In the clip the arm leans forward until its wrist touches the base: PyBullet reports contact at 80 % of the motion, exactly where the classifier's probability crosses 0.5.
During IK training the classifier is frozen and its probability for the predicted angles is added to the loss with weight 0.05. Because it is differentiable, it pushes the network away from risky poses during training, not only afterwards.
It is a soft penalty, not a guarantee: every final answer is still checked in PyBullet. Code: train_ik.train_ik_net.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Training (about 1 min).
Both networks are trained by the same train_ik loop: Adam, learning rate 0.001, batch 256, a random 85/15 train/validation split, 15 classifier epochs then the IK network.
The chart shows the mean validation position error after every epoch, checked with forward kinematics. The baseline (20,000 samples, 60 epochs, our CPU reproduction in 26 seconds) levels off near 115 mm. The residual network (200,000 samples, 120 epochs, the team's run on an RTX A6000 in 719 s) reaches 23.4 mm.
Training and validation errors fall together for most of training. Over the last epochs the residual network's validation error stops improving (best 21.5 mm at epoch 112, 23.4 mm at the end) while its training loss keeps falling: more epochs would not help, more data or regularisation might. Both histories are recorded, not reconstructed.
Sources: results/training_history.csv; ui/workspace/library/runs/20260928-174703_xarm6/meta.json.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Inference workflow (about 1 min).
One target is solved in five steps. The network makes a guess in about a millisecond on one CPU thread (0.93 ms measured), typically about two centimetres off.
The guess is shifted into the joint limits, then refined with Levenberg-Marquardt: the step solves (JᵀJ + λI) Δq = Jᵀe with λ = |e|² + 10⁻⁶, from the network output and from the seed, for up to 30 iterations; targets still outside 1 mm and 1 degree get 16 random restarts.
PyBullet then checks the result independently: the pose error, the joint limits and self-collision. If the solution collides, another IK branch is searched from fresh random starts and the first one PyBullet confirms is kept.
Measured on 2,000 held-out targets: 100 % within 1 mm and 1 degree, 12.9 ms per target from a warm start on one CPU thread.
Code: ui/server.py infer(), ui/runners/ik_metrics.refine_ik, refine/lm_solver.py.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Demonstration (about 1 min).
Three held-out test poses. For each, the green ghost is the network's guess, which misses by 56, 32, 31 millimetres; the solid arm then executes the refined answer, which PyBullet confirms below 0.001 mm, without self-collision and inside the joint limits.
The input panel shows the actual 13 numbers given to the network for each target.
Clip: simulations/inference_demo.mp4 (Simulation 8). Data: export_sim_data.py inference.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Evaluation method and accuracy (about 1 min).
Targets: 2,000 poses from the held-out test split of the best run, restricted to dataset rows neither network saw in training.
Every method receives the same target and the same starting joints. Three starting conditions: warm (true joints plus 0.3-radian noise, as in training), the home pose, and a random pose.
Every answer is re-checked in PyBullet: forward-kinematics pose error, joint limits, self-collision. An answer is valid only if it passes all three.
Left: how close each method gets, warm start. The network alone reaches 50 mm on 95 % of targets but never 1 mm; classical DLS reaches 1 mm on 26 %; network + LM on 100 %.
Right: valid answers for every starting condition. LM alone, without the network, also reaches 100 %: the precision comes from the solver; the network's value is a better starting point.
Source: results/evaluation_metrics.csv, scripts/pipeline/evaluate_methods.py.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Comparison (about 1.5 min).
Cold start: all three methods start from the home pose, on the same 2,000 targets.
The network alone is fast, about one millisecond, but it is not precise, and from a cold start 6.4 % of its answers collide.
PyBullet's classical damped-least-squares solver is the fastest, and from the home pose it gets within 5 cm of 68 % of targets, but it knows nothing about joint limits or self-collision: 22.8 % of its answers collide and 39.3 % break a joint limit; only 2.6 % are valid within 1 mm and 1 degree.
Network plus LM refinement with PyBullet checks: 100 % valid, no collisions, no limit violations, at 37.8 ms per target on one CPU thread.
Honest caveat: the LM solver alone also reaches 100 %. The network makes it about a quarter faster (50.5 → 37.8 ms) and cuts random restarts from 57 % to 19 % of targets.
From a warm start it is the other way round: LM alone is faster (8.7 vs 12.9 ms) because the seed is already close. The network pays off when the arm starts far from the answer.
Clip: simulations/method_comparison.mp4 (Simulation 9). Source: results/evaluation_metrics.csv (seed_mode = zero).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Level 2 (about 1.5 min).
Level 2 is implemented and trained in simulation. A PPO agent outputs a correction for each of the six joints, added to a classical potential-field controller (residual reinforcement learning), so it only has to learn when and how to deviate.
It observes 101 numbers: joint state, goal error, end-effector and link positions, and for each obstacle its distance, velocity and a kinematics-aware escape direction. Its reward favours progress, penalises getting close to obstacles, collisions, timeouts and the Level 1 classifier's self-collision risk.
The policy has 11,078 parameters and needs 17.5 microseconds per decision on one CPU core, in plain NumPy.
In the hardest scenario, everything at once, over 200 unseen episodes with identical seeds: the agent reached 84.0 % of goals with 2.0 % collisions; the potential field 71.0 % / 2.5 %, and the straight path 50.0 % / 50.0 %. The agent still gets stuck in 14.0 % of episodes.
Clip: simulations/level2_ppo_rerouting.mp4 (Simulation 10). Source: media/data/l2_20261013-185525_xarm6_meta_n200.json; level2/*.py.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Conclusion (about 1.5 min).
Achievements: a complete and reproducible Level 1 pipeline; every one of 2,000 held-out targets solved within 1 mm and 1 degree with no self-collision and no limit violation; a collision classifier that is 98.4 % accurate and is used both in training and in the Level 2 reward; and a Level 2 agent that cuts collisions from 50 % (straight path) to 2 %.
Limitations: everything is simulation with kinematic motion; the xArm6 stands in for the space manipulator and there is no satellite body yet; self-collision is checked per configuration, not along a continuous path; warm-start results assume the arm starts near the answer; the network alone is not precise, the precision comes from the solver; the Level 2 agent still gets stuck in 14 % of the hardest episodes.
Next steps: the space manipulator's URDF with the satellite body as collision geometry; continuous path checking; an IK-branch fallback when the agent is stuck; dynamics and a free-floating base.
Thank the audience and open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solidFill>
          <a:srgbClr val="0A1527"/>
        </a:solidFill>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0A1527"/>
        </a:solidFill>
      </p:bgPr>
    </p:bg>
    <p:spTree>
      <p:nvGrpSpPr>
        <p:cNvPr id="1" name=""/>
        <p:cNvGrpSpPr/>
        <p:nvPr/>
      </p:nvGrpSpPr>
      <p:grpSpPr>
        <a:xfrm>
          <a:off x="0" y="0"/>
          <a:ext cx="0" cy="0"/>
          <a:chOff x="0" y="0"/>
          <a:chExt cx="0" cy="0"/>
        </a:xfrm>
      </p:grpSpPr>
      <p:sp>
        <p:nvSpPr>
          <p:cNvPr id="2" name="Text 0"/>
          <p:cNvSpPr/>
          <p:nvPr>
            <p:ph idx="101" type="body" hasCustomPrompt="1"/>
          </p:nvPr>
        </p:nvSpPr>
        <p:spPr>
          <a:xfrm>
            <a:off x="731520" y="310896"/>
            <a:ext cx="8686800" cy="329184"/>
          </a:xfrm>
          <a:prstGeom prst="rect">
            <a:avLst/>
          </a:prstGeom>
          <a:noFill/>
          <a:ln/>
        </p:spPr>
        <p:txBody>
          <a:bodyPr wrap="square" rtlCol="0"/>
          <a:lstStyle>
            <a:lvl1pPr algn="l" indent="0" marL="0">
              <a:buNone/>
              <a:defRPr lang="en-US" sz="1200" b="1" spc="300" kern="0" dirty="0">
                <a:solidFill>
                  <a:srgbClr val="AEBBD0"/>
                </a:solidFill>
              </a:defRPr>
            </a:lvl1pPr>
          </a:lstStyle>
          <a:p>
            <a:pPr algn="l" indent="0" marL="0">
              <a:buNone/>
            </a:pPr>
            <a:endParaRPr lang="en-US" sz="1200" dirty="0"/>
          </a:p>
        </p:txBody>
      </p:sp>
      <p:sp>
        <p:nvSpPr>
          <p:cNvPr id="3" name="Text 0"/>
          <p:cNvSpPr/>
          <p:nvPr>
            <p:ph idx="102" type="title" hasCustomPrompt="1"/>
          </p:nvPr>
        </p:nvSpPr>
        <p:spPr>
          <a:xfrm>
            <a:off x="548640" y="658368"/>
            <a:ext cx="11094415" cy="731520"/>
          </a:xfrm>
          <a:prstGeom prst="rect">
            <a:avLst/>
          </a:prstGeom>
          <a:noFill/>
          <a:ln/>
        </p:spPr>
        <p:txBody>
          <a:bodyPr wrap="square" rtlCol="0"/>
          <a:lstStyle>
            <a:lvl1pPr algn="l" indent="0" marL="0">
              <a:buNone/>
              <a:defRPr lang="en-US" sz="3200" b="1" dirty="0">
                <a:solidFill>
                  <a:srgbClr val="EEF3FA"/>
                </a:solidFill>
              </a:defRPr>
            </a:lvl1pPr>
          </a:lstStyle>
          <a:p>
            <a:pPr algn="l" indent="0" marL="0">
              <a:buNone/>
            </a:pPr>
            <a:endParaRPr lang="en-US" sz="3200" dirty="0"/>
          </a:p>
        </p:txBody>
      </p:sp>
      <p:sp>
        <p:nvSpPr>
          <p:cNvPr id="4" name="Text 0"/>
          <p:cNvSpPr/>
          <p:nvPr/>
        </p:nvSpPr>
        <p:spPr>
          <a:xfrm>
            <a:off x="548640" y="6446520"/>
            <a:ext cx="9144000" cy="256032"/>
          </a:xfrm>
          <a:prstGeom prst="rect">
            <a:avLst/>
          </a:prstGeom>
          <a:noFill/>
          <a:ln/>
        </p:spPr>
        <p:txBody>
          <a:bodyPr wrap="square" lIns="0" tIns="0" rIns="0" bIns="0" rtlCol="0" anchor="ctr"/>
          <a:lstStyle/>
          <a:p>
            <a:pPr indent="0" marL="0">
              <a:buNone/>
            </a:pPr>
            <a:r>
              <a:rPr lang="en-US" sz="900" dirty="0">
                <a:solidFill>
                  <a:srgbClr val="7F8FA8"/>
                </a:solidFill>
              </a:rPr>
              <a:t>STP 2026 · Team 06 · Neural kinematics for space manipulators · simulation results (PyBullet, xArm6)</a:t>
            </a:r>
            <a:endParaRPr lang="en-US" sz="900" dirty="0"/>
          </a:p>
        </p:txBody>
      </p:sp>
      <p:sp>
        <p:nvSpPr>
          <p:cNvPr id="25" name="Slide Number Placeholder 0"/>
          <p:cNvSpPr>
            <a:spLocks noGrp="1"/>
          </p:cNvSpPr>
          <p:nvPr>
            <p:ph type="sldNum" sz="quarter" idx="4294967295"/>
          </p:nvPr>
        </p:nvSpPr>
        <p:spPr>
          <a:xfrm>
            <a:off x="11094415" y="6446520"/>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7F8FA8"/>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4415" y="6446520"/>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7F8FA8"/>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video" Target="../media/media-3-1.mp4"/><Relationship Id="rId2" Type="http://schemas.microsoft.com/office/2007/relationships/media" Target="../media/media-3-1.mp4"/><Relationship Id="rId3" Type="http://schemas.openxmlformats.org/officeDocument/2006/relationships/image" Target="../media/image-3-3.png"/><Relationship Id="rId4" Type="http://schemas.openxmlformats.org/officeDocument/2006/relationships/slideLayout" Target="../slideLayouts/slideLayout3.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video" Target="../media/media-6-1.mp4"/><Relationship Id="rId2" Type="http://schemas.microsoft.com/office/2007/relationships/media" Target="../media/media-6-1.mp4"/><Relationship Id="rId3" Type="http://schemas.openxmlformats.org/officeDocument/2006/relationships/image" Target="../media/image-6-3.png"/><Relationship Id="rId4" Type="http://schemas.openxmlformats.org/officeDocument/2006/relationships/slideLayout" Target="../slideLayouts/slideLayout3.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video" Target="../media/media-7-1.mp4"/><Relationship Id="rId2" Type="http://schemas.microsoft.com/office/2007/relationships/media" Target="../media/media-7-1.mp4"/><Relationship Id="rId3" Type="http://schemas.openxmlformats.org/officeDocument/2006/relationships/image" Target="../media/image-7-3.png"/><Relationship Id="rId4" Type="http://schemas.openxmlformats.org/officeDocument/2006/relationships/slideLayout" Target="../slideLayouts/slideLayout3.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3.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3.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2" Type="http://schemas.openxmlformats.org/officeDocument/2006/relationships/chart" Target="/ppt/charts/chart3.xml"/><Relationship Id="rId1" Type="http://schemas.openxmlformats.org/officeDocument/2006/relationships/image" Target="../media/image-15-1.png"/><Relationship Id="rId3" Type="http://schemas.openxmlformats.org/officeDocument/2006/relationships/slideLayout" Target="../slideLayouts/slideLayout3.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2" Type="http://schemas.openxmlformats.org/officeDocument/2006/relationships/chart" Target="/ppt/charts/chart4.xml"/><Relationship Id="rId1" Type="http://schemas.openxmlformats.org/officeDocument/2006/relationships/image" Target="../media/image-16-1.png"/><Relationship Id="rId3" Type="http://schemas.openxmlformats.org/officeDocument/2006/relationships/slideLayout" Target="../slideLayouts/slideLayout3.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hero" descr="/tmp/claude-0/nik_work/deck/hero.png">    </p:cNvPr>
          <p:cNvPicPr>
            <a:picLocks noChangeAspect="1"/>
          </p:cNvPicPr>
          <p:nvPr/>
        </p:nvPicPr>
        <p:blipFill>
          <a:blip r:embed="rId1"/>
          <a:stretch>
            <a:fillRect/>
          </a:stretch>
        </p:blipFill>
        <p:spPr>
          <a:xfrm>
            <a:off x="0" y="0"/>
            <a:ext cx="12191695" cy="6858000"/>
          </a:xfrm>
          <a:prstGeom prst="rect">
            <a:avLst/>
          </a:prstGeom>
        </p:spPr>
      </p:pic>
      <p:sp>
        <p:nvSpPr>
          <p:cNvPr id="3" name="t_kicker"/>
          <p:cNvSpPr txBox="1"/>
          <p:nvPr/>
        </p:nvSpPr>
        <p:spPr>
          <a:xfrm>
            <a:off x="685800" y="1783080"/>
            <a:ext cx="5486400" cy="320040"/>
          </a:xfrm>
          <a:prstGeom prst="rect">
            <a:avLst/>
          </a:prstGeom>
          <a:noFill/>
          <a:ln/>
        </p:spPr>
        <p:txBody>
          <a:bodyPr wrap="square" lIns="0" tIns="0" rIns="0" bIns="0" rtlCol="0" anchor="t"/>
          <a:lstStyle/>
          <a:p>
            <a:pPr indent="0" marL="0">
              <a:buNone/>
            </a:pPr>
            <a:r>
              <a:rPr lang="en-US" sz="1400" b="1" spc="400" kern="0" dirty="0">
                <a:solidFill>
                  <a:srgbClr val="4FD6F2"/>
                </a:solidFill>
                <a:latin typeface="Calibri" pitchFamily="34" charset="0"/>
                <a:ea typeface="Calibri" pitchFamily="34" charset="-122"/>
                <a:cs typeface="Calibri" pitchFamily="34" charset="-120"/>
              </a:rPr>
              <a:t>STP 2026 · TEAM 06</a:t>
            </a:r>
            <a:endParaRPr lang="en-US" sz="1400" dirty="0"/>
          </a:p>
        </p:txBody>
      </p:sp>
      <p:sp>
        <p:nvSpPr>
          <p:cNvPr id="4" name="t_title"/>
          <p:cNvSpPr txBox="1"/>
          <p:nvPr/>
        </p:nvSpPr>
        <p:spPr>
          <a:xfrm>
            <a:off x="685800" y="2148840"/>
            <a:ext cx="5852160" cy="1874520"/>
          </a:xfrm>
          <a:prstGeom prst="rect">
            <a:avLst/>
          </a:prstGeom>
          <a:noFill/>
          <a:ln/>
        </p:spPr>
        <p:txBody>
          <a:bodyPr wrap="square" lIns="0" tIns="0" rIns="0" bIns="0" rtlCol="0" anchor="t"/>
          <a:lstStyle/>
          <a:p>
            <a:pPr indent="0" marL="0">
              <a:lnSpc>
                <a:spcPct val="95000"/>
              </a:lnSpc>
              <a:buNone/>
            </a:pPr>
            <a:r>
              <a:rPr lang="en-US" sz="3800" b="1" dirty="0">
                <a:solidFill>
                  <a:srgbClr val="EEF3FA"/>
                </a:solidFill>
                <a:latin typeface="Calibri" pitchFamily="34" charset="0"/>
                <a:ea typeface="Calibri" pitchFamily="34" charset="-122"/>
                <a:cs typeface="Calibri" pitchFamily="34" charset="-120"/>
              </a:rPr>
              <a:t>Neural Kinematics for Intelligent Space Manipulators</a:t>
            </a:r>
            <a:endParaRPr lang="en-US" sz="3800" dirty="0"/>
          </a:p>
        </p:txBody>
      </p:sp>
      <p:sp>
        <p:nvSpPr>
          <p:cNvPr id="5" name="t_sub"/>
          <p:cNvSpPr txBox="1"/>
          <p:nvPr/>
        </p:nvSpPr>
        <p:spPr>
          <a:xfrm>
            <a:off x="685800" y="4160520"/>
            <a:ext cx="5394960" cy="822960"/>
          </a:xfrm>
          <a:prstGeom prst="rect">
            <a:avLst/>
          </a:prstGeom>
          <a:noFill/>
          <a:ln/>
        </p:spPr>
        <p:txBody>
          <a:bodyPr wrap="square" lIns="0" tIns="0" rIns="0" bIns="0" rtlCol="0" anchor="t"/>
          <a:lstStyle/>
          <a:p>
            <a:pPr indent="0" marL="0">
              <a:buNone/>
            </a:pPr>
            <a:r>
              <a:rPr lang="en-US" sz="1600" dirty="0">
                <a:solidFill>
                  <a:srgbClr val="AEBBD0"/>
                </a:solidFill>
                <a:latin typeface="Calibri" pitchFamily="34" charset="0"/>
                <a:ea typeface="Calibri" pitchFamily="34" charset="-122"/>
                <a:cs typeface="Calibri" pitchFamily="34" charset="-120"/>
              </a:rPr>
              <a:t>Design, implementation and simulation-based evaluation of a collision-aware neural inverse-kinematics framework</a:t>
            </a:r>
            <a:endParaRPr lang="en-US" sz="1600" dirty="0"/>
          </a:p>
        </p:txBody>
      </p:sp>
      <p:sp>
        <p:nvSpPr>
          <p:cNvPr id="6" name="t_tags#Level 1 · complete#b"/>
          <p:cNvSpPr/>
          <p:nvPr/>
        </p:nvSpPr>
        <p:spPr>
          <a:xfrm>
            <a:off x="685800" y="5166360"/>
            <a:ext cx="1600200" cy="347472"/>
          </a:xfrm>
          <a:prstGeom prst="roundRect">
            <a:avLst>
              <a:gd name="adj" fmla="val 50000"/>
            </a:avLst>
          </a:prstGeom>
          <a:solidFill>
            <a:srgbClr val="14233A"/>
          </a:solidFill>
          <a:ln w="12700">
            <a:solidFill>
              <a:srgbClr val="23344F"/>
            </a:solidFill>
            <a:prstDash val="solid"/>
          </a:ln>
        </p:spPr>
      </p:sp>
      <p:sp>
        <p:nvSpPr>
          <p:cNvPr id="7" name="t_tags#Level 1 · complete#t"/>
          <p:cNvSpPr txBox="1"/>
          <p:nvPr/>
        </p:nvSpPr>
        <p:spPr>
          <a:xfrm>
            <a:off x="685800" y="5166360"/>
            <a:ext cx="1600200" cy="347472"/>
          </a:xfrm>
          <a:prstGeom prst="rect">
            <a:avLst/>
          </a:prstGeom>
          <a:noFill/>
          <a:ln/>
        </p:spPr>
        <p:txBody>
          <a:bodyPr wrap="square" lIns="0" tIns="0" rIns="0" bIns="0" rtlCol="0" anchor="ctr"/>
          <a:lstStyle/>
          <a:p>
            <a:pPr algn="ctr" indent="0" marL="0">
              <a:buNone/>
            </a:pPr>
            <a:r>
              <a:rPr lang="en-US" sz="1150" dirty="0">
                <a:solidFill>
                  <a:srgbClr val="EEF3FA"/>
                </a:solidFill>
                <a:latin typeface="Calibri" pitchFamily="34" charset="0"/>
                <a:ea typeface="Calibri" pitchFamily="34" charset="-122"/>
                <a:cs typeface="Calibri" pitchFamily="34" charset="-120"/>
              </a:rPr>
              <a:t>Level 1 · complete</a:t>
            </a:r>
            <a:endParaRPr lang="en-US" sz="1150" dirty="0"/>
          </a:p>
        </p:txBody>
      </p:sp>
      <p:sp>
        <p:nvSpPr>
          <p:cNvPr id="8" name="t_tags#Level 2 · implemented in simulation#b"/>
          <p:cNvSpPr/>
          <p:nvPr/>
        </p:nvSpPr>
        <p:spPr>
          <a:xfrm>
            <a:off x="2423160" y="5166360"/>
            <a:ext cx="2697480" cy="347472"/>
          </a:xfrm>
          <a:prstGeom prst="roundRect">
            <a:avLst>
              <a:gd name="adj" fmla="val 50000"/>
            </a:avLst>
          </a:prstGeom>
          <a:solidFill>
            <a:srgbClr val="14233A"/>
          </a:solidFill>
          <a:ln w="12700">
            <a:solidFill>
              <a:srgbClr val="23344F"/>
            </a:solidFill>
            <a:prstDash val="solid"/>
          </a:ln>
        </p:spPr>
      </p:sp>
      <p:sp>
        <p:nvSpPr>
          <p:cNvPr id="9" name="t_tags#Level 2 · implemented in simulation#t"/>
          <p:cNvSpPr txBox="1"/>
          <p:nvPr/>
        </p:nvSpPr>
        <p:spPr>
          <a:xfrm>
            <a:off x="2423160" y="5166360"/>
            <a:ext cx="2697480" cy="347472"/>
          </a:xfrm>
          <a:prstGeom prst="rect">
            <a:avLst/>
          </a:prstGeom>
          <a:noFill/>
          <a:ln/>
        </p:spPr>
        <p:txBody>
          <a:bodyPr wrap="square" lIns="0" tIns="0" rIns="0" bIns="0" rtlCol="0" anchor="ctr"/>
          <a:lstStyle/>
          <a:p>
            <a:pPr algn="ctr" indent="0" marL="0">
              <a:buNone/>
            </a:pPr>
            <a:r>
              <a:rPr lang="en-US" sz="1150" dirty="0">
                <a:solidFill>
                  <a:srgbClr val="EEF3FA"/>
                </a:solidFill>
                <a:latin typeface="Calibri" pitchFamily="34" charset="0"/>
                <a:ea typeface="Calibri" pitchFamily="34" charset="-122"/>
                <a:cs typeface="Calibri" pitchFamily="34" charset="-120"/>
              </a:rPr>
              <a:t>Level 2 · implemented in simulation</a:t>
            </a:r>
            <a:endParaRPr lang="en-US" sz="1150" dirty="0"/>
          </a:p>
        </p:txBody>
      </p:sp>
      <p:sp>
        <p:nvSpPr>
          <p:cNvPr id="10" name="t_tags#UFactory xArm6 · PyBullet#b"/>
          <p:cNvSpPr/>
          <p:nvPr/>
        </p:nvSpPr>
        <p:spPr>
          <a:xfrm>
            <a:off x="5257800" y="5166360"/>
            <a:ext cx="2011680" cy="347472"/>
          </a:xfrm>
          <a:prstGeom prst="roundRect">
            <a:avLst>
              <a:gd name="adj" fmla="val 50000"/>
            </a:avLst>
          </a:prstGeom>
          <a:solidFill>
            <a:srgbClr val="14233A"/>
          </a:solidFill>
          <a:ln w="12700">
            <a:solidFill>
              <a:srgbClr val="23344F"/>
            </a:solidFill>
            <a:prstDash val="solid"/>
          </a:ln>
        </p:spPr>
      </p:sp>
      <p:sp>
        <p:nvSpPr>
          <p:cNvPr id="11" name="t_tags#UFactory xArm6 · PyBullet#t"/>
          <p:cNvSpPr txBox="1"/>
          <p:nvPr/>
        </p:nvSpPr>
        <p:spPr>
          <a:xfrm>
            <a:off x="5257800" y="5166360"/>
            <a:ext cx="2011680" cy="347472"/>
          </a:xfrm>
          <a:prstGeom prst="rect">
            <a:avLst/>
          </a:prstGeom>
          <a:noFill/>
          <a:ln/>
        </p:spPr>
        <p:txBody>
          <a:bodyPr wrap="square" lIns="0" tIns="0" rIns="0" bIns="0" rtlCol="0" anchor="ctr"/>
          <a:lstStyle/>
          <a:p>
            <a:pPr algn="ctr" indent="0" marL="0">
              <a:buNone/>
            </a:pPr>
            <a:r>
              <a:rPr lang="en-US" sz="1150" dirty="0">
                <a:solidFill>
                  <a:srgbClr val="EEF3FA"/>
                </a:solidFill>
                <a:latin typeface="Calibri" pitchFamily="34" charset="0"/>
                <a:ea typeface="Calibri" pitchFamily="34" charset="-122"/>
                <a:cs typeface="Calibri" pitchFamily="34" charset="-120"/>
              </a:rPr>
              <a:t>UFactory xArm6 · PyBullet</a:t>
            </a:r>
            <a:endParaRPr lang="en-US" sz="1150" dirty="0"/>
          </a:p>
        </p:txBody>
      </p:sp>
      <p:sp>
        <p:nvSpPr>
          <p:cNvPr id="12" name="Text 9"/>
          <p:cNvSpPr txBox="1"/>
          <p:nvPr/>
        </p:nvSpPr>
        <p:spPr>
          <a:xfrm>
            <a:off x="685800" y="6263640"/>
            <a:ext cx="8229600" cy="274320"/>
          </a:xfrm>
          <a:prstGeom prst="rect">
            <a:avLst/>
          </a:prstGeom>
          <a:noFill/>
          <a:ln/>
        </p:spPr>
        <p:txBody>
          <a:bodyPr wrap="square" lIns="0" tIns="0" rIns="0" bIns="0" rtlCol="0" anchor="t"/>
          <a:lstStyle/>
          <a:p>
            <a:pPr indent="0" marL="0">
              <a:buNone/>
            </a:pPr>
            <a:r>
              <a:rPr lang="en-US" sz="1000" dirty="0">
                <a:solidFill>
                  <a:srgbClr val="7F8FA8"/>
                </a:solidFill>
                <a:latin typeface="Calibri" pitchFamily="34" charset="0"/>
                <a:ea typeface="Calibri" pitchFamily="34" charset="-122"/>
                <a:cs typeface="Calibri" pitchFamily="34" charset="-120"/>
              </a:rPr>
              <a:t>Neural Kinematics and Reinforcement Learning for Collision-Free Space Manipulator Path Planning</a:t>
            </a:r>
            <a:endParaRPr lang="en-US" sz="1000" dirty="0"/>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7" fill="hold">
                            <p:stCondLst>
                              <p:cond delay="0"/>
                            </p:stCondLst>
                            <p:childTnLst>
                              <p:par>
                                <p:cTn id="4" presetID="10" presetClass="entr" presetSubtype="0" fill="hold" grpId="0" nodeType="afterEffect">
                                  <p:stCondLst>
                                    <p:cond delay="0"/>
                                  </p:stCondLst>
                                  <p:childTnLst>
                                    <p:set>
                                      <p:cBhvr>
                                        <p:cTn id="5" dur="1" fill="hold">
                                          <p:stCondLst>
                                            <p:cond delay="0"/>
                                          </p:stCondLst>
                                        </p:cTn>
                                        <p:tgtEl>
                                          <p:spTgt spid="3"/>
                                        </p:tgtEl>
                                        <p:attrNameLst>
                                          <p:attrName>style.visibility</p:attrName>
                                        </p:attrNameLst>
                                      </p:cBhvr>
                                      <p:to>
                                        <p:strVal val="visible"/>
                                      </p:to>
                                    </p:set>
                                    <p:animEffect transition="in" filter="fade">
                                      <p:cBhvr>
                                        <p:cTn id="6" dur="420"/>
                                        <p:tgtEl>
                                          <p:spTgt spid="3"/>
                                        </p:tgtEl>
                                      </p:cBhvr>
                                    </p:animEffect>
                                  </p:childTnLst>
                                </p:cTn>
                              </p:par>
                            </p:childTnLst>
                          </p:cTn>
                        </p:par>
                        <p:par>
                          <p:cTn id="11" fill="hold">
                            <p:stCondLst>
                              <p:cond delay="0"/>
                            </p:stCondLst>
                            <p:childTnLst>
                              <p:par>
                                <p:cTn id="8" presetID="10" presetClass="entr" presetSubtype="0" fill="hold" grpId="0" nodeType="afterEffect">
                                  <p:stCondLst>
                                    <p:cond delay="0"/>
                                  </p:stCondLst>
                                  <p:childTnLst>
                                    <p:set>
                                      <p:cBhvr>
                                        <p:cTn id="9" dur="1" fill="hold">
                                          <p:stCondLst>
                                            <p:cond delay="0"/>
                                          </p:stCondLst>
                                        </p:cTn>
                                        <p:tgtEl>
                                          <p:spTgt spid="4"/>
                                        </p:tgtEl>
                                        <p:attrNameLst>
                                          <p:attrName>style.visibility</p:attrName>
                                        </p:attrNameLst>
                                      </p:cBhvr>
                                      <p:to>
                                        <p:strVal val="visible"/>
                                      </p:to>
                                    </p:set>
                                    <p:animEffect transition="in" filter="fade">
                                      <p:cBhvr>
                                        <p:cTn id="10" dur="420"/>
                                        <p:tgtEl>
                                          <p:spTgt spid="4"/>
                                        </p:tgtEl>
                                      </p:cBhvr>
                                    </p:animEffect>
                                  </p:childTnLst>
                                </p:cTn>
                              </p:par>
                            </p:childTnLst>
                          </p:cTn>
                        </p:par>
                        <p:par>
                          <p:cTn id="15" fill="hold">
                            <p:stCondLst>
                              <p:cond delay="260"/>
                            </p:stCondLst>
                            <p:childTnLst>
                              <p:par>
                                <p:cTn id="12" presetID="10" presetClass="entr" presetSubtype="0" fill="hold" grpId="0" nodeType="afterEffect">
                                  <p:stCondLst>
                                    <p:cond delay="0"/>
                                  </p:stCondLst>
                                  <p:childTnLst>
                                    <p:set>
                                      <p:cBhvr>
                                        <p:cTn id="13" dur="1" fill="hold">
                                          <p:stCondLst>
                                            <p:cond delay="0"/>
                                          </p:stCondLst>
                                        </p:cTn>
                                        <p:tgtEl>
                                          <p:spTgt spid="5"/>
                                        </p:tgtEl>
                                        <p:attrNameLst>
                                          <p:attrName>style.visibility</p:attrName>
                                        </p:attrNameLst>
                                      </p:cBhvr>
                                      <p:to>
                                        <p:strVal val="visible"/>
                                      </p:to>
                                    </p:set>
                                    <p:animEffect transition="in" filter="fade">
                                      <p:cBhvr>
                                        <p:cTn id="14" dur="420"/>
                                        <p:tgtEl>
                                          <p:spTgt spid="5"/>
                                        </p:tgtEl>
                                      </p:cBhvr>
                                    </p:animEffect>
                                  </p:childTnLst>
                                </p:cTn>
                              </p:par>
                            </p:childTnLst>
                          </p:cTn>
                        </p:par>
                        <p:par>
                          <p:cTn id="34" fill="hold">
                            <p:stCondLst>
                              <p:cond delay="520"/>
                            </p:stCondLst>
                            <p:childTnLst>
                              <p:par>
                                <p:cTn id="16" presetID="10" presetClass="entr" presetSubtype="0" fill="hold" grpId="0" nodeType="afterEffect">
                                  <p:stCondLst>
                                    <p:cond delay="0"/>
                                  </p:stCondLst>
                                  <p:childTnLst>
                                    <p:set>
                                      <p:cBhvr>
                                        <p:cTn id="17" dur="1" fill="hold">
                                          <p:stCondLst>
                                            <p:cond delay="0"/>
                                          </p:stCondLst>
                                        </p:cTn>
                                        <p:tgtEl>
                                          <p:spTgt spid="6"/>
                                        </p:tgtEl>
                                        <p:attrNameLst>
                                          <p:attrName>style.visibility</p:attrName>
                                        </p:attrNameLst>
                                      </p:cBhvr>
                                      <p:to>
                                        <p:strVal val="visible"/>
                                      </p:to>
                                    </p:set>
                                    <p:animEffect transition="in" filter="fade">
                                      <p:cBhvr>
                                        <p:cTn id="18" dur="420"/>
                                        <p:tgtEl>
                                          <p:spTgt spid="6"/>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7"/>
                                        </p:tgtEl>
                                        <p:attrNameLst>
                                          <p:attrName>style.visibility</p:attrName>
                                        </p:attrNameLst>
                                      </p:cBhvr>
                                      <p:to>
                                        <p:strVal val="visible"/>
                                      </p:to>
                                    </p:set>
                                    <p:animEffect transition="in" filter="fade">
                                      <p:cBhvr>
                                        <p:cTn id="21" dur="420"/>
                                        <p:tgtEl>
                                          <p:spTgt spid="7"/>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8"/>
                                        </p:tgtEl>
                                        <p:attrNameLst>
                                          <p:attrName>style.visibility</p:attrName>
                                        </p:attrNameLst>
                                      </p:cBhvr>
                                      <p:to>
                                        <p:strVal val="visible"/>
                                      </p:to>
                                    </p:set>
                                    <p:animEffect transition="in" filter="fade">
                                      <p:cBhvr>
                                        <p:cTn id="24" dur="420"/>
                                        <p:tgtEl>
                                          <p:spTgt spid="8"/>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fade">
                                      <p:cBhvr>
                                        <p:cTn id="27" dur="420"/>
                                        <p:tgtEl>
                                          <p:spTgt spid="9"/>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0"/>
                                        </p:tgtEl>
                                        <p:attrNameLst>
                                          <p:attrName>style.visibility</p:attrName>
                                        </p:attrNameLst>
                                      </p:cBhvr>
                                      <p:to>
                                        <p:strVal val="visible"/>
                                      </p:to>
                                    </p:set>
                                    <p:animEffect transition="in" filter="fade">
                                      <p:cBhvr>
                                        <p:cTn id="30" dur="420"/>
                                        <p:tgtEl>
                                          <p:spTgt spid="10"/>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1"/>
                                        </p:tgtEl>
                                        <p:attrNameLst>
                                          <p:attrName>style.visibility</p:attrName>
                                        </p:attrNameLst>
                                      </p:cBhvr>
                                      <p:to>
                                        <p:strVal val="visible"/>
                                      </p:to>
                                    </p:set>
                                    <p:animEffect transition="in" filter="fade">
                                      <p:cBhvr>
                                        <p:cTn id="33" dur="42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animBg="1"/>
      <p:bldP spid="4" grpId="0" animBg="1"/>
      <p:bldP spid="5" grpId="0" animBg="1"/>
      <p:bldP spid="6" grpId="0"/>
      <p:bldP spid="7" grpId="0" animBg="1"/>
      <p:bldP spid="8" grpId="0"/>
      <p:bldP spid="9" grpId="0" animBg="1"/>
      <p:bldP spid="10" grpId="0"/>
      <p:bldP spid="11" grpId="0" animBg="1"/>
    </p:bldLst>
  </p:timing>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1" type="body" hasCustomPrompt="1"/>
          </p:nvPr>
        </p:nvSpPr>
        <p:spPr>
          <a:xfrm>
            <a:off x="731520" y="310896"/>
            <a:ext cx="8686800" cy="329184"/>
          </a:xfrm>
          <a:prstGeom prst="rect">
            <a:avLst/>
          </a:prstGeom>
          <a:noFill/>
          <a:ln/>
        </p:spPr>
        <p:txBody>
          <a:bodyPr wrap="square" lIns="0" tIns="0" rIns="0" bIns="0" rtlCol="0" anchor="ctr"/>
          <a:lstStyle/>
          <a:p>
            <a:pPr algn="l" indent="0" marL="0">
              <a:buNone/>
            </a:pPr>
            <a:r>
              <a:rPr lang="en-US" sz="1200" b="1" spc="300" kern="0" dirty="0">
                <a:solidFill>
                  <a:srgbClr val="AEBBD0"/>
                </a:solidFill>
              </a:rPr>
              <a:t>INTRODUCTION · PROBLEM</a:t>
            </a:r>
            <a:endParaRPr lang="en-US" sz="1200" dirty="0"/>
          </a:p>
        </p:txBody>
      </p:sp>
      <p:sp>
        <p:nvSpPr>
          <p:cNvPr id="3" name="Text 0"/>
          <p:cNvSpPr/>
          <p:nvPr>
            <p:ph idx="102" type="title" hasCustomPrompt="1"/>
          </p:nvPr>
        </p:nvSpPr>
        <p:spPr>
          <a:xfrm>
            <a:off x="548640" y="658368"/>
            <a:ext cx="11094415" cy="731520"/>
          </a:xfrm>
          <a:prstGeom prst="rect">
            <a:avLst/>
          </a:prstGeom>
          <a:noFill/>
          <a:ln/>
        </p:spPr>
        <p:txBody>
          <a:bodyPr wrap="square" lIns="0" tIns="0" rIns="0" bIns="0" rtlCol="0" anchor="ctr"/>
          <a:lstStyle/>
          <a:p>
            <a:pPr algn="l" indent="0" marL="0">
              <a:buNone/>
            </a:pPr>
            <a:r>
              <a:rPr lang="en-US" sz="3200" b="1" dirty="0">
                <a:solidFill>
                  <a:srgbClr val="EEF3FA"/>
                </a:solidFill>
              </a:rPr>
              <a:t>Reach any pose: precisely, legally, safely and fast</a:t>
            </a:r>
            <a:endParaRPr lang="en-US" sz="3200" dirty="0"/>
          </a:p>
        </p:txBody>
      </p:sp>
      <p:sp>
        <p:nvSpPr>
          <p:cNvPr id="5" name="p_q"/>
          <p:cNvSpPr txBox="1"/>
          <p:nvPr/>
        </p:nvSpPr>
        <p:spPr>
          <a:xfrm>
            <a:off x="548640" y="1645920"/>
            <a:ext cx="5212080" cy="685800"/>
          </a:xfrm>
          <a:prstGeom prst="rect">
            <a:avLst/>
          </a:prstGeom>
          <a:noFill/>
          <a:ln/>
        </p:spPr>
        <p:txBody>
          <a:bodyPr wrap="square" lIns="0" tIns="0" rIns="0" bIns="0" rtlCol="0" anchor="t"/>
          <a:lstStyle/>
          <a:p>
            <a:pPr indent="0" marL="0">
              <a:buNone/>
            </a:pPr>
            <a:r>
              <a:rPr lang="en-US" sz="1700" dirty="0">
                <a:solidFill>
                  <a:srgbClr val="EEF3FA"/>
                </a:solidFill>
                <a:latin typeface="Calibri" pitchFamily="34" charset="0"/>
                <a:ea typeface="Calibri" pitchFamily="34" charset="-122"/>
                <a:cs typeface="Calibri" pitchFamily="34" charset="-120"/>
              </a:rPr>
              <a:t>Given a target pose for the gripper (position + orientation), find the six joint angles that reach it.</a:t>
            </a:r>
            <a:endParaRPr lang="en-US" sz="1700" dirty="0"/>
          </a:p>
        </p:txBody>
      </p:sp>
      <p:sp>
        <p:nvSpPr>
          <p:cNvPr id="6" name="p_c0#o"/>
          <p:cNvSpPr/>
          <p:nvPr/>
        </p:nvSpPr>
        <p:spPr>
          <a:xfrm>
            <a:off x="548640" y="2615184"/>
            <a:ext cx="420624" cy="420624"/>
          </a:xfrm>
          <a:prstGeom prst="ellipse">
            <a:avLst/>
          </a:prstGeom>
          <a:solidFill>
            <a:srgbClr val="14233A"/>
          </a:solidFill>
          <a:ln w="15875">
            <a:solidFill>
              <a:srgbClr val="4FD6F2"/>
            </a:solidFill>
            <a:prstDash val="solid"/>
          </a:ln>
        </p:spPr>
      </p:sp>
      <p:sp>
        <p:nvSpPr>
          <p:cNvPr id="7" name="p_c0#n"/>
          <p:cNvSpPr txBox="1"/>
          <p:nvPr/>
        </p:nvSpPr>
        <p:spPr>
          <a:xfrm>
            <a:off x="548640" y="2615184"/>
            <a:ext cx="420624" cy="420624"/>
          </a:xfrm>
          <a:prstGeom prst="rect">
            <a:avLst/>
          </a:prstGeom>
          <a:noFill/>
          <a:ln/>
        </p:spPr>
        <p:txBody>
          <a:bodyPr wrap="square" lIns="0" tIns="0" rIns="0" bIns="0" rtlCol="0" anchor="ctr"/>
          <a:lstStyle/>
          <a:p>
            <a:pPr algn="ctr" indent="0" marL="0">
              <a:buNone/>
            </a:pPr>
            <a:r>
              <a:rPr lang="en-US" sz="1400" b="1" dirty="0">
                <a:solidFill>
                  <a:srgbClr val="4FD6F2"/>
                </a:solidFill>
                <a:latin typeface="Calibri" pitchFamily="34" charset="0"/>
                <a:ea typeface="Calibri" pitchFamily="34" charset="-122"/>
                <a:cs typeface="Calibri" pitchFamily="34" charset="-120"/>
              </a:rPr>
              <a:t>1</a:t>
            </a:r>
            <a:endParaRPr lang="en-US" sz="1400" dirty="0"/>
          </a:p>
        </p:txBody>
      </p:sp>
      <p:sp>
        <p:nvSpPr>
          <p:cNvPr id="8" name="p_c0#t"/>
          <p:cNvSpPr txBox="1"/>
          <p:nvPr/>
        </p:nvSpPr>
        <p:spPr>
          <a:xfrm>
            <a:off x="1143000" y="2633472"/>
            <a:ext cx="4572000" cy="384048"/>
          </a:xfrm>
          <a:prstGeom prst="rect">
            <a:avLst/>
          </a:prstGeom>
          <a:noFill/>
          <a:ln/>
        </p:spPr>
        <p:txBody>
          <a:bodyPr wrap="square" lIns="0" tIns="0" rIns="0" bIns="0" rtlCol="0" anchor="ctr"/>
          <a:lstStyle/>
          <a:p>
            <a:pPr indent="0" marL="0">
              <a:buNone/>
            </a:pPr>
            <a:r>
              <a:rPr lang="en-US" sz="1500" b="1" dirty="0">
                <a:solidFill>
                  <a:srgbClr val="EEF3FA"/>
                </a:solidFill>
                <a:latin typeface="Calibri" pitchFamily="34" charset="0"/>
                <a:ea typeface="Calibri" pitchFamily="34" charset="-122"/>
                <a:cs typeface="Calibri" pitchFamily="34" charset="-120"/>
              </a:rPr>
              <a:t>Precise  </a:t>
            </a:r>
            <a:pPr indent="0" marL="0">
              <a:buNone/>
            </a:pPr>
            <a:r>
              <a:rPr lang="en-US" sz="1500" dirty="0">
                <a:solidFill>
                  <a:srgbClr val="AEBBD0"/>
                </a:solidFill>
                <a:latin typeface="Calibri" pitchFamily="34" charset="0"/>
                <a:ea typeface="Calibri" pitchFamily="34" charset="-122"/>
                <a:cs typeface="Calibri" pitchFamily="34" charset="-120"/>
              </a:rPr>
              <a:t>within 1 mm and 1° of the target</a:t>
            </a:r>
            <a:endParaRPr lang="en-US" sz="1500" dirty="0"/>
          </a:p>
        </p:txBody>
      </p:sp>
      <p:sp>
        <p:nvSpPr>
          <p:cNvPr id="9" name="p_c1#o"/>
          <p:cNvSpPr/>
          <p:nvPr/>
        </p:nvSpPr>
        <p:spPr>
          <a:xfrm>
            <a:off x="548640" y="3401568"/>
            <a:ext cx="420624" cy="420624"/>
          </a:xfrm>
          <a:prstGeom prst="ellipse">
            <a:avLst/>
          </a:prstGeom>
          <a:solidFill>
            <a:srgbClr val="14233A"/>
          </a:solidFill>
          <a:ln w="15875">
            <a:solidFill>
              <a:srgbClr val="4FD6F2"/>
            </a:solidFill>
            <a:prstDash val="solid"/>
          </a:ln>
        </p:spPr>
      </p:sp>
      <p:sp>
        <p:nvSpPr>
          <p:cNvPr id="10" name="p_c1#n"/>
          <p:cNvSpPr txBox="1"/>
          <p:nvPr/>
        </p:nvSpPr>
        <p:spPr>
          <a:xfrm>
            <a:off x="548640" y="3401568"/>
            <a:ext cx="420624" cy="420624"/>
          </a:xfrm>
          <a:prstGeom prst="rect">
            <a:avLst/>
          </a:prstGeom>
          <a:noFill/>
          <a:ln/>
        </p:spPr>
        <p:txBody>
          <a:bodyPr wrap="square" lIns="0" tIns="0" rIns="0" bIns="0" rtlCol="0" anchor="ctr"/>
          <a:lstStyle/>
          <a:p>
            <a:pPr algn="ctr" indent="0" marL="0">
              <a:buNone/>
            </a:pPr>
            <a:r>
              <a:rPr lang="en-US" sz="1400" b="1" dirty="0">
                <a:solidFill>
                  <a:srgbClr val="4FD6F2"/>
                </a:solidFill>
                <a:latin typeface="Calibri" pitchFamily="34" charset="0"/>
                <a:ea typeface="Calibri" pitchFamily="34" charset="-122"/>
                <a:cs typeface="Calibri" pitchFamily="34" charset="-120"/>
              </a:rPr>
              <a:t>2</a:t>
            </a:r>
            <a:endParaRPr lang="en-US" sz="1400" dirty="0"/>
          </a:p>
        </p:txBody>
      </p:sp>
      <p:sp>
        <p:nvSpPr>
          <p:cNvPr id="11" name="p_c1#t"/>
          <p:cNvSpPr txBox="1"/>
          <p:nvPr/>
        </p:nvSpPr>
        <p:spPr>
          <a:xfrm>
            <a:off x="1143000" y="3419856"/>
            <a:ext cx="4572000" cy="384048"/>
          </a:xfrm>
          <a:prstGeom prst="rect">
            <a:avLst/>
          </a:prstGeom>
          <a:noFill/>
          <a:ln/>
        </p:spPr>
        <p:txBody>
          <a:bodyPr wrap="square" lIns="0" tIns="0" rIns="0" bIns="0" rtlCol="0" anchor="ctr"/>
          <a:lstStyle/>
          <a:p>
            <a:pPr indent="0" marL="0">
              <a:buNone/>
            </a:pPr>
            <a:r>
              <a:rPr lang="en-US" sz="1500" b="1" dirty="0">
                <a:solidFill>
                  <a:srgbClr val="EEF3FA"/>
                </a:solidFill>
                <a:latin typeface="Calibri" pitchFamily="34" charset="0"/>
                <a:ea typeface="Calibri" pitchFamily="34" charset="-122"/>
                <a:cs typeface="Calibri" pitchFamily="34" charset="-120"/>
              </a:rPr>
              <a:t>Legal  </a:t>
            </a:r>
            <a:pPr indent="0" marL="0">
              <a:buNone/>
            </a:pPr>
            <a:r>
              <a:rPr lang="en-US" sz="1500" dirty="0">
                <a:solidFill>
                  <a:srgbClr val="AEBBD0"/>
                </a:solidFill>
                <a:latin typeface="Calibri" pitchFamily="34" charset="0"/>
                <a:ea typeface="Calibri" pitchFamily="34" charset="-122"/>
                <a:cs typeface="Calibri" pitchFamily="34" charset="-120"/>
              </a:rPr>
              <a:t>inside every joint limit</a:t>
            </a:r>
            <a:endParaRPr lang="en-US" sz="1500" dirty="0"/>
          </a:p>
        </p:txBody>
      </p:sp>
      <p:sp>
        <p:nvSpPr>
          <p:cNvPr id="12" name="p_c2#o"/>
          <p:cNvSpPr/>
          <p:nvPr/>
        </p:nvSpPr>
        <p:spPr>
          <a:xfrm>
            <a:off x="548640" y="4187952"/>
            <a:ext cx="420624" cy="420624"/>
          </a:xfrm>
          <a:prstGeom prst="ellipse">
            <a:avLst/>
          </a:prstGeom>
          <a:solidFill>
            <a:srgbClr val="14233A"/>
          </a:solidFill>
          <a:ln w="15875">
            <a:solidFill>
              <a:srgbClr val="4FD6F2"/>
            </a:solidFill>
            <a:prstDash val="solid"/>
          </a:ln>
        </p:spPr>
      </p:sp>
      <p:sp>
        <p:nvSpPr>
          <p:cNvPr id="13" name="p_c2#n"/>
          <p:cNvSpPr txBox="1"/>
          <p:nvPr/>
        </p:nvSpPr>
        <p:spPr>
          <a:xfrm>
            <a:off x="548640" y="4187952"/>
            <a:ext cx="420624" cy="420624"/>
          </a:xfrm>
          <a:prstGeom prst="rect">
            <a:avLst/>
          </a:prstGeom>
          <a:noFill/>
          <a:ln/>
        </p:spPr>
        <p:txBody>
          <a:bodyPr wrap="square" lIns="0" tIns="0" rIns="0" bIns="0" rtlCol="0" anchor="ctr"/>
          <a:lstStyle/>
          <a:p>
            <a:pPr algn="ctr" indent="0" marL="0">
              <a:buNone/>
            </a:pPr>
            <a:r>
              <a:rPr lang="en-US" sz="1400" b="1" dirty="0">
                <a:solidFill>
                  <a:srgbClr val="4FD6F2"/>
                </a:solidFill>
                <a:latin typeface="Calibri" pitchFamily="34" charset="0"/>
                <a:ea typeface="Calibri" pitchFamily="34" charset="-122"/>
                <a:cs typeface="Calibri" pitchFamily="34" charset="-120"/>
              </a:rPr>
              <a:t>3</a:t>
            </a:r>
            <a:endParaRPr lang="en-US" sz="1400" dirty="0"/>
          </a:p>
        </p:txBody>
      </p:sp>
      <p:sp>
        <p:nvSpPr>
          <p:cNvPr id="14" name="p_c2#t"/>
          <p:cNvSpPr txBox="1"/>
          <p:nvPr/>
        </p:nvSpPr>
        <p:spPr>
          <a:xfrm>
            <a:off x="1143000" y="4206240"/>
            <a:ext cx="4572000" cy="384048"/>
          </a:xfrm>
          <a:prstGeom prst="rect">
            <a:avLst/>
          </a:prstGeom>
          <a:noFill/>
          <a:ln/>
        </p:spPr>
        <p:txBody>
          <a:bodyPr wrap="square" lIns="0" tIns="0" rIns="0" bIns="0" rtlCol="0" anchor="ctr"/>
          <a:lstStyle/>
          <a:p>
            <a:pPr indent="0" marL="0">
              <a:buNone/>
            </a:pPr>
            <a:r>
              <a:rPr lang="en-US" sz="1500" b="1" dirty="0">
                <a:solidFill>
                  <a:srgbClr val="EEF3FA"/>
                </a:solidFill>
                <a:latin typeface="Calibri" pitchFamily="34" charset="0"/>
                <a:ea typeface="Calibri" pitchFamily="34" charset="-122"/>
                <a:cs typeface="Calibri" pitchFamily="34" charset="-120"/>
              </a:rPr>
              <a:t>Safe  </a:t>
            </a:r>
            <a:pPr indent="0" marL="0">
              <a:buNone/>
            </a:pPr>
            <a:r>
              <a:rPr lang="en-US" sz="1500" dirty="0">
                <a:solidFill>
                  <a:srgbClr val="AEBBD0"/>
                </a:solidFill>
                <a:latin typeface="Calibri" pitchFamily="34" charset="0"/>
                <a:ea typeface="Calibri" pitchFamily="34" charset="-122"/>
                <a:cs typeface="Calibri" pitchFamily="34" charset="-120"/>
              </a:rPr>
              <a:t>no self-collision, ever</a:t>
            </a:r>
            <a:endParaRPr lang="en-US" sz="1500" dirty="0"/>
          </a:p>
        </p:txBody>
      </p:sp>
      <p:sp>
        <p:nvSpPr>
          <p:cNvPr id="15" name="p_c3#o"/>
          <p:cNvSpPr/>
          <p:nvPr/>
        </p:nvSpPr>
        <p:spPr>
          <a:xfrm>
            <a:off x="548640" y="4974336"/>
            <a:ext cx="420624" cy="420624"/>
          </a:xfrm>
          <a:prstGeom prst="ellipse">
            <a:avLst/>
          </a:prstGeom>
          <a:solidFill>
            <a:srgbClr val="14233A"/>
          </a:solidFill>
          <a:ln w="15875">
            <a:solidFill>
              <a:srgbClr val="4FD6F2"/>
            </a:solidFill>
            <a:prstDash val="solid"/>
          </a:ln>
        </p:spPr>
      </p:sp>
      <p:sp>
        <p:nvSpPr>
          <p:cNvPr id="16" name="p_c3#n"/>
          <p:cNvSpPr txBox="1"/>
          <p:nvPr/>
        </p:nvSpPr>
        <p:spPr>
          <a:xfrm>
            <a:off x="548640" y="4974336"/>
            <a:ext cx="420624" cy="420624"/>
          </a:xfrm>
          <a:prstGeom prst="rect">
            <a:avLst/>
          </a:prstGeom>
          <a:noFill/>
          <a:ln/>
        </p:spPr>
        <p:txBody>
          <a:bodyPr wrap="square" lIns="0" tIns="0" rIns="0" bIns="0" rtlCol="0" anchor="ctr"/>
          <a:lstStyle/>
          <a:p>
            <a:pPr algn="ctr" indent="0" marL="0">
              <a:buNone/>
            </a:pPr>
            <a:r>
              <a:rPr lang="en-US" sz="1400" b="1" dirty="0">
                <a:solidFill>
                  <a:srgbClr val="4FD6F2"/>
                </a:solidFill>
                <a:latin typeface="Calibri" pitchFamily="34" charset="0"/>
                <a:ea typeface="Calibri" pitchFamily="34" charset="-122"/>
                <a:cs typeface="Calibri" pitchFamily="34" charset="-120"/>
              </a:rPr>
              <a:t>4</a:t>
            </a:r>
            <a:endParaRPr lang="en-US" sz="1400" dirty="0"/>
          </a:p>
        </p:txBody>
      </p:sp>
      <p:sp>
        <p:nvSpPr>
          <p:cNvPr id="17" name="p_c3#t"/>
          <p:cNvSpPr txBox="1"/>
          <p:nvPr/>
        </p:nvSpPr>
        <p:spPr>
          <a:xfrm>
            <a:off x="1143000" y="4992624"/>
            <a:ext cx="4572000" cy="384048"/>
          </a:xfrm>
          <a:prstGeom prst="rect">
            <a:avLst/>
          </a:prstGeom>
          <a:noFill/>
          <a:ln/>
        </p:spPr>
        <p:txBody>
          <a:bodyPr wrap="square" lIns="0" tIns="0" rIns="0" bIns="0" rtlCol="0" anchor="ctr"/>
          <a:lstStyle/>
          <a:p>
            <a:pPr indent="0" marL="0">
              <a:buNone/>
            </a:pPr>
            <a:r>
              <a:rPr lang="en-US" sz="1500" b="1" dirty="0">
                <a:solidFill>
                  <a:srgbClr val="EEF3FA"/>
                </a:solidFill>
                <a:latin typeface="Calibri" pitchFamily="34" charset="0"/>
                <a:ea typeface="Calibri" pitchFamily="34" charset="-122"/>
                <a:cs typeface="Calibri" pitchFamily="34" charset="-120"/>
              </a:rPr>
              <a:t>Fast  </a:t>
            </a:r>
            <a:pPr indent="0" marL="0">
              <a:buNone/>
            </a:pPr>
            <a:r>
              <a:rPr lang="en-US" sz="1500" dirty="0">
                <a:solidFill>
                  <a:srgbClr val="AEBBD0"/>
                </a:solidFill>
                <a:latin typeface="Calibri" pitchFamily="34" charset="0"/>
                <a:ea typeface="Calibri" pitchFamily="34" charset="-122"/>
                <a:cs typeface="Calibri" pitchFamily="34" charset="-120"/>
              </a:rPr>
              <a:t>milliseconds, for real-time control</a:t>
            </a:r>
            <a:endParaRPr lang="en-US" sz="1500" dirty="0"/>
          </a:p>
        </p:txBody>
      </p:sp>
      <p:sp>
        <p:nvSpPr>
          <p:cNvPr id="18" name="p_l1#box"/>
          <p:cNvSpPr/>
          <p:nvPr/>
        </p:nvSpPr>
        <p:spPr>
          <a:xfrm>
            <a:off x="6172200" y="1645920"/>
            <a:ext cx="5470855" cy="2103120"/>
          </a:xfrm>
          <a:prstGeom prst="roundRect">
            <a:avLst>
              <a:gd name="adj" fmla="val 4348"/>
            </a:avLst>
          </a:prstGeom>
          <a:solidFill>
            <a:srgbClr val="0F1B2D"/>
          </a:solidFill>
          <a:ln w="12700">
            <a:solidFill>
              <a:srgbClr val="23344F"/>
            </a:solidFill>
            <a:prstDash val="solid"/>
          </a:ln>
        </p:spPr>
      </p:sp>
      <p:sp>
        <p:nvSpPr>
          <p:cNvPr id="19" name="p_l1#k"/>
          <p:cNvSpPr txBox="1"/>
          <p:nvPr/>
        </p:nvSpPr>
        <p:spPr>
          <a:xfrm>
            <a:off x="6373368" y="1828800"/>
            <a:ext cx="5068519" cy="228600"/>
          </a:xfrm>
          <a:prstGeom prst="rect">
            <a:avLst/>
          </a:prstGeom>
          <a:noFill/>
          <a:ln/>
        </p:spPr>
        <p:txBody>
          <a:bodyPr wrap="square" lIns="0" tIns="0" rIns="0" bIns="0" rtlCol="0" anchor="t"/>
          <a:lstStyle/>
          <a:p>
            <a:pPr indent="0" marL="0">
              <a:buNone/>
            </a:pPr>
            <a:r>
              <a:rPr lang="en-US" sz="1050" b="1" spc="200" kern="0" dirty="0">
                <a:solidFill>
                  <a:srgbClr val="4FD6F2"/>
                </a:solidFill>
                <a:latin typeface="Calibri" pitchFamily="34" charset="0"/>
                <a:ea typeface="Calibri" pitchFamily="34" charset="-122"/>
                <a:cs typeface="Calibri" pitchFamily="34" charset="-120"/>
              </a:rPr>
              <a:t>LEVEL 1</a:t>
            </a:r>
            <a:endParaRPr lang="en-US" sz="1050" dirty="0"/>
          </a:p>
        </p:txBody>
      </p:sp>
      <p:sp>
        <p:nvSpPr>
          <p:cNvPr id="20" name="p_l1#h"/>
          <p:cNvSpPr txBox="1"/>
          <p:nvPr/>
        </p:nvSpPr>
        <p:spPr>
          <a:xfrm>
            <a:off x="6373368" y="2121408"/>
            <a:ext cx="5068519" cy="384048"/>
          </a:xfrm>
          <a:prstGeom prst="rect">
            <a:avLst/>
          </a:prstGeom>
          <a:noFill/>
          <a:ln/>
        </p:spPr>
        <p:txBody>
          <a:bodyPr wrap="square" lIns="0" tIns="0" rIns="0" bIns="0" rtlCol="0" anchor="t"/>
          <a:lstStyle/>
          <a:p>
            <a:pPr indent="0" marL="0">
              <a:buNone/>
            </a:pPr>
            <a:r>
              <a:rPr lang="en-US" sz="1700" b="1" dirty="0">
                <a:solidFill>
                  <a:srgbClr val="EEF3FA"/>
                </a:solidFill>
                <a:latin typeface="Calibri" pitchFamily="34" charset="0"/>
                <a:ea typeface="Calibri" pitchFamily="34" charset="-122"/>
                <a:cs typeface="Calibri" pitchFamily="34" charset="-120"/>
              </a:rPr>
              <a:t>Kinematics-aware AI model</a:t>
            </a:r>
            <a:endParaRPr lang="en-US" sz="1700" dirty="0"/>
          </a:p>
        </p:txBody>
      </p:sp>
      <p:sp>
        <p:nvSpPr>
          <p:cNvPr id="21" name="p_l1#b"/>
          <p:cNvSpPr txBox="1"/>
          <p:nvPr/>
        </p:nvSpPr>
        <p:spPr>
          <a:xfrm>
            <a:off x="6373368" y="2542032"/>
            <a:ext cx="5068519" cy="1097280"/>
          </a:xfrm>
          <a:prstGeom prst="rect">
            <a:avLst/>
          </a:prstGeom>
          <a:noFill/>
          <a:ln/>
        </p:spPr>
        <p:txBody>
          <a:bodyPr wrap="square" lIns="0" tIns="0" rIns="0" bIns="0" rtlCol="0" anchor="t"/>
          <a:lstStyle/>
          <a:p>
            <a:pPr indent="0" marL="0">
              <a:spcAft>
                <a:spcPts val="400"/>
              </a:spcAft>
              <a:buNone/>
            </a:pPr>
            <a:r>
              <a:rPr lang="en-US" sz="1350" dirty="0">
                <a:solidFill>
                  <a:srgbClr val="AEBBD0"/>
                </a:solidFill>
                <a:latin typeface="Calibri" pitchFamily="34" charset="0"/>
                <a:ea typeface="Calibri" pitchFamily="34" charset="-122"/>
                <a:cs typeface="Calibri" pitchFamily="34" charset="-120"/>
              </a:rPr>
              <a:t>Use simulated manipulator joint data to compute joint angles for a target pose while preventing self-collision.</a:t>
            </a:r>
            <a:endParaRPr lang="en-US" sz="1350" dirty="0"/>
          </a:p>
        </p:txBody>
      </p:sp>
      <p:sp>
        <p:nvSpPr>
          <p:cNvPr id="22" name="p_l1b#bb"/>
          <p:cNvSpPr/>
          <p:nvPr/>
        </p:nvSpPr>
        <p:spPr>
          <a:xfrm>
            <a:off x="6373368" y="3310128"/>
            <a:ext cx="1417320" cy="292608"/>
          </a:xfrm>
          <a:prstGeom prst="roundRect">
            <a:avLst>
              <a:gd name="adj" fmla="val 50000"/>
            </a:avLst>
          </a:prstGeom>
          <a:solidFill>
            <a:srgbClr val="14233A"/>
          </a:solidFill>
          <a:ln w="12700">
            <a:solidFill>
              <a:srgbClr val="0CA30C"/>
            </a:solidFill>
            <a:prstDash val="solid"/>
          </a:ln>
        </p:spPr>
      </p:sp>
      <p:sp>
        <p:nvSpPr>
          <p:cNvPr id="23" name="p_l1b#bt"/>
          <p:cNvSpPr txBox="1"/>
          <p:nvPr/>
        </p:nvSpPr>
        <p:spPr>
          <a:xfrm>
            <a:off x="6373368" y="3310128"/>
            <a:ext cx="1417320" cy="292608"/>
          </a:xfrm>
          <a:prstGeom prst="rect">
            <a:avLst/>
          </a:prstGeom>
          <a:noFill/>
          <a:ln/>
        </p:spPr>
        <p:txBody>
          <a:bodyPr wrap="square" lIns="0" tIns="0" rIns="0" bIns="0" rtlCol="0" anchor="ctr"/>
          <a:lstStyle/>
          <a:p>
            <a:pPr algn="ctr" indent="0" marL="0">
              <a:buNone/>
            </a:pPr>
            <a:r>
              <a:rPr lang="en-US" sz="1100" b="1" dirty="0">
                <a:solidFill>
                  <a:srgbClr val="8FF08F"/>
                </a:solidFill>
                <a:latin typeface="Calibri" pitchFamily="34" charset="0"/>
                <a:ea typeface="Calibri" pitchFamily="34" charset="-122"/>
                <a:cs typeface="Calibri" pitchFamily="34" charset="-120"/>
              </a:rPr>
              <a:t>✓ Implemented</a:t>
            </a:r>
            <a:endParaRPr lang="en-US" sz="1100" dirty="0"/>
          </a:p>
        </p:txBody>
      </p:sp>
      <p:sp>
        <p:nvSpPr>
          <p:cNvPr id="24" name="p_l2#box"/>
          <p:cNvSpPr/>
          <p:nvPr/>
        </p:nvSpPr>
        <p:spPr>
          <a:xfrm>
            <a:off x="6172200" y="3931920"/>
            <a:ext cx="5470855" cy="2103120"/>
          </a:xfrm>
          <a:prstGeom prst="roundRect">
            <a:avLst>
              <a:gd name="adj" fmla="val 4348"/>
            </a:avLst>
          </a:prstGeom>
          <a:solidFill>
            <a:srgbClr val="0F1B2D"/>
          </a:solidFill>
          <a:ln w="12700">
            <a:solidFill>
              <a:srgbClr val="23344F"/>
            </a:solidFill>
            <a:prstDash val="solid"/>
          </a:ln>
        </p:spPr>
      </p:sp>
      <p:sp>
        <p:nvSpPr>
          <p:cNvPr id="25" name="p_l2#k"/>
          <p:cNvSpPr txBox="1"/>
          <p:nvPr/>
        </p:nvSpPr>
        <p:spPr>
          <a:xfrm>
            <a:off x="6373368" y="4114800"/>
            <a:ext cx="5068519" cy="228600"/>
          </a:xfrm>
          <a:prstGeom prst="rect">
            <a:avLst/>
          </a:prstGeom>
          <a:noFill/>
          <a:ln/>
        </p:spPr>
        <p:txBody>
          <a:bodyPr wrap="square" lIns="0" tIns="0" rIns="0" bIns="0" rtlCol="0" anchor="t"/>
          <a:lstStyle/>
          <a:p>
            <a:pPr indent="0" marL="0">
              <a:buNone/>
            </a:pPr>
            <a:r>
              <a:rPr lang="en-US" sz="1050" b="1" spc="200" kern="0" dirty="0">
                <a:solidFill>
                  <a:srgbClr val="4FD6F2"/>
                </a:solidFill>
                <a:latin typeface="Calibri" pitchFamily="34" charset="0"/>
                <a:ea typeface="Calibri" pitchFamily="34" charset="-122"/>
                <a:cs typeface="Calibri" pitchFamily="34" charset="-120"/>
              </a:rPr>
              <a:t>LEVEL 2</a:t>
            </a:r>
            <a:endParaRPr lang="en-US" sz="1050" dirty="0"/>
          </a:p>
        </p:txBody>
      </p:sp>
      <p:sp>
        <p:nvSpPr>
          <p:cNvPr id="26" name="p_l2#h"/>
          <p:cNvSpPr txBox="1"/>
          <p:nvPr/>
        </p:nvSpPr>
        <p:spPr>
          <a:xfrm>
            <a:off x="6373368" y="4407408"/>
            <a:ext cx="5068519" cy="384048"/>
          </a:xfrm>
          <a:prstGeom prst="rect">
            <a:avLst/>
          </a:prstGeom>
          <a:noFill/>
          <a:ln/>
        </p:spPr>
        <p:txBody>
          <a:bodyPr wrap="square" lIns="0" tIns="0" rIns="0" bIns="0" rtlCol="0" anchor="t"/>
          <a:lstStyle/>
          <a:p>
            <a:pPr indent="0" marL="0">
              <a:buNone/>
            </a:pPr>
            <a:r>
              <a:rPr lang="en-US" sz="1700" b="1" dirty="0">
                <a:solidFill>
                  <a:srgbClr val="EEF3FA"/>
                </a:solidFill>
                <a:latin typeface="Calibri" pitchFamily="34" charset="0"/>
                <a:ea typeface="Calibri" pitchFamily="34" charset="-122"/>
                <a:cs typeface="Calibri" pitchFamily="34" charset="-120"/>
              </a:rPr>
              <a:t>Lightweight DRL policy agent</a:t>
            </a:r>
            <a:endParaRPr lang="en-US" sz="1700" dirty="0"/>
          </a:p>
        </p:txBody>
      </p:sp>
      <p:sp>
        <p:nvSpPr>
          <p:cNvPr id="27" name="p_l2#b"/>
          <p:cNvSpPr txBox="1"/>
          <p:nvPr/>
        </p:nvSpPr>
        <p:spPr>
          <a:xfrm>
            <a:off x="6373368" y="4828032"/>
            <a:ext cx="5068519" cy="1097280"/>
          </a:xfrm>
          <a:prstGeom prst="rect">
            <a:avLst/>
          </a:prstGeom>
          <a:noFill/>
          <a:ln/>
        </p:spPr>
        <p:txBody>
          <a:bodyPr wrap="square" lIns="0" tIns="0" rIns="0" bIns="0" rtlCol="0" anchor="t"/>
          <a:lstStyle/>
          <a:p>
            <a:pPr indent="0" marL="0">
              <a:spcAft>
                <a:spcPts val="400"/>
              </a:spcAft>
              <a:buNone/>
            </a:pPr>
            <a:r>
              <a:rPr lang="en-US" sz="1350" dirty="0">
                <a:solidFill>
                  <a:srgbClr val="AEBBD0"/>
                </a:solidFill>
                <a:latin typeface="Calibri" pitchFamily="34" charset="0"/>
                <a:ea typeface="Calibri" pitchFamily="34" charset="-122"/>
                <a:cs typeface="Calibri" pitchFamily="34" charset="-120"/>
              </a:rPr>
              <a:t>Re-route the manipulator in real time when unexpected obstacles or hardware position errors occur.</a:t>
            </a:r>
            <a:endParaRPr lang="en-US" sz="1350" dirty="0"/>
          </a:p>
        </p:txBody>
      </p:sp>
      <p:sp>
        <p:nvSpPr>
          <p:cNvPr id="28" name="p_l2b#bb"/>
          <p:cNvSpPr/>
          <p:nvPr/>
        </p:nvSpPr>
        <p:spPr>
          <a:xfrm>
            <a:off x="6373368" y="5596128"/>
            <a:ext cx="2377440" cy="292608"/>
          </a:xfrm>
          <a:prstGeom prst="roundRect">
            <a:avLst>
              <a:gd name="adj" fmla="val 50000"/>
            </a:avLst>
          </a:prstGeom>
          <a:solidFill>
            <a:srgbClr val="14233A"/>
          </a:solidFill>
          <a:ln w="12700">
            <a:solidFill>
              <a:srgbClr val="0CA30C"/>
            </a:solidFill>
            <a:prstDash val="solid"/>
          </a:ln>
        </p:spPr>
      </p:sp>
      <p:sp>
        <p:nvSpPr>
          <p:cNvPr id="29" name="p_l2b#bt"/>
          <p:cNvSpPr txBox="1"/>
          <p:nvPr/>
        </p:nvSpPr>
        <p:spPr>
          <a:xfrm>
            <a:off x="6373368" y="5596128"/>
            <a:ext cx="2377440" cy="292608"/>
          </a:xfrm>
          <a:prstGeom prst="rect">
            <a:avLst/>
          </a:prstGeom>
          <a:noFill/>
          <a:ln/>
        </p:spPr>
        <p:txBody>
          <a:bodyPr wrap="square" lIns="0" tIns="0" rIns="0" bIns="0" rtlCol="0" anchor="ctr"/>
          <a:lstStyle/>
          <a:p>
            <a:pPr algn="ctr" indent="0" marL="0">
              <a:buNone/>
            </a:pPr>
            <a:r>
              <a:rPr lang="en-US" sz="1100" b="1" dirty="0">
                <a:solidFill>
                  <a:srgbClr val="8FF08F"/>
                </a:solidFill>
                <a:latin typeface="Calibri" pitchFamily="34" charset="0"/>
                <a:ea typeface="Calibri" pitchFamily="34" charset="-122"/>
                <a:cs typeface="Calibri" pitchFamily="34" charset="-120"/>
              </a:rPr>
              <a:t>✓ Implemented in simulation</a:t>
            </a:r>
            <a:endParaRPr lang="en-US" sz="1100" dirty="0"/>
          </a:p>
        </p:txBody>
      </p:sp>
      <p:sp>
        <p:nvSpPr>
          <p:cNvPr id="30" name="Text 27"/>
          <p:cNvSpPr txBox="1"/>
          <p:nvPr/>
        </p:nvSpPr>
        <p:spPr>
          <a:xfrm>
            <a:off x="548640" y="5897880"/>
            <a:ext cx="5303520" cy="457200"/>
          </a:xfrm>
          <a:prstGeom prst="rect">
            <a:avLst/>
          </a:prstGeom>
          <a:noFill/>
          <a:ln/>
        </p:spPr>
        <p:txBody>
          <a:bodyPr wrap="square" lIns="0" tIns="0" rIns="0" bIns="0" rtlCol="0" anchor="t"/>
          <a:lstStyle/>
          <a:p>
            <a:pPr indent="0" marL="0">
              <a:buNone/>
            </a:pPr>
            <a:r>
              <a:rPr lang="en-US" sz="1150" dirty="0">
                <a:solidFill>
                  <a:srgbClr val="7F8FA8"/>
                </a:solidFill>
                <a:latin typeface="Calibri" pitchFamily="34" charset="0"/>
                <a:ea typeface="Calibri" pitchFamily="34" charset="-122"/>
                <a:cs typeface="Calibri" pitchFamily="34" charset="-120"/>
              </a:rPr>
              <a:t>Robot used: UFactory xArm6 (6 revolute joints). The space manipulator drops in as one new entry in the robot registry.</a:t>
            </a:r>
            <a:endParaRPr lang="en-US" sz="1150" dirty="0"/>
          </a:p>
        </p:txBody>
      </p:sp>
      <p:sp>
        <p:nvSpPr>
          <p:cNvPr id="25" name="Slide Number Placeholder 0"/>
          <p:cNvSpPr>
            <a:spLocks noGrp="1"/>
          </p:cNvSpPr>
          <p:nvPr>
            <p:ph type="sldNum" sz="quarter" idx="4294967295"/>
          </p:nvPr>
        </p:nvSpPr>
        <p:spPr>
          <a:xfrm>
            <a:off x="11094415" y="6446520"/>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7F8FA8"/>
                </a:solidFill>
              </a:defRPr>
            </a:lvl1pPr>
          </a:lstStyle>
          <a:p>
            <a:pPr algn="r"/>
            <a:fld id="{F7021451-1387-4CA6-816F-3879F97B5CBC}" type="slidenum">
              <a:rPr b="0" lang="en-US"/>
              <a:t>2</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7" fill="hold">
                            <p:stCondLst>
                              <p:cond delay="0"/>
                            </p:stCondLst>
                            <p:childTnLst>
                              <p:par>
                                <p:cTn id="4" presetID="10" presetClass="entr" presetSubtype="0" fill="hold" grpId="0" nodeType="afterEffect">
                                  <p:stCondLst>
                                    <p:cond delay="0"/>
                                  </p:stCondLst>
                                  <p:childTnLst>
                                    <p:set>
                                      <p:cBhvr>
                                        <p:cTn id="5" dur="1" fill="hold">
                                          <p:stCondLst>
                                            <p:cond delay="0"/>
                                          </p:stCondLst>
                                        </p:cTn>
                                        <p:tgtEl>
                                          <p:spTgt spid="5"/>
                                        </p:tgtEl>
                                        <p:attrNameLst>
                                          <p:attrName>style.visibility</p:attrName>
                                        </p:attrNameLst>
                                      </p:cBhvr>
                                      <p:to>
                                        <p:strVal val="visible"/>
                                      </p:to>
                                    </p:set>
                                    <p:animEffect transition="in" filter="fade">
                                      <p:cBhvr>
                                        <p:cTn id="6" dur="420"/>
                                        <p:tgtEl>
                                          <p:spTgt spid="5"/>
                                        </p:tgtEl>
                                      </p:cBhvr>
                                    </p:animEffect>
                                  </p:childTnLst>
                                </p:cTn>
                              </p:par>
                            </p:childTnLst>
                          </p:cTn>
                        </p:par>
                        <p:par>
                          <p:cTn id="17" fill="hold">
                            <p:stCondLst>
                              <p:cond delay="0"/>
                            </p:stCondLst>
                            <p:childTnLst>
                              <p:par>
                                <p:cTn id="8" presetID="10" presetClass="entr" presetSubtype="0" fill="hold" grpId="0" nodeType="after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2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2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20"/>
                                        <p:tgtEl>
                                          <p:spTgt spid="8"/>
                                        </p:tgtEl>
                                      </p:cBhvr>
                                    </p:animEffect>
                                  </p:childTnLst>
                                </p:cTn>
                              </p:par>
                            </p:childTnLst>
                          </p:cTn>
                        </p:par>
                        <p:par>
                          <p:cTn id="27" fill="hold">
                            <p:stCondLst>
                              <p:cond delay="260"/>
                            </p:stCondLst>
                            <p:childTnLst>
                              <p:par>
                                <p:cTn id="18" presetID="10" presetClass="entr" presetSubtype="0" fill="hold" grpId="0" nodeType="after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420"/>
                                        <p:tgtEl>
                                          <p:spTgt spid="9"/>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420"/>
                                        <p:tgtEl>
                                          <p:spTgt spid="10"/>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420"/>
                                        <p:tgtEl>
                                          <p:spTgt spid="11"/>
                                        </p:tgtEl>
                                      </p:cBhvr>
                                    </p:animEffect>
                                  </p:childTnLst>
                                </p:cTn>
                              </p:par>
                            </p:childTnLst>
                          </p:cTn>
                        </p:par>
                        <p:par>
                          <p:cTn id="37" fill="hold">
                            <p:stCondLst>
                              <p:cond delay="520"/>
                            </p:stCondLst>
                            <p:childTnLst>
                              <p:par>
                                <p:cTn id="28" presetID="10" presetClass="entr" presetSubtype="0" fill="hold" grpId="0" nodeType="after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2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2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20"/>
                                        <p:tgtEl>
                                          <p:spTgt spid="14"/>
                                        </p:tgtEl>
                                      </p:cBhvr>
                                    </p:animEffect>
                                  </p:childTnLst>
                                </p:cTn>
                              </p:par>
                            </p:childTnLst>
                          </p:cTn>
                        </p:par>
                        <p:par>
                          <p:cTn id="47" fill="hold">
                            <p:stCondLst>
                              <p:cond delay="780"/>
                            </p:stCondLst>
                            <p:childTnLst>
                              <p:par>
                                <p:cTn id="38" presetID="10" presetClass="entr" presetSubtype="0" fill="hold" grpId="0" nodeType="after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420"/>
                                        <p:tgtEl>
                                          <p:spTgt spid="15"/>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6"/>
                                        </p:tgtEl>
                                        <p:attrNameLst>
                                          <p:attrName>style.visibility</p:attrName>
                                        </p:attrNameLst>
                                      </p:cBhvr>
                                      <p:to>
                                        <p:strVal val="visible"/>
                                      </p:to>
                                    </p:set>
                                    <p:animEffect transition="in" filter="fade">
                                      <p:cBhvr>
                                        <p:cTn id="43" dur="420"/>
                                        <p:tgtEl>
                                          <p:spTgt spid="16"/>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7"/>
                                        </p:tgtEl>
                                        <p:attrNameLst>
                                          <p:attrName>style.visibility</p:attrName>
                                        </p:attrNameLst>
                                      </p:cBhvr>
                                      <p:to>
                                        <p:strVal val="visible"/>
                                      </p:to>
                                    </p:set>
                                    <p:animEffect transition="in" filter="fade">
                                      <p:cBhvr>
                                        <p:cTn id="46" dur="420"/>
                                        <p:tgtEl>
                                          <p:spTgt spid="17"/>
                                        </p:tgtEl>
                                      </p:cBhvr>
                                    </p:animEffect>
                                  </p:childTnLst>
                                </p:cTn>
                              </p:par>
                            </p:childTnLst>
                          </p:cTn>
                        </p:par>
                        <p:par>
                          <p:cTn id="60" fill="hold">
                            <p:stCondLst>
                              <p:cond delay="1040"/>
                            </p:stCondLst>
                            <p:childTnLst>
                              <p:par>
                                <p:cTn id="48" presetID="10" presetClass="entr" presetSubtype="0" fill="hold" grpId="0" nodeType="after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2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20"/>
                                        <p:tgtEl>
                                          <p:spTgt spid="19"/>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20"/>
                                        </p:tgtEl>
                                        <p:attrNameLst>
                                          <p:attrName>style.visibility</p:attrName>
                                        </p:attrNameLst>
                                      </p:cBhvr>
                                      <p:to>
                                        <p:strVal val="visible"/>
                                      </p:to>
                                    </p:set>
                                    <p:animEffect transition="in" filter="fade">
                                      <p:cBhvr>
                                        <p:cTn id="56" dur="420"/>
                                        <p:tgtEl>
                                          <p:spTgt spid="20"/>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1"/>
                                        </p:tgtEl>
                                        <p:attrNameLst>
                                          <p:attrName>style.visibility</p:attrName>
                                        </p:attrNameLst>
                                      </p:cBhvr>
                                      <p:to>
                                        <p:strVal val="visible"/>
                                      </p:to>
                                    </p:set>
                                    <p:animEffect transition="in" filter="fade">
                                      <p:cBhvr>
                                        <p:cTn id="59" dur="420"/>
                                        <p:tgtEl>
                                          <p:spTgt spid="21"/>
                                        </p:tgtEl>
                                      </p:cBhvr>
                                    </p:animEffect>
                                  </p:childTnLst>
                                </p:cTn>
                              </p:par>
                            </p:childTnLst>
                          </p:cTn>
                        </p:par>
                        <p:par>
                          <p:cTn id="73" fill="hold">
                            <p:stCondLst>
                              <p:cond delay="1300"/>
                            </p:stCondLst>
                            <p:childTnLst>
                              <p:par>
                                <p:cTn id="61" presetID="10" presetClass="entr" presetSubtype="0" fill="hold" grpId="0" nodeType="afterEffect">
                                  <p:stCondLst>
                                    <p:cond delay="0"/>
                                  </p:stCondLst>
                                  <p:childTnLst>
                                    <p:set>
                                      <p:cBhvr>
                                        <p:cTn id="62" dur="1" fill="hold">
                                          <p:stCondLst>
                                            <p:cond delay="0"/>
                                          </p:stCondLst>
                                        </p:cTn>
                                        <p:tgtEl>
                                          <p:spTgt spid="24"/>
                                        </p:tgtEl>
                                        <p:attrNameLst>
                                          <p:attrName>style.visibility</p:attrName>
                                        </p:attrNameLst>
                                      </p:cBhvr>
                                      <p:to>
                                        <p:strVal val="visible"/>
                                      </p:to>
                                    </p:set>
                                    <p:animEffect transition="in" filter="fade">
                                      <p:cBhvr>
                                        <p:cTn id="63" dur="420"/>
                                        <p:tgtEl>
                                          <p:spTgt spid="24"/>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5"/>
                                        </p:tgtEl>
                                        <p:attrNameLst>
                                          <p:attrName>style.visibility</p:attrName>
                                        </p:attrNameLst>
                                      </p:cBhvr>
                                      <p:to>
                                        <p:strVal val="visible"/>
                                      </p:to>
                                    </p:set>
                                    <p:animEffect transition="in" filter="fade">
                                      <p:cBhvr>
                                        <p:cTn id="66" dur="420"/>
                                        <p:tgtEl>
                                          <p:spTgt spid="25"/>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26"/>
                                        </p:tgtEl>
                                        <p:attrNameLst>
                                          <p:attrName>style.visibility</p:attrName>
                                        </p:attrNameLst>
                                      </p:cBhvr>
                                      <p:to>
                                        <p:strVal val="visible"/>
                                      </p:to>
                                    </p:set>
                                    <p:animEffect transition="in" filter="fade">
                                      <p:cBhvr>
                                        <p:cTn id="69" dur="420"/>
                                        <p:tgtEl>
                                          <p:spTgt spid="26"/>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27"/>
                                        </p:tgtEl>
                                        <p:attrNameLst>
                                          <p:attrName>style.visibility</p:attrName>
                                        </p:attrNameLst>
                                      </p:cBhvr>
                                      <p:to>
                                        <p:strVal val="visible"/>
                                      </p:to>
                                    </p:set>
                                    <p:animEffect transition="in" filter="fade">
                                      <p:cBhvr>
                                        <p:cTn id="72" dur="42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p:bldP spid="7" grpId="0" animBg="1"/>
      <p:bldP spid="8" grpId="0" animBg="1"/>
      <p:bldP spid="9" grpId="0"/>
      <p:bldP spid="10" grpId="0" animBg="1"/>
      <p:bldP spid="11" grpId="0" animBg="1"/>
      <p:bldP spid="12" grpId="0"/>
      <p:bldP spid="13" grpId="0" animBg="1"/>
      <p:bldP spid="14" grpId="0" animBg="1"/>
      <p:bldP spid="15" grpId="0"/>
      <p:bldP spid="16" grpId="0" animBg="1"/>
      <p:bldP spid="17" grpId="0" animBg="1"/>
      <p:bldP spid="18" grpId="0"/>
      <p:bldP spid="19" grpId="0" animBg="1"/>
      <p:bldP spid="20" grpId="0" animBg="1"/>
      <p:bldP spid="21" grpId="0" animBg="1"/>
      <p:bldP spid="24" grpId="0"/>
      <p:bldP spid="25" grpId="0" animBg="1"/>
      <p:bldP spid="26" grpId="0" animBg="1"/>
      <p:bldP spid="27"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1" type="body" hasCustomPrompt="1"/>
          </p:nvPr>
        </p:nvSpPr>
        <p:spPr>
          <a:xfrm>
            <a:off x="731520" y="310896"/>
            <a:ext cx="8686800" cy="329184"/>
          </a:xfrm>
          <a:prstGeom prst="rect">
            <a:avLst/>
          </a:prstGeom>
          <a:noFill/>
          <a:ln/>
        </p:spPr>
        <p:txBody>
          <a:bodyPr wrap="square" lIns="0" tIns="0" rIns="0" bIns="0" rtlCol="0" anchor="ctr"/>
          <a:lstStyle/>
          <a:p>
            <a:pPr algn="l" indent="0" marL="0">
              <a:buNone/>
            </a:pPr>
            <a:r>
              <a:rPr lang="en-US" sz="1200" b="1" spc="300" kern="0" dirty="0">
                <a:solidFill>
                  <a:srgbClr val="AEBBD0"/>
                </a:solidFill>
              </a:rPr>
              <a:t>FUNDAMENTALS</a:t>
            </a:r>
            <a:endParaRPr lang="en-US" sz="1200" dirty="0"/>
          </a:p>
        </p:txBody>
      </p:sp>
      <p:sp>
        <p:nvSpPr>
          <p:cNvPr id="3" name="Text 0"/>
          <p:cNvSpPr/>
          <p:nvPr>
            <p:ph idx="102" type="title" hasCustomPrompt="1"/>
          </p:nvPr>
        </p:nvSpPr>
        <p:spPr>
          <a:xfrm>
            <a:off x="548640" y="658368"/>
            <a:ext cx="11094415" cy="731520"/>
          </a:xfrm>
          <a:prstGeom prst="rect">
            <a:avLst/>
          </a:prstGeom>
          <a:noFill/>
          <a:ln/>
        </p:spPr>
        <p:txBody>
          <a:bodyPr wrap="square" lIns="0" tIns="0" rIns="0" bIns="0" rtlCol="0" anchor="ctr"/>
          <a:lstStyle/>
          <a:p>
            <a:pPr algn="l" indent="0" marL="0">
              <a:buNone/>
            </a:pPr>
            <a:r>
              <a:rPr lang="en-US" sz="3200" b="1" dirty="0">
                <a:solidFill>
                  <a:srgbClr val="EEF3FA"/>
                </a:solidFill>
              </a:rPr>
              <a:t>Forward is easy; inverse is the challenge</a:t>
            </a:r>
            <a:endParaRPr lang="en-US" sz="3200" dirty="0"/>
          </a:p>
        </p:txBody>
      </p:sp>
      <p:sp>
        <p:nvSpPr>
          <p:cNvPr id="5" name="f_fk#box"/>
          <p:cNvSpPr/>
          <p:nvPr/>
        </p:nvSpPr>
        <p:spPr>
          <a:xfrm>
            <a:off x="548640" y="1645920"/>
            <a:ext cx="5029200" cy="1783080"/>
          </a:xfrm>
          <a:prstGeom prst="roundRect">
            <a:avLst>
              <a:gd name="adj" fmla="val 5128"/>
            </a:avLst>
          </a:prstGeom>
          <a:solidFill>
            <a:srgbClr val="0F1B2D"/>
          </a:solidFill>
          <a:ln w="12700">
            <a:solidFill>
              <a:srgbClr val="23344F"/>
            </a:solidFill>
            <a:prstDash val="solid"/>
          </a:ln>
        </p:spPr>
      </p:sp>
      <p:sp>
        <p:nvSpPr>
          <p:cNvPr id="6" name="f_fk#k"/>
          <p:cNvSpPr txBox="1"/>
          <p:nvPr/>
        </p:nvSpPr>
        <p:spPr>
          <a:xfrm>
            <a:off x="749808" y="1828800"/>
            <a:ext cx="4626864" cy="228600"/>
          </a:xfrm>
          <a:prstGeom prst="rect">
            <a:avLst/>
          </a:prstGeom>
          <a:noFill/>
          <a:ln/>
        </p:spPr>
        <p:txBody>
          <a:bodyPr wrap="square" lIns="0" tIns="0" rIns="0" bIns="0" rtlCol="0" anchor="t"/>
          <a:lstStyle/>
          <a:p>
            <a:pPr indent="0" marL="0">
              <a:buNone/>
            </a:pPr>
            <a:r>
              <a:rPr lang="en-US" sz="1050" b="1" spc="200" kern="0" dirty="0">
                <a:solidFill>
                  <a:srgbClr val="4FD6F2"/>
                </a:solidFill>
                <a:latin typeface="Calibri" pitchFamily="34" charset="0"/>
                <a:ea typeface="Calibri" pitchFamily="34" charset="-122"/>
                <a:cs typeface="Calibri" pitchFamily="34" charset="-120"/>
              </a:rPr>
              <a:t>FORWARD KINEMATICS · q → (p, R)</a:t>
            </a:r>
            <a:endParaRPr lang="en-US" sz="1050" dirty="0"/>
          </a:p>
        </p:txBody>
      </p:sp>
      <p:sp>
        <p:nvSpPr>
          <p:cNvPr id="7" name="f_fk#h"/>
          <p:cNvSpPr txBox="1"/>
          <p:nvPr/>
        </p:nvSpPr>
        <p:spPr>
          <a:xfrm>
            <a:off x="749808" y="2121408"/>
            <a:ext cx="4626864" cy="384048"/>
          </a:xfrm>
          <a:prstGeom prst="rect">
            <a:avLst/>
          </a:prstGeom>
          <a:noFill/>
          <a:ln/>
        </p:spPr>
        <p:txBody>
          <a:bodyPr wrap="square" lIns="0" tIns="0" rIns="0" bIns="0" rtlCol="0" anchor="t"/>
          <a:lstStyle/>
          <a:p>
            <a:pPr indent="0" marL="0">
              <a:buNone/>
            </a:pPr>
            <a:r>
              <a:rPr lang="en-US" sz="1700" b="1" dirty="0">
                <a:solidFill>
                  <a:srgbClr val="EEF3FA"/>
                </a:solidFill>
                <a:latin typeface="Calibri" pitchFamily="34" charset="0"/>
                <a:ea typeface="Calibri" pitchFamily="34" charset="-122"/>
                <a:cs typeface="Calibri" pitchFamily="34" charset="-120"/>
              </a:rPr>
              <a:t>One exact answer</a:t>
            </a:r>
            <a:endParaRPr lang="en-US" sz="1700" dirty="0"/>
          </a:p>
        </p:txBody>
      </p:sp>
      <p:sp>
        <p:nvSpPr>
          <p:cNvPr id="8" name="f_fk#b"/>
          <p:cNvSpPr txBox="1"/>
          <p:nvPr/>
        </p:nvSpPr>
        <p:spPr>
          <a:xfrm>
            <a:off x="749808" y="2542032"/>
            <a:ext cx="4626864" cy="777240"/>
          </a:xfrm>
          <a:prstGeom prst="rect">
            <a:avLst/>
          </a:prstGeom>
          <a:noFill/>
          <a:ln/>
        </p:spPr>
        <p:txBody>
          <a:bodyPr wrap="square" lIns="0" tIns="0" rIns="0" bIns="0" rtlCol="0" anchor="t"/>
          <a:lstStyle/>
          <a:p>
            <a:pPr indent="0" marL="0">
              <a:spcAft>
                <a:spcPts val="400"/>
              </a:spcAft>
              <a:buNone/>
            </a:pPr>
            <a:r>
              <a:rPr lang="en-US" sz="1350" dirty="0">
                <a:solidFill>
                  <a:srgbClr val="AEBBD0"/>
                </a:solidFill>
                <a:latin typeface="Calibri" pitchFamily="34" charset="0"/>
                <a:ea typeface="Calibri" pitchFamily="34" charset="-122"/>
                <a:cs typeface="Calibri" pitchFamily="34" charset="-120"/>
              </a:rPr>
              <a:t>T(q) = T₀ · T₁(q₁) · T₂(q₂) ··· T₆(q₆). Always defined; PyBullet returns the end-effector pose with getLinkState.</a:t>
            </a:r>
            <a:endParaRPr lang="en-US" sz="1350" dirty="0"/>
          </a:p>
        </p:txBody>
      </p:sp>
      <p:sp>
        <p:nvSpPr>
          <p:cNvPr id="9" name="f_ik#box"/>
          <p:cNvSpPr/>
          <p:nvPr/>
        </p:nvSpPr>
        <p:spPr>
          <a:xfrm>
            <a:off x="548640" y="3611880"/>
            <a:ext cx="5029200" cy="2240280"/>
          </a:xfrm>
          <a:prstGeom prst="roundRect">
            <a:avLst>
              <a:gd name="adj" fmla="val 4082"/>
            </a:avLst>
          </a:prstGeom>
          <a:solidFill>
            <a:srgbClr val="0F1B2D"/>
          </a:solidFill>
          <a:ln w="12700">
            <a:solidFill>
              <a:srgbClr val="23344F"/>
            </a:solidFill>
            <a:prstDash val="solid"/>
          </a:ln>
        </p:spPr>
      </p:sp>
      <p:sp>
        <p:nvSpPr>
          <p:cNvPr id="10" name="f_ik#k"/>
          <p:cNvSpPr txBox="1"/>
          <p:nvPr/>
        </p:nvSpPr>
        <p:spPr>
          <a:xfrm>
            <a:off x="749808" y="3794760"/>
            <a:ext cx="4626864" cy="228600"/>
          </a:xfrm>
          <a:prstGeom prst="rect">
            <a:avLst/>
          </a:prstGeom>
          <a:noFill/>
          <a:ln/>
        </p:spPr>
        <p:txBody>
          <a:bodyPr wrap="square" lIns="0" tIns="0" rIns="0" bIns="0" rtlCol="0" anchor="t"/>
          <a:lstStyle/>
          <a:p>
            <a:pPr indent="0" marL="0">
              <a:buNone/>
            </a:pPr>
            <a:r>
              <a:rPr lang="en-US" sz="1050" b="1" spc="200" kern="0" dirty="0">
                <a:solidFill>
                  <a:srgbClr val="FAB219"/>
                </a:solidFill>
                <a:latin typeface="Calibri" pitchFamily="34" charset="0"/>
                <a:ea typeface="Calibri" pitchFamily="34" charset="-122"/>
                <a:cs typeface="Calibri" pitchFamily="34" charset="-120"/>
              </a:rPr>
              <a:t>INVERSE KINEMATICS · (p, R) → q</a:t>
            </a:r>
            <a:endParaRPr lang="en-US" sz="1050" dirty="0"/>
          </a:p>
        </p:txBody>
      </p:sp>
      <p:sp>
        <p:nvSpPr>
          <p:cNvPr id="11" name="f_ik#h"/>
          <p:cNvSpPr txBox="1"/>
          <p:nvPr/>
        </p:nvSpPr>
        <p:spPr>
          <a:xfrm>
            <a:off x="749808" y="4087368"/>
            <a:ext cx="4626864" cy="384048"/>
          </a:xfrm>
          <a:prstGeom prst="rect">
            <a:avLst/>
          </a:prstGeom>
          <a:noFill/>
          <a:ln/>
        </p:spPr>
        <p:txBody>
          <a:bodyPr wrap="square" lIns="0" tIns="0" rIns="0" bIns="0" rtlCol="0" anchor="t"/>
          <a:lstStyle/>
          <a:p>
            <a:pPr indent="0" marL="0">
              <a:buNone/>
            </a:pPr>
            <a:r>
              <a:rPr lang="en-US" sz="1700" b="1" dirty="0">
                <a:solidFill>
                  <a:srgbClr val="EEF3FA"/>
                </a:solidFill>
                <a:latin typeface="Calibri" pitchFamily="34" charset="0"/>
                <a:ea typeface="Calibri" pitchFamily="34" charset="-122"/>
                <a:cs typeface="Calibri" pitchFamily="34" charset="-120"/>
              </a:rPr>
              <a:t>Several answers, no closed form</a:t>
            </a:r>
            <a:endParaRPr lang="en-US" sz="1700" dirty="0"/>
          </a:p>
        </p:txBody>
      </p:sp>
      <p:sp>
        <p:nvSpPr>
          <p:cNvPr id="12" name="f_ik#b"/>
          <p:cNvSpPr txBox="1"/>
          <p:nvPr/>
        </p:nvSpPr>
        <p:spPr>
          <a:xfrm>
            <a:off x="749808" y="4507992"/>
            <a:ext cx="4626864" cy="1234440"/>
          </a:xfrm>
          <a:prstGeom prst="rect">
            <a:avLst/>
          </a:prstGeom>
          <a:noFill/>
          <a:ln/>
        </p:spPr>
        <p:txBody>
          <a:bodyPr wrap="square" lIns="0" tIns="0" rIns="0" bIns="0" rtlCol="0" anchor="t"/>
          <a:lstStyle/>
          <a:p>
            <a:pPr indent="0" marL="0">
              <a:spcAft>
                <a:spcPts val="400"/>
              </a:spcAft>
              <a:buNone/>
            </a:pPr>
            <a:r>
              <a:rPr lang="en-US" sz="1350" dirty="0">
                <a:solidFill>
                  <a:srgbClr val="AEBBD0"/>
                </a:solidFill>
                <a:latin typeface="Calibri" pitchFamily="34" charset="0"/>
                <a:ea typeface="Calibri" pitchFamily="34" charset="-122"/>
                <a:cs typeface="Calibri" pitchFamily="34" charset="-120"/>
              </a:rPr>
              <a:t>6 joint solutions found for the target in the clip; solved iteratively from a starting guess; classical solvers ignore joint limits and self-collision unless told.</a:t>
            </a:r>
            <a:endParaRPr lang="en-US" sz="1350" dirty="0"/>
          </a:p>
        </p:txBody>
      </p:sp>
      <p:sp>
        <p:nvSpPr>
          <p:cNvPr id="13" name="video_inverse_kinematics#frame"/>
          <p:cNvSpPr/>
          <p:nvPr/>
        </p:nvSpPr>
        <p:spPr>
          <a:xfrm>
            <a:off x="5870448" y="1618488"/>
            <a:ext cx="5800039" cy="3286525"/>
          </a:xfrm>
          <a:prstGeom prst="roundRect">
            <a:avLst>
              <a:gd name="adj" fmla="val 1113"/>
            </a:avLst>
          </a:prstGeom>
          <a:solidFill>
            <a:srgbClr val="0A1527"/>
          </a:solidFill>
          <a:ln w="12700">
            <a:solidFill>
              <a:srgbClr val="23344F"/>
            </a:solidFill>
            <a:prstDash val="solid"/>
          </a:ln>
        </p:spPr>
      </p:sp>
      <p:pic>
        <p:nvPicPr>
          <p:cNvPr id="3" name="video_inverse_kinematics#media">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5897880" y="1645920"/>
            <a:ext cx="5745175" cy="3231661"/>
          </a:xfrm>
          <a:prstGeom prst="rect">
            <a:avLst/>
          </a:prstGeom>
        </p:spPr>
      </p:pic>
      <p:sp>
        <p:nvSpPr>
          <p:cNvPr id="15" name="video_inverse_kinematics#cap"/>
          <p:cNvSpPr txBox="1"/>
          <p:nvPr/>
        </p:nvSpPr>
        <p:spPr>
          <a:xfrm>
            <a:off x="5897880" y="4969021"/>
            <a:ext cx="5745175" cy="274320"/>
          </a:xfrm>
          <a:prstGeom prst="rect">
            <a:avLst/>
          </a:prstGeom>
          <a:noFill/>
          <a:ln/>
        </p:spPr>
        <p:txBody>
          <a:bodyPr wrap="square" lIns="0" tIns="0" rIns="0" bIns="0" rtlCol="0" anchor="t"/>
          <a:lstStyle/>
          <a:p>
            <a:pPr indent="0" marL="0">
              <a:buNone/>
            </a:pPr>
            <a:r>
              <a:rPr lang="en-US" sz="1050" dirty="0">
                <a:solidFill>
                  <a:srgbClr val="7F8FA8"/>
                </a:solidFill>
                <a:latin typeface="Calibri" pitchFamily="34" charset="0"/>
                <a:ea typeface="Calibri" pitchFamily="34" charset="-122"/>
                <a:cs typeface="Calibri" pitchFamily="34" charset="-120"/>
              </a:rPr>
              <a:t>Simulation 3 · one target pose, four of its joint solutions; the seed selects one</a:t>
            </a:r>
            <a:endParaRPr lang="en-US" sz="1050" dirty="0"/>
          </a:p>
        </p:txBody>
      </p:sp>
      <p:sp>
        <p:nvSpPr>
          <p:cNvPr id="16" name="f_note"/>
          <p:cNvSpPr txBox="1"/>
          <p:nvPr/>
        </p:nvSpPr>
        <p:spPr>
          <a:xfrm>
            <a:off x="548640" y="5989320"/>
            <a:ext cx="5120640" cy="365760"/>
          </a:xfrm>
          <a:prstGeom prst="rect">
            <a:avLst/>
          </a:prstGeom>
          <a:noFill/>
          <a:ln/>
        </p:spPr>
        <p:txBody>
          <a:bodyPr wrap="square" lIns="0" tIns="0" rIns="0" bIns="0" rtlCol="0" anchor="t"/>
          <a:lstStyle/>
          <a:p>
            <a:pPr indent="0" marL="0">
              <a:buNone/>
            </a:pPr>
            <a:r>
              <a:rPr lang="en-US" sz="1300" dirty="0">
                <a:solidFill>
                  <a:srgbClr val="EEF3FA"/>
                </a:solidFill>
                <a:latin typeface="Calibri" pitchFamily="34" charset="0"/>
                <a:ea typeface="Calibri" pitchFamily="34" charset="-122"/>
                <a:cs typeface="Calibri" pitchFamily="34" charset="-120"/>
              </a:rPr>
              <a:t>This is why our network takes a seed: the arm's current joints pick one solution.</a:t>
            </a:r>
            <a:endParaRPr lang="en-US" sz="1300" dirty="0"/>
          </a:p>
        </p:txBody>
      </p:sp>
      <p:sp>
        <p:nvSpPr>
          <p:cNvPr id="25" name="Slide Number Placeholder 0"/>
          <p:cNvSpPr>
            <a:spLocks noGrp="1"/>
          </p:cNvSpPr>
          <p:nvPr>
            <p:ph type="sldNum" sz="quarter" idx="4294967295"/>
          </p:nvPr>
        </p:nvSpPr>
        <p:spPr>
          <a:xfrm>
            <a:off x="11094415" y="6446520"/>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7F8FA8"/>
                </a:solidFill>
              </a:defRPr>
            </a:lvl1pPr>
          </a:lstStyle>
          <a:p>
            <a:pPr algn="r"/>
            <a:fld id="{F7021451-1387-4CA6-816F-3879F97B5CBC}" type="slidenum">
              <a:rPr b="0" lang="en-US"/>
              <a:t>3</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16" fill="hold">
                            <p:stCondLst>
                              <p:cond delay="0"/>
                            </p:stCondLst>
                            <p:childTnLst>
                              <p:par>
                                <p:cTn id="4" presetID="10" presetClass="entr" presetSubtype="0" fill="hold" grpId="0" nodeType="afterEffect">
                                  <p:stCondLst>
                                    <p:cond delay="0"/>
                                  </p:stCondLst>
                                  <p:childTnLst>
                                    <p:set>
                                      <p:cBhvr>
                                        <p:cTn id="5" dur="1" fill="hold">
                                          <p:stCondLst>
                                            <p:cond delay="0"/>
                                          </p:stCondLst>
                                        </p:cTn>
                                        <p:tgtEl>
                                          <p:spTgt spid="5"/>
                                        </p:tgtEl>
                                        <p:attrNameLst>
                                          <p:attrName>style.visibility</p:attrName>
                                        </p:attrNameLst>
                                      </p:cBhvr>
                                      <p:to>
                                        <p:strVal val="visible"/>
                                      </p:to>
                                    </p:set>
                                    <p:animEffect transition="in" filter="fade">
                                      <p:cBhvr>
                                        <p:cTn id="6" dur="420"/>
                                        <p:tgtEl>
                                          <p:spTgt spid="5"/>
                                        </p:tgtEl>
                                      </p:cBhvr>
                                    </p:animEffect>
                                  </p:childTnLst>
                                </p:cTn>
                              </p:par>
                              <p:par>
                                <p:cTn id="7" presetID="10"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animEffect transition="in" filter="fade">
                                      <p:cBhvr>
                                        <p:cTn id="9" dur="420"/>
                                        <p:tgtEl>
                                          <p:spTgt spid="6"/>
                                        </p:tgtEl>
                                      </p:cBhvr>
                                    </p:animEffect>
                                  </p:childTnLst>
                                </p:cTn>
                              </p:par>
                              <p:par>
                                <p:cTn id="10" presetID="10" presetClass="entr" presetSubtype="0" fill="hold" grpId="0" nodeType="with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420"/>
                                        <p:tgtEl>
                                          <p:spTgt spid="7"/>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420"/>
                                        <p:tgtEl>
                                          <p:spTgt spid="8"/>
                                        </p:tgtEl>
                                      </p:cBhvr>
                                    </p:animEffect>
                                  </p:childTnLst>
                                </p:cTn>
                              </p:par>
                            </p:childTnLst>
                          </p:cTn>
                        </p:par>
                        <p:par>
                          <p:cTn id="29" fill="hold">
                            <p:stCondLst>
                              <p:cond delay="0"/>
                            </p:stCondLst>
                            <p:childTnLst>
                              <p:par>
                                <p:cTn id="17" presetID="10" presetClass="entr" presetSubtype="0" fill="hold" grpId="0" nodeType="after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20"/>
                                        <p:tgtEl>
                                          <p:spTgt spid="9"/>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420"/>
                                        <p:tgtEl>
                                          <p:spTgt spid="10"/>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420"/>
                                        <p:tgtEl>
                                          <p:spTgt spid="11"/>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420"/>
                                        <p:tgtEl>
                                          <p:spTgt spid="12"/>
                                        </p:tgtEl>
                                      </p:cBhvr>
                                    </p:animEffect>
                                  </p:childTnLst>
                                </p:cTn>
                              </p:par>
                            </p:childTnLst>
                          </p:cTn>
                        </p:par>
                        <p:par>
                          <p:cTn id="39" fill="hold">
                            <p:stCondLst>
                              <p:cond delay="260"/>
                            </p:stCondLst>
                            <p:childTnLst>
                              <p:par>
                                <p:cTn id="30" presetID="10" presetClass="entr" presetSubtype="0" fill="hold" grpId="0" nodeType="after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fade">
                                      <p:cBhvr>
                                        <p:cTn id="32" dur="420"/>
                                        <p:tgtEl>
                                          <p:spTgt spid="13"/>
                                        </p:tgtEl>
                                      </p:cBhvr>
                                    </p:animEffect>
                                  </p:childTnLst>
                                </p:cTn>
                              </p:par>
                              <p:par>
                                <p:cTn id="33" presetID="10" presetClass="entr" presetSubtype="0" fill="hold" nodeType="withEffect">
                                  <p:stCondLst>
                                    <p:cond delay="0"/>
                                  </p:stCondLst>
                                  <p:childTnLst>
                                    <p:set>
                                      <p:cBhvr>
                                        <p:cTn id="34" dur="1" fill="hold">
                                          <p:stCondLst>
                                            <p:cond delay="0"/>
                                          </p:stCondLst>
                                        </p:cTn>
                                        <p:tgtEl>
                                          <p:spTgt spid="3"/>
                                        </p:tgtEl>
                                        <p:attrNameLst>
                                          <p:attrName>style.visibility</p:attrName>
                                        </p:attrNameLst>
                                      </p:cBhvr>
                                      <p:to>
                                        <p:strVal val="visible"/>
                                      </p:to>
                                    </p:set>
                                    <p:animEffect transition="in" filter="fade">
                                      <p:cBhvr>
                                        <p:cTn id="35" dur="420"/>
                                        <p:tgtEl>
                                          <p:spTgt spid="3"/>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5"/>
                                        </p:tgtEl>
                                        <p:attrNameLst>
                                          <p:attrName>style.visibility</p:attrName>
                                        </p:attrNameLst>
                                      </p:cBhvr>
                                      <p:to>
                                        <p:strVal val="visible"/>
                                      </p:to>
                                    </p:set>
                                    <p:animEffect transition="in" filter="fade">
                                      <p:cBhvr>
                                        <p:cTn id="38" dur="420"/>
                                        <p:tgtEl>
                                          <p:spTgt spid="15"/>
                                        </p:tgtEl>
                                      </p:cBhvr>
                                    </p:animEffect>
                                  </p:childTnLst>
                                </p:cTn>
                              </p:par>
                            </p:childTnLst>
                          </p:cTn>
                        </p:par>
                        <p:par>
                          <p:cTn id="43" fill="hold">
                            <p:stCondLst>
                              <p:cond delay="520"/>
                            </p:stCondLst>
                            <p:childTnLst>
                              <p:par>
                                <p:cTn id="40" presetID="10" presetClass="entr" presetSubtype="0" fill="hold" grpId="0" nodeType="afterEffect">
                                  <p:stCondLst>
                                    <p:cond delay="0"/>
                                  </p:stCondLst>
                                  <p:childTnLst>
                                    <p:set>
                                      <p:cBhvr>
                                        <p:cTn id="41" dur="1" fill="hold">
                                          <p:stCondLst>
                                            <p:cond delay="0"/>
                                          </p:stCondLst>
                                        </p:cTn>
                                        <p:tgtEl>
                                          <p:spTgt spid="16"/>
                                        </p:tgtEl>
                                        <p:attrNameLst>
                                          <p:attrName>style.visibility</p:attrName>
                                        </p:attrNameLst>
                                      </p:cBhvr>
                                      <p:to>
                                        <p:strVal val="visible"/>
                                      </p:to>
                                    </p:set>
                                    <p:animEffect transition="in" filter="fade">
                                      <p:cBhvr>
                                        <p:cTn id="42" dur="420"/>
                                        <p:tgtEl>
                                          <p:spTgt spid="1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animBg="1"/>
      <p:bldP spid="7" grpId="0" animBg="1"/>
      <p:bldP spid="8" grpId="0" animBg="1"/>
      <p:bldP spid="9" grpId="0"/>
      <p:bldP spid="10" grpId="0" animBg="1"/>
      <p:bldP spid="11" grpId="0" animBg="1"/>
      <p:bldP spid="12" grpId="0" animBg="1"/>
      <p:bldP spid="13" grpId="0"/>
      <p:bldP spid="15" grpId="0" animBg="1"/>
      <p:bldP spid="16"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1" type="body" hasCustomPrompt="1"/>
          </p:nvPr>
        </p:nvSpPr>
        <p:spPr>
          <a:xfrm>
            <a:off x="731520" y="310896"/>
            <a:ext cx="8686800" cy="329184"/>
          </a:xfrm>
          <a:prstGeom prst="rect">
            <a:avLst/>
          </a:prstGeom>
          <a:noFill/>
          <a:ln/>
        </p:spPr>
        <p:txBody>
          <a:bodyPr wrap="square" lIns="0" tIns="0" rIns="0" bIns="0" rtlCol="0" anchor="ctr"/>
          <a:lstStyle/>
          <a:p>
            <a:pPr algn="l" indent="0" marL="0">
              <a:buNone/>
            </a:pPr>
            <a:r>
              <a:rPr lang="en-US" sz="1200" b="1" spc="300" kern="0" dirty="0">
                <a:solidFill>
                  <a:srgbClr val="AEBBD0"/>
                </a:solidFill>
              </a:rPr>
              <a:t>LEVEL 1 · APPROACH</a:t>
            </a:r>
            <a:endParaRPr lang="en-US" sz="1200" dirty="0"/>
          </a:p>
        </p:txBody>
      </p:sp>
      <p:sp>
        <p:nvSpPr>
          <p:cNvPr id="3" name="Text 0"/>
          <p:cNvSpPr/>
          <p:nvPr>
            <p:ph idx="102" type="title" hasCustomPrompt="1"/>
          </p:nvPr>
        </p:nvSpPr>
        <p:spPr>
          <a:xfrm>
            <a:off x="548640" y="658368"/>
            <a:ext cx="11094415" cy="731520"/>
          </a:xfrm>
          <a:prstGeom prst="rect">
            <a:avLst/>
          </a:prstGeom>
          <a:noFill/>
          <a:ln/>
        </p:spPr>
        <p:txBody>
          <a:bodyPr wrap="square" lIns="0" tIns="0" rIns="0" bIns="0" rtlCol="0" anchor="ctr"/>
          <a:lstStyle/>
          <a:p>
            <a:pPr algn="l" indent="0" marL="0">
              <a:buNone/>
            </a:pPr>
            <a:r>
              <a:rPr lang="en-US" sz="3200" b="1" dirty="0">
                <a:solidFill>
                  <a:srgbClr val="EEF3FA"/>
                </a:solidFill>
              </a:rPr>
              <a:t>From plan to a working, reproducible pipeline</a:t>
            </a:r>
            <a:endParaRPr lang="en-US" sz="3200" dirty="0"/>
          </a:p>
        </p:txBody>
      </p:sp>
      <p:sp>
        <p:nvSpPr>
          <p:cNvPr id="5" name="a_s0#box"/>
          <p:cNvSpPr/>
          <p:nvPr/>
        </p:nvSpPr>
        <p:spPr>
          <a:xfrm>
            <a:off x="548640" y="1691640"/>
            <a:ext cx="1696669" cy="2514600"/>
          </a:xfrm>
          <a:prstGeom prst="roundRect">
            <a:avLst>
              <a:gd name="adj" fmla="val 5389"/>
            </a:avLst>
          </a:prstGeom>
          <a:solidFill>
            <a:srgbClr val="0F1B2D"/>
          </a:solidFill>
          <a:ln w="12700">
            <a:solidFill>
              <a:srgbClr val="23344F"/>
            </a:solidFill>
            <a:prstDash val="solid"/>
          </a:ln>
        </p:spPr>
      </p:sp>
      <p:sp>
        <p:nvSpPr>
          <p:cNvPr id="6" name="a_s0#o"/>
          <p:cNvSpPr/>
          <p:nvPr/>
        </p:nvSpPr>
        <p:spPr>
          <a:xfrm>
            <a:off x="731520" y="1874520"/>
            <a:ext cx="457200" cy="457200"/>
          </a:xfrm>
          <a:prstGeom prst="ellipse">
            <a:avLst/>
          </a:prstGeom>
          <a:solidFill>
            <a:srgbClr val="1A2C47"/>
          </a:solidFill>
          <a:ln w="15875">
            <a:solidFill>
              <a:srgbClr val="4FD6F2"/>
            </a:solidFill>
            <a:prstDash val="solid"/>
          </a:ln>
        </p:spPr>
      </p:sp>
      <p:sp>
        <p:nvSpPr>
          <p:cNvPr id="7" name="a_s0#n"/>
          <p:cNvSpPr txBox="1"/>
          <p:nvPr/>
        </p:nvSpPr>
        <p:spPr>
          <a:xfrm>
            <a:off x="731520" y="1874520"/>
            <a:ext cx="457200" cy="457200"/>
          </a:xfrm>
          <a:prstGeom prst="rect">
            <a:avLst/>
          </a:prstGeom>
          <a:noFill/>
          <a:ln/>
        </p:spPr>
        <p:txBody>
          <a:bodyPr wrap="square" lIns="0" tIns="0" rIns="0" bIns="0" rtlCol="0" anchor="ctr"/>
          <a:lstStyle/>
          <a:p>
            <a:pPr algn="ctr" indent="0" marL="0">
              <a:buNone/>
            </a:pPr>
            <a:r>
              <a:rPr lang="en-US" sz="1500" b="1" dirty="0">
                <a:solidFill>
                  <a:srgbClr val="4FD6F2"/>
                </a:solidFill>
                <a:latin typeface="Calibri" pitchFamily="34" charset="0"/>
                <a:ea typeface="Calibri" pitchFamily="34" charset="-122"/>
                <a:cs typeface="Calibri" pitchFamily="34" charset="-120"/>
              </a:rPr>
              <a:t>1</a:t>
            </a:r>
            <a:endParaRPr lang="en-US" sz="1500" dirty="0"/>
          </a:p>
        </p:txBody>
      </p:sp>
      <p:sp>
        <p:nvSpPr>
          <p:cNvPr id="8" name="a_s0#t"/>
          <p:cNvSpPr txBox="1"/>
          <p:nvPr/>
        </p:nvSpPr>
        <p:spPr>
          <a:xfrm>
            <a:off x="731520" y="2450592"/>
            <a:ext cx="1404061" cy="512064"/>
          </a:xfrm>
          <a:prstGeom prst="rect">
            <a:avLst/>
          </a:prstGeom>
          <a:noFill/>
          <a:ln/>
        </p:spPr>
        <p:txBody>
          <a:bodyPr wrap="square" lIns="0" tIns="0" rIns="0" bIns="0" rtlCol="0" anchor="b"/>
          <a:lstStyle/>
          <a:p>
            <a:pPr indent="0" marL="0">
              <a:buNone/>
            </a:pPr>
            <a:r>
              <a:rPr lang="en-US" sz="1450" b="1" dirty="0">
                <a:solidFill>
                  <a:srgbClr val="EEF3FA"/>
                </a:solidFill>
                <a:latin typeface="Calibri" pitchFamily="34" charset="0"/>
                <a:ea typeface="Calibri" pitchFamily="34" charset="-122"/>
                <a:cs typeface="Calibri" pitchFamily="34" charset="-120"/>
              </a:rPr>
              <a:t>Robot setup</a:t>
            </a:r>
            <a:endParaRPr lang="en-US" sz="1450" dirty="0"/>
          </a:p>
        </p:txBody>
      </p:sp>
      <p:sp>
        <p:nvSpPr>
          <p:cNvPr id="9" name="a_s0#f"/>
          <p:cNvSpPr txBox="1"/>
          <p:nvPr/>
        </p:nvSpPr>
        <p:spPr>
          <a:xfrm>
            <a:off x="731520" y="2999232"/>
            <a:ext cx="1404061" cy="256032"/>
          </a:xfrm>
          <a:prstGeom prst="rect">
            <a:avLst/>
          </a:prstGeom>
          <a:noFill/>
          <a:ln/>
        </p:spPr>
        <p:txBody>
          <a:bodyPr wrap="square" lIns="0" tIns="0" rIns="0" bIns="0" rtlCol="0" anchor="t"/>
          <a:lstStyle/>
          <a:p>
            <a:pPr indent="0" marL="0">
              <a:buNone/>
            </a:pPr>
            <a:r>
              <a:rPr lang="en-US" sz="1050" dirty="0">
                <a:solidFill>
                  <a:srgbClr val="4FD6F2"/>
                </a:solidFill>
                <a:latin typeface="Calibri" pitchFamily="34" charset="0"/>
                <a:ea typeface="Calibri" pitchFamily="34" charset="-122"/>
                <a:cs typeface="Calibri" pitchFamily="34" charset="-120"/>
              </a:rPr>
              <a:t>robot_config.py</a:t>
            </a:r>
            <a:endParaRPr lang="en-US" sz="1050" dirty="0"/>
          </a:p>
        </p:txBody>
      </p:sp>
      <p:sp>
        <p:nvSpPr>
          <p:cNvPr id="10" name="a_s0#d"/>
          <p:cNvSpPr txBox="1"/>
          <p:nvPr/>
        </p:nvSpPr>
        <p:spPr>
          <a:xfrm>
            <a:off x="731520" y="3255264"/>
            <a:ext cx="1404061" cy="457200"/>
          </a:xfrm>
          <a:prstGeom prst="rect">
            <a:avLst/>
          </a:prstGeom>
          <a:noFill/>
          <a:ln/>
        </p:spPr>
        <p:txBody>
          <a:bodyPr wrap="square" lIns="0" tIns="0" rIns="0" bIns="0" rtlCol="0" anchor="t"/>
          <a:lstStyle/>
          <a:p>
            <a:pPr indent="0" marL="0">
              <a:buNone/>
            </a:pPr>
            <a:r>
              <a:rPr lang="en-US" sz="1150" dirty="0">
                <a:solidFill>
                  <a:srgbClr val="AEBBD0"/>
                </a:solidFill>
                <a:latin typeface="Calibri" pitchFamily="34" charset="0"/>
                <a:ea typeface="Calibri" pitchFamily="34" charset="-122"/>
                <a:cs typeface="Calibri" pitchFamily="34" charset="-120"/>
              </a:rPr>
              <a:t>joints by name, self-collision on</a:t>
            </a:r>
            <a:endParaRPr lang="en-US" sz="1150" dirty="0"/>
          </a:p>
        </p:txBody>
      </p:sp>
      <p:sp>
        <p:nvSpPr>
          <p:cNvPr id="11" name="a_s0#ok#bb"/>
          <p:cNvSpPr/>
          <p:nvPr/>
        </p:nvSpPr>
        <p:spPr>
          <a:xfrm>
            <a:off x="731520" y="3767328"/>
            <a:ext cx="868680" cy="292608"/>
          </a:xfrm>
          <a:prstGeom prst="roundRect">
            <a:avLst>
              <a:gd name="adj" fmla="val 50000"/>
            </a:avLst>
          </a:prstGeom>
          <a:solidFill>
            <a:srgbClr val="14233A"/>
          </a:solidFill>
          <a:ln w="12700">
            <a:solidFill>
              <a:srgbClr val="0CA30C"/>
            </a:solidFill>
            <a:prstDash val="solid"/>
          </a:ln>
        </p:spPr>
      </p:sp>
      <p:sp>
        <p:nvSpPr>
          <p:cNvPr id="12" name="a_s0#ok#bt"/>
          <p:cNvSpPr txBox="1"/>
          <p:nvPr/>
        </p:nvSpPr>
        <p:spPr>
          <a:xfrm>
            <a:off x="731520" y="3767328"/>
            <a:ext cx="868680" cy="292608"/>
          </a:xfrm>
          <a:prstGeom prst="rect">
            <a:avLst/>
          </a:prstGeom>
          <a:noFill/>
          <a:ln/>
        </p:spPr>
        <p:txBody>
          <a:bodyPr wrap="square" lIns="0" tIns="0" rIns="0" bIns="0" rtlCol="0" anchor="ctr"/>
          <a:lstStyle/>
          <a:p>
            <a:pPr algn="ctr" indent="0" marL="0">
              <a:buNone/>
            </a:pPr>
            <a:r>
              <a:rPr lang="en-US" sz="1100" b="1" dirty="0">
                <a:solidFill>
                  <a:srgbClr val="8FF08F"/>
                </a:solidFill>
                <a:latin typeface="Calibri" pitchFamily="34" charset="0"/>
                <a:ea typeface="Calibri" pitchFamily="34" charset="-122"/>
                <a:cs typeface="Calibri" pitchFamily="34" charset="-120"/>
              </a:rPr>
              <a:t>✓ done</a:t>
            </a:r>
            <a:endParaRPr lang="en-US" sz="1100" dirty="0"/>
          </a:p>
        </p:txBody>
      </p:sp>
      <p:sp>
        <p:nvSpPr>
          <p:cNvPr id="13" name="a_s1#box"/>
          <p:cNvSpPr/>
          <p:nvPr/>
        </p:nvSpPr>
        <p:spPr>
          <a:xfrm>
            <a:off x="2428189" y="1691640"/>
            <a:ext cx="1696669" cy="2514600"/>
          </a:xfrm>
          <a:prstGeom prst="roundRect">
            <a:avLst>
              <a:gd name="adj" fmla="val 5389"/>
            </a:avLst>
          </a:prstGeom>
          <a:solidFill>
            <a:srgbClr val="0F1B2D"/>
          </a:solidFill>
          <a:ln w="12700">
            <a:solidFill>
              <a:srgbClr val="23344F"/>
            </a:solidFill>
            <a:prstDash val="solid"/>
          </a:ln>
        </p:spPr>
      </p:sp>
      <p:sp>
        <p:nvSpPr>
          <p:cNvPr id="14" name="a_s1#o"/>
          <p:cNvSpPr/>
          <p:nvPr/>
        </p:nvSpPr>
        <p:spPr>
          <a:xfrm>
            <a:off x="2611069" y="1874520"/>
            <a:ext cx="457200" cy="457200"/>
          </a:xfrm>
          <a:prstGeom prst="ellipse">
            <a:avLst/>
          </a:prstGeom>
          <a:solidFill>
            <a:srgbClr val="1A2C47"/>
          </a:solidFill>
          <a:ln w="15875">
            <a:solidFill>
              <a:srgbClr val="4FD6F2"/>
            </a:solidFill>
            <a:prstDash val="solid"/>
          </a:ln>
        </p:spPr>
      </p:sp>
      <p:sp>
        <p:nvSpPr>
          <p:cNvPr id="15" name="a_s1#n"/>
          <p:cNvSpPr txBox="1"/>
          <p:nvPr/>
        </p:nvSpPr>
        <p:spPr>
          <a:xfrm>
            <a:off x="2611069" y="1874520"/>
            <a:ext cx="457200" cy="457200"/>
          </a:xfrm>
          <a:prstGeom prst="rect">
            <a:avLst/>
          </a:prstGeom>
          <a:noFill/>
          <a:ln/>
        </p:spPr>
        <p:txBody>
          <a:bodyPr wrap="square" lIns="0" tIns="0" rIns="0" bIns="0" rtlCol="0" anchor="ctr"/>
          <a:lstStyle/>
          <a:p>
            <a:pPr algn="ctr" indent="0" marL="0">
              <a:buNone/>
            </a:pPr>
            <a:r>
              <a:rPr lang="en-US" sz="1500" b="1" dirty="0">
                <a:solidFill>
                  <a:srgbClr val="4FD6F2"/>
                </a:solidFill>
                <a:latin typeface="Calibri" pitchFamily="34" charset="0"/>
                <a:ea typeface="Calibri" pitchFamily="34" charset="-122"/>
                <a:cs typeface="Calibri" pitchFamily="34" charset="-120"/>
              </a:rPr>
              <a:t>2</a:t>
            </a:r>
            <a:endParaRPr lang="en-US" sz="1500" dirty="0"/>
          </a:p>
        </p:txBody>
      </p:sp>
      <p:sp>
        <p:nvSpPr>
          <p:cNvPr id="16" name="a_s1#t"/>
          <p:cNvSpPr txBox="1"/>
          <p:nvPr/>
        </p:nvSpPr>
        <p:spPr>
          <a:xfrm>
            <a:off x="2611069" y="2450592"/>
            <a:ext cx="1404061" cy="512064"/>
          </a:xfrm>
          <a:prstGeom prst="rect">
            <a:avLst/>
          </a:prstGeom>
          <a:noFill/>
          <a:ln/>
        </p:spPr>
        <p:txBody>
          <a:bodyPr wrap="square" lIns="0" tIns="0" rIns="0" bIns="0" rtlCol="0" anchor="b"/>
          <a:lstStyle/>
          <a:p>
            <a:pPr indent="0" marL="0">
              <a:buNone/>
            </a:pPr>
            <a:r>
              <a:rPr lang="en-US" sz="1450" b="1" dirty="0">
                <a:solidFill>
                  <a:srgbClr val="EEF3FA"/>
                </a:solidFill>
                <a:latin typeface="Calibri" pitchFamily="34" charset="0"/>
                <a:ea typeface="Calibri" pitchFamily="34" charset="-122"/>
                <a:cs typeface="Calibri" pitchFamily="34" charset="-120"/>
              </a:rPr>
              <a:t>Dataset</a:t>
            </a:r>
            <a:endParaRPr lang="en-US" sz="1450" dirty="0"/>
          </a:p>
        </p:txBody>
      </p:sp>
      <p:sp>
        <p:nvSpPr>
          <p:cNvPr id="17" name="a_s1#f"/>
          <p:cNvSpPr txBox="1"/>
          <p:nvPr/>
        </p:nvSpPr>
        <p:spPr>
          <a:xfrm>
            <a:off x="2611069" y="2999232"/>
            <a:ext cx="1404061" cy="256032"/>
          </a:xfrm>
          <a:prstGeom prst="rect">
            <a:avLst/>
          </a:prstGeom>
          <a:noFill/>
          <a:ln/>
        </p:spPr>
        <p:txBody>
          <a:bodyPr wrap="square" lIns="0" tIns="0" rIns="0" bIns="0" rtlCol="0" anchor="t"/>
          <a:lstStyle/>
          <a:p>
            <a:pPr indent="0" marL="0">
              <a:buNone/>
            </a:pPr>
            <a:r>
              <a:rPr lang="en-US" sz="1050" dirty="0">
                <a:solidFill>
                  <a:srgbClr val="4FD6F2"/>
                </a:solidFill>
                <a:latin typeface="Calibri" pitchFamily="34" charset="0"/>
                <a:ea typeface="Calibri" pitchFamily="34" charset="-122"/>
                <a:cs typeface="Calibri" pitchFamily="34" charset="-120"/>
              </a:rPr>
              <a:t>generate_dataset.py</a:t>
            </a:r>
            <a:endParaRPr lang="en-US" sz="1050" dirty="0"/>
          </a:p>
        </p:txBody>
      </p:sp>
      <p:sp>
        <p:nvSpPr>
          <p:cNvPr id="18" name="a_s1#d"/>
          <p:cNvSpPr txBox="1"/>
          <p:nvPr/>
        </p:nvSpPr>
        <p:spPr>
          <a:xfrm>
            <a:off x="2611069" y="3255264"/>
            <a:ext cx="1404061" cy="457200"/>
          </a:xfrm>
          <a:prstGeom prst="rect">
            <a:avLst/>
          </a:prstGeom>
          <a:noFill/>
          <a:ln/>
        </p:spPr>
        <p:txBody>
          <a:bodyPr wrap="square" lIns="0" tIns="0" rIns="0" bIns="0" rtlCol="0" anchor="t"/>
          <a:lstStyle/>
          <a:p>
            <a:pPr indent="0" marL="0">
              <a:buNone/>
            </a:pPr>
            <a:r>
              <a:rPr lang="en-US" sz="1150" dirty="0">
                <a:solidFill>
                  <a:srgbClr val="AEBBD0"/>
                </a:solidFill>
                <a:latin typeface="Calibri" pitchFamily="34" charset="0"/>
                <a:ea typeface="Calibri" pitchFamily="34" charset="-122"/>
                <a:cs typeface="Calibri" pitchFamily="34" charset="-120"/>
              </a:rPr>
              <a:t>pose + collision label per sample</a:t>
            </a:r>
            <a:endParaRPr lang="en-US" sz="1150" dirty="0"/>
          </a:p>
        </p:txBody>
      </p:sp>
      <p:sp>
        <p:nvSpPr>
          <p:cNvPr id="19" name="a_s1#ok#bb"/>
          <p:cNvSpPr/>
          <p:nvPr/>
        </p:nvSpPr>
        <p:spPr>
          <a:xfrm>
            <a:off x="2611069" y="3767328"/>
            <a:ext cx="868680" cy="292608"/>
          </a:xfrm>
          <a:prstGeom prst="roundRect">
            <a:avLst>
              <a:gd name="adj" fmla="val 50000"/>
            </a:avLst>
          </a:prstGeom>
          <a:solidFill>
            <a:srgbClr val="14233A"/>
          </a:solidFill>
          <a:ln w="12700">
            <a:solidFill>
              <a:srgbClr val="0CA30C"/>
            </a:solidFill>
            <a:prstDash val="solid"/>
          </a:ln>
        </p:spPr>
      </p:sp>
      <p:sp>
        <p:nvSpPr>
          <p:cNvPr id="20" name="a_s1#ok#bt"/>
          <p:cNvSpPr txBox="1"/>
          <p:nvPr/>
        </p:nvSpPr>
        <p:spPr>
          <a:xfrm>
            <a:off x="2611069" y="3767328"/>
            <a:ext cx="868680" cy="292608"/>
          </a:xfrm>
          <a:prstGeom prst="rect">
            <a:avLst/>
          </a:prstGeom>
          <a:noFill/>
          <a:ln/>
        </p:spPr>
        <p:txBody>
          <a:bodyPr wrap="square" lIns="0" tIns="0" rIns="0" bIns="0" rtlCol="0" anchor="ctr"/>
          <a:lstStyle/>
          <a:p>
            <a:pPr algn="ctr" indent="0" marL="0">
              <a:buNone/>
            </a:pPr>
            <a:r>
              <a:rPr lang="en-US" sz="1100" b="1" dirty="0">
                <a:solidFill>
                  <a:srgbClr val="8FF08F"/>
                </a:solidFill>
                <a:latin typeface="Calibri" pitchFamily="34" charset="0"/>
                <a:ea typeface="Calibri" pitchFamily="34" charset="-122"/>
                <a:cs typeface="Calibri" pitchFamily="34" charset="-120"/>
              </a:rPr>
              <a:t>✓ done</a:t>
            </a:r>
            <a:endParaRPr lang="en-US" sz="1100" dirty="0"/>
          </a:p>
        </p:txBody>
      </p:sp>
      <p:sp>
        <p:nvSpPr>
          <p:cNvPr id="21" name="a_s2#box"/>
          <p:cNvSpPr/>
          <p:nvPr/>
        </p:nvSpPr>
        <p:spPr>
          <a:xfrm>
            <a:off x="4307738" y="1691640"/>
            <a:ext cx="1696669" cy="2514600"/>
          </a:xfrm>
          <a:prstGeom prst="roundRect">
            <a:avLst>
              <a:gd name="adj" fmla="val 5389"/>
            </a:avLst>
          </a:prstGeom>
          <a:solidFill>
            <a:srgbClr val="0F1B2D"/>
          </a:solidFill>
          <a:ln w="12700">
            <a:solidFill>
              <a:srgbClr val="23344F"/>
            </a:solidFill>
            <a:prstDash val="solid"/>
          </a:ln>
        </p:spPr>
      </p:sp>
      <p:sp>
        <p:nvSpPr>
          <p:cNvPr id="22" name="a_s2#o"/>
          <p:cNvSpPr/>
          <p:nvPr/>
        </p:nvSpPr>
        <p:spPr>
          <a:xfrm>
            <a:off x="4490618" y="1874520"/>
            <a:ext cx="457200" cy="457200"/>
          </a:xfrm>
          <a:prstGeom prst="ellipse">
            <a:avLst/>
          </a:prstGeom>
          <a:solidFill>
            <a:srgbClr val="1A2C47"/>
          </a:solidFill>
          <a:ln w="15875">
            <a:solidFill>
              <a:srgbClr val="4FD6F2"/>
            </a:solidFill>
            <a:prstDash val="solid"/>
          </a:ln>
        </p:spPr>
      </p:sp>
      <p:sp>
        <p:nvSpPr>
          <p:cNvPr id="23" name="a_s2#n"/>
          <p:cNvSpPr txBox="1"/>
          <p:nvPr/>
        </p:nvSpPr>
        <p:spPr>
          <a:xfrm>
            <a:off x="4490618" y="1874520"/>
            <a:ext cx="457200" cy="457200"/>
          </a:xfrm>
          <a:prstGeom prst="rect">
            <a:avLst/>
          </a:prstGeom>
          <a:noFill/>
          <a:ln/>
        </p:spPr>
        <p:txBody>
          <a:bodyPr wrap="square" lIns="0" tIns="0" rIns="0" bIns="0" rtlCol="0" anchor="ctr"/>
          <a:lstStyle/>
          <a:p>
            <a:pPr algn="ctr" indent="0" marL="0">
              <a:buNone/>
            </a:pPr>
            <a:r>
              <a:rPr lang="en-US" sz="1500" b="1" dirty="0">
                <a:solidFill>
                  <a:srgbClr val="4FD6F2"/>
                </a:solidFill>
                <a:latin typeface="Calibri" pitchFamily="34" charset="0"/>
                <a:ea typeface="Calibri" pitchFamily="34" charset="-122"/>
                <a:cs typeface="Calibri" pitchFamily="34" charset="-120"/>
              </a:rPr>
              <a:t>3</a:t>
            </a:r>
            <a:endParaRPr lang="en-US" sz="1500" dirty="0"/>
          </a:p>
        </p:txBody>
      </p:sp>
      <p:sp>
        <p:nvSpPr>
          <p:cNvPr id="24" name="a_s2#t"/>
          <p:cNvSpPr txBox="1"/>
          <p:nvPr/>
        </p:nvSpPr>
        <p:spPr>
          <a:xfrm>
            <a:off x="4490618" y="2450592"/>
            <a:ext cx="1404061" cy="512064"/>
          </a:xfrm>
          <a:prstGeom prst="rect">
            <a:avLst/>
          </a:prstGeom>
          <a:noFill/>
          <a:ln/>
        </p:spPr>
        <p:txBody>
          <a:bodyPr wrap="square" lIns="0" tIns="0" rIns="0" bIns="0" rtlCol="0" anchor="b"/>
          <a:lstStyle/>
          <a:p>
            <a:pPr indent="0" marL="0">
              <a:buNone/>
            </a:pPr>
            <a:r>
              <a:rPr lang="en-US" sz="1450" b="1" dirty="0">
                <a:solidFill>
                  <a:srgbClr val="EEF3FA"/>
                </a:solidFill>
                <a:latin typeface="Calibri" pitchFamily="34" charset="0"/>
                <a:ea typeface="Calibri" pitchFamily="34" charset="-122"/>
                <a:cs typeface="Calibri" pitchFamily="34" charset="-120"/>
              </a:rPr>
              <a:t>Collision classifier</a:t>
            </a:r>
            <a:endParaRPr lang="en-US" sz="1450" dirty="0"/>
          </a:p>
        </p:txBody>
      </p:sp>
      <p:sp>
        <p:nvSpPr>
          <p:cNvPr id="25" name="a_s2#f"/>
          <p:cNvSpPr txBox="1"/>
          <p:nvPr/>
        </p:nvSpPr>
        <p:spPr>
          <a:xfrm>
            <a:off x="4490618" y="2999232"/>
            <a:ext cx="1404061" cy="256032"/>
          </a:xfrm>
          <a:prstGeom prst="rect">
            <a:avLst/>
          </a:prstGeom>
          <a:noFill/>
          <a:ln/>
        </p:spPr>
        <p:txBody>
          <a:bodyPr wrap="square" lIns="0" tIns="0" rIns="0" bIns="0" rtlCol="0" anchor="t"/>
          <a:lstStyle/>
          <a:p>
            <a:pPr indent="0" marL="0">
              <a:buNone/>
            </a:pPr>
            <a:r>
              <a:rPr lang="en-US" sz="1050" dirty="0">
                <a:solidFill>
                  <a:srgbClr val="4FD6F2"/>
                </a:solidFill>
                <a:latin typeface="Calibri" pitchFamily="34" charset="0"/>
                <a:ea typeface="Calibri" pitchFamily="34" charset="-122"/>
                <a:cs typeface="Calibri" pitchFamily="34" charset="-120"/>
              </a:rPr>
              <a:t>train_ik.py</a:t>
            </a:r>
            <a:endParaRPr lang="en-US" sz="1050" dirty="0"/>
          </a:p>
        </p:txBody>
      </p:sp>
      <p:sp>
        <p:nvSpPr>
          <p:cNvPr id="26" name="a_s2#d"/>
          <p:cNvSpPr txBox="1"/>
          <p:nvPr/>
        </p:nvSpPr>
        <p:spPr>
          <a:xfrm>
            <a:off x="4490618" y="3255264"/>
            <a:ext cx="1404061" cy="457200"/>
          </a:xfrm>
          <a:prstGeom prst="rect">
            <a:avLst/>
          </a:prstGeom>
          <a:noFill/>
          <a:ln/>
        </p:spPr>
        <p:txBody>
          <a:bodyPr wrap="square" lIns="0" tIns="0" rIns="0" bIns="0" rtlCol="0" anchor="t"/>
          <a:lstStyle/>
          <a:p>
            <a:pPr indent="0" marL="0">
              <a:buNone/>
            </a:pPr>
            <a:r>
              <a:rPr lang="en-US" sz="1150" dirty="0">
                <a:solidFill>
                  <a:srgbClr val="AEBBD0"/>
                </a:solidFill>
                <a:latin typeface="Calibri" pitchFamily="34" charset="0"/>
                <a:ea typeface="Calibri" pitchFamily="34" charset="-122"/>
                <a:cs typeface="Calibri" pitchFamily="34" charset="-120"/>
              </a:rPr>
              <a:t>6 → 64 → 64 → 1, 98.4 % accurate</a:t>
            </a:r>
            <a:endParaRPr lang="en-US" sz="1150" dirty="0"/>
          </a:p>
        </p:txBody>
      </p:sp>
      <p:sp>
        <p:nvSpPr>
          <p:cNvPr id="27" name="a_s2#ok#bb"/>
          <p:cNvSpPr/>
          <p:nvPr/>
        </p:nvSpPr>
        <p:spPr>
          <a:xfrm>
            <a:off x="4490618" y="3767328"/>
            <a:ext cx="868680" cy="292608"/>
          </a:xfrm>
          <a:prstGeom prst="roundRect">
            <a:avLst>
              <a:gd name="adj" fmla="val 50000"/>
            </a:avLst>
          </a:prstGeom>
          <a:solidFill>
            <a:srgbClr val="14233A"/>
          </a:solidFill>
          <a:ln w="12700">
            <a:solidFill>
              <a:srgbClr val="0CA30C"/>
            </a:solidFill>
            <a:prstDash val="solid"/>
          </a:ln>
        </p:spPr>
      </p:sp>
      <p:sp>
        <p:nvSpPr>
          <p:cNvPr id="28" name="a_s2#ok#bt"/>
          <p:cNvSpPr txBox="1"/>
          <p:nvPr/>
        </p:nvSpPr>
        <p:spPr>
          <a:xfrm>
            <a:off x="4490618" y="3767328"/>
            <a:ext cx="868680" cy="292608"/>
          </a:xfrm>
          <a:prstGeom prst="rect">
            <a:avLst/>
          </a:prstGeom>
          <a:noFill/>
          <a:ln/>
        </p:spPr>
        <p:txBody>
          <a:bodyPr wrap="square" lIns="0" tIns="0" rIns="0" bIns="0" rtlCol="0" anchor="ctr"/>
          <a:lstStyle/>
          <a:p>
            <a:pPr algn="ctr" indent="0" marL="0">
              <a:buNone/>
            </a:pPr>
            <a:r>
              <a:rPr lang="en-US" sz="1100" b="1" dirty="0">
                <a:solidFill>
                  <a:srgbClr val="8FF08F"/>
                </a:solidFill>
                <a:latin typeface="Calibri" pitchFamily="34" charset="0"/>
                <a:ea typeface="Calibri" pitchFamily="34" charset="-122"/>
                <a:cs typeface="Calibri" pitchFamily="34" charset="-120"/>
              </a:rPr>
              <a:t>✓ done</a:t>
            </a:r>
            <a:endParaRPr lang="en-US" sz="1100" dirty="0"/>
          </a:p>
        </p:txBody>
      </p:sp>
      <p:sp>
        <p:nvSpPr>
          <p:cNvPr id="29" name="a_s3#box"/>
          <p:cNvSpPr/>
          <p:nvPr/>
        </p:nvSpPr>
        <p:spPr>
          <a:xfrm>
            <a:off x="6187288" y="1691640"/>
            <a:ext cx="1696669" cy="2514600"/>
          </a:xfrm>
          <a:prstGeom prst="roundRect">
            <a:avLst>
              <a:gd name="adj" fmla="val 5389"/>
            </a:avLst>
          </a:prstGeom>
          <a:solidFill>
            <a:srgbClr val="0F1B2D"/>
          </a:solidFill>
          <a:ln w="12700">
            <a:solidFill>
              <a:srgbClr val="23344F"/>
            </a:solidFill>
            <a:prstDash val="solid"/>
          </a:ln>
        </p:spPr>
      </p:sp>
      <p:sp>
        <p:nvSpPr>
          <p:cNvPr id="30" name="a_s3#o"/>
          <p:cNvSpPr/>
          <p:nvPr/>
        </p:nvSpPr>
        <p:spPr>
          <a:xfrm>
            <a:off x="6370168" y="1874520"/>
            <a:ext cx="457200" cy="457200"/>
          </a:xfrm>
          <a:prstGeom prst="ellipse">
            <a:avLst/>
          </a:prstGeom>
          <a:solidFill>
            <a:srgbClr val="1A2C47"/>
          </a:solidFill>
          <a:ln w="15875">
            <a:solidFill>
              <a:srgbClr val="4FD6F2"/>
            </a:solidFill>
            <a:prstDash val="solid"/>
          </a:ln>
        </p:spPr>
      </p:sp>
      <p:sp>
        <p:nvSpPr>
          <p:cNvPr id="31" name="a_s3#n"/>
          <p:cNvSpPr txBox="1"/>
          <p:nvPr/>
        </p:nvSpPr>
        <p:spPr>
          <a:xfrm>
            <a:off x="6370168" y="1874520"/>
            <a:ext cx="457200" cy="457200"/>
          </a:xfrm>
          <a:prstGeom prst="rect">
            <a:avLst/>
          </a:prstGeom>
          <a:noFill/>
          <a:ln/>
        </p:spPr>
        <p:txBody>
          <a:bodyPr wrap="square" lIns="0" tIns="0" rIns="0" bIns="0" rtlCol="0" anchor="ctr"/>
          <a:lstStyle/>
          <a:p>
            <a:pPr algn="ctr" indent="0" marL="0">
              <a:buNone/>
            </a:pPr>
            <a:r>
              <a:rPr lang="en-US" sz="1500" b="1" dirty="0">
                <a:solidFill>
                  <a:srgbClr val="4FD6F2"/>
                </a:solidFill>
                <a:latin typeface="Calibri" pitchFamily="34" charset="0"/>
                <a:ea typeface="Calibri" pitchFamily="34" charset="-122"/>
                <a:cs typeface="Calibri" pitchFamily="34" charset="-120"/>
              </a:rPr>
              <a:t>4</a:t>
            </a:r>
            <a:endParaRPr lang="en-US" sz="1500" dirty="0"/>
          </a:p>
        </p:txBody>
      </p:sp>
      <p:sp>
        <p:nvSpPr>
          <p:cNvPr id="32" name="a_s3#t"/>
          <p:cNvSpPr txBox="1"/>
          <p:nvPr/>
        </p:nvSpPr>
        <p:spPr>
          <a:xfrm>
            <a:off x="6370168" y="2450592"/>
            <a:ext cx="1404061" cy="512064"/>
          </a:xfrm>
          <a:prstGeom prst="rect">
            <a:avLst/>
          </a:prstGeom>
          <a:noFill/>
          <a:ln/>
        </p:spPr>
        <p:txBody>
          <a:bodyPr wrap="square" lIns="0" tIns="0" rIns="0" bIns="0" rtlCol="0" anchor="b"/>
          <a:lstStyle/>
          <a:p>
            <a:pPr indent="0" marL="0">
              <a:buNone/>
            </a:pPr>
            <a:r>
              <a:rPr lang="en-US" sz="1450" b="1" dirty="0">
                <a:solidFill>
                  <a:srgbClr val="EEF3FA"/>
                </a:solidFill>
                <a:latin typeface="Calibri" pitchFamily="34" charset="0"/>
                <a:ea typeface="Calibri" pitchFamily="34" charset="-122"/>
                <a:cs typeface="Calibri" pitchFamily="34" charset="-120"/>
              </a:rPr>
              <a:t>Neural IK</a:t>
            </a:r>
            <a:endParaRPr lang="en-US" sz="1450" dirty="0"/>
          </a:p>
        </p:txBody>
      </p:sp>
      <p:sp>
        <p:nvSpPr>
          <p:cNvPr id="33" name="a_s3#f"/>
          <p:cNvSpPr txBox="1"/>
          <p:nvPr/>
        </p:nvSpPr>
        <p:spPr>
          <a:xfrm>
            <a:off x="6370168" y="2999232"/>
            <a:ext cx="1404061" cy="256032"/>
          </a:xfrm>
          <a:prstGeom prst="rect">
            <a:avLst/>
          </a:prstGeom>
          <a:noFill/>
          <a:ln/>
        </p:spPr>
        <p:txBody>
          <a:bodyPr wrap="square" lIns="0" tIns="0" rIns="0" bIns="0" rtlCol="0" anchor="t"/>
          <a:lstStyle/>
          <a:p>
            <a:pPr indent="0" marL="0">
              <a:buNone/>
            </a:pPr>
            <a:r>
              <a:rPr lang="en-US" sz="1050" dirty="0">
                <a:solidFill>
                  <a:srgbClr val="4FD6F2"/>
                </a:solidFill>
                <a:latin typeface="Calibri" pitchFamily="34" charset="0"/>
                <a:ea typeface="Calibri" pitchFamily="34" charset="-122"/>
                <a:cs typeface="Calibri" pitchFamily="34" charset="-120"/>
              </a:rPr>
              <a:t>train_ik.py · modelset/</a:t>
            </a:r>
            <a:endParaRPr lang="en-US" sz="1050" dirty="0"/>
          </a:p>
        </p:txBody>
      </p:sp>
      <p:sp>
        <p:nvSpPr>
          <p:cNvPr id="34" name="a_s3#d"/>
          <p:cNvSpPr txBox="1"/>
          <p:nvPr/>
        </p:nvSpPr>
        <p:spPr>
          <a:xfrm>
            <a:off x="6370168" y="3255264"/>
            <a:ext cx="1404061" cy="457200"/>
          </a:xfrm>
          <a:prstGeom prst="rect">
            <a:avLst/>
          </a:prstGeom>
          <a:noFill/>
          <a:ln/>
        </p:spPr>
        <p:txBody>
          <a:bodyPr wrap="square" lIns="0" tIns="0" rIns="0" bIns="0" rtlCol="0" anchor="t"/>
          <a:lstStyle/>
          <a:p>
            <a:pPr indent="0" marL="0">
              <a:buNone/>
            </a:pPr>
            <a:r>
              <a:rPr lang="en-US" sz="1150" dirty="0">
                <a:solidFill>
                  <a:srgbClr val="AEBBD0"/>
                </a:solidFill>
                <a:latin typeface="Calibri" pitchFamily="34" charset="0"/>
                <a:ea typeface="Calibri" pitchFamily="34" charset="-122"/>
                <a:cs typeface="Calibri" pitchFamily="34" charset="-120"/>
              </a:rPr>
              <a:t>collision-aware loss</a:t>
            </a:r>
            <a:endParaRPr lang="en-US" sz="1150" dirty="0"/>
          </a:p>
        </p:txBody>
      </p:sp>
      <p:sp>
        <p:nvSpPr>
          <p:cNvPr id="35" name="a_s3#ok#bb"/>
          <p:cNvSpPr/>
          <p:nvPr/>
        </p:nvSpPr>
        <p:spPr>
          <a:xfrm>
            <a:off x="6370168" y="3767328"/>
            <a:ext cx="868680" cy="292608"/>
          </a:xfrm>
          <a:prstGeom prst="roundRect">
            <a:avLst>
              <a:gd name="adj" fmla="val 50000"/>
            </a:avLst>
          </a:prstGeom>
          <a:solidFill>
            <a:srgbClr val="14233A"/>
          </a:solidFill>
          <a:ln w="12700">
            <a:solidFill>
              <a:srgbClr val="0CA30C"/>
            </a:solidFill>
            <a:prstDash val="solid"/>
          </a:ln>
        </p:spPr>
      </p:sp>
      <p:sp>
        <p:nvSpPr>
          <p:cNvPr id="36" name="a_s3#ok#bt"/>
          <p:cNvSpPr txBox="1"/>
          <p:nvPr/>
        </p:nvSpPr>
        <p:spPr>
          <a:xfrm>
            <a:off x="6370168" y="3767328"/>
            <a:ext cx="868680" cy="292608"/>
          </a:xfrm>
          <a:prstGeom prst="rect">
            <a:avLst/>
          </a:prstGeom>
          <a:noFill/>
          <a:ln/>
        </p:spPr>
        <p:txBody>
          <a:bodyPr wrap="square" lIns="0" tIns="0" rIns="0" bIns="0" rtlCol="0" anchor="ctr"/>
          <a:lstStyle/>
          <a:p>
            <a:pPr algn="ctr" indent="0" marL="0">
              <a:buNone/>
            </a:pPr>
            <a:r>
              <a:rPr lang="en-US" sz="1100" b="1" dirty="0">
                <a:solidFill>
                  <a:srgbClr val="8FF08F"/>
                </a:solidFill>
                <a:latin typeface="Calibri" pitchFamily="34" charset="0"/>
                <a:ea typeface="Calibri" pitchFamily="34" charset="-122"/>
                <a:cs typeface="Calibri" pitchFamily="34" charset="-120"/>
              </a:rPr>
              <a:t>✓ done</a:t>
            </a:r>
            <a:endParaRPr lang="en-US" sz="1100" dirty="0"/>
          </a:p>
        </p:txBody>
      </p:sp>
      <p:sp>
        <p:nvSpPr>
          <p:cNvPr id="37" name="a_s4#box"/>
          <p:cNvSpPr/>
          <p:nvPr/>
        </p:nvSpPr>
        <p:spPr>
          <a:xfrm>
            <a:off x="8066837" y="1691640"/>
            <a:ext cx="1696669" cy="2514600"/>
          </a:xfrm>
          <a:prstGeom prst="roundRect">
            <a:avLst>
              <a:gd name="adj" fmla="val 5389"/>
            </a:avLst>
          </a:prstGeom>
          <a:solidFill>
            <a:srgbClr val="0F1B2D"/>
          </a:solidFill>
          <a:ln w="12700">
            <a:solidFill>
              <a:srgbClr val="23344F"/>
            </a:solidFill>
            <a:prstDash val="solid"/>
          </a:ln>
        </p:spPr>
      </p:sp>
      <p:sp>
        <p:nvSpPr>
          <p:cNvPr id="38" name="a_s4#o"/>
          <p:cNvSpPr/>
          <p:nvPr/>
        </p:nvSpPr>
        <p:spPr>
          <a:xfrm>
            <a:off x="8249717" y="1874520"/>
            <a:ext cx="457200" cy="457200"/>
          </a:xfrm>
          <a:prstGeom prst="ellipse">
            <a:avLst/>
          </a:prstGeom>
          <a:solidFill>
            <a:srgbClr val="1A2C47"/>
          </a:solidFill>
          <a:ln w="15875">
            <a:solidFill>
              <a:srgbClr val="4FD6F2"/>
            </a:solidFill>
            <a:prstDash val="solid"/>
          </a:ln>
        </p:spPr>
      </p:sp>
      <p:sp>
        <p:nvSpPr>
          <p:cNvPr id="39" name="a_s4#n"/>
          <p:cNvSpPr txBox="1"/>
          <p:nvPr/>
        </p:nvSpPr>
        <p:spPr>
          <a:xfrm>
            <a:off x="8249717" y="1874520"/>
            <a:ext cx="457200" cy="457200"/>
          </a:xfrm>
          <a:prstGeom prst="rect">
            <a:avLst/>
          </a:prstGeom>
          <a:noFill/>
          <a:ln/>
        </p:spPr>
        <p:txBody>
          <a:bodyPr wrap="square" lIns="0" tIns="0" rIns="0" bIns="0" rtlCol="0" anchor="ctr"/>
          <a:lstStyle/>
          <a:p>
            <a:pPr algn="ctr" indent="0" marL="0">
              <a:buNone/>
            </a:pPr>
            <a:r>
              <a:rPr lang="en-US" sz="1500" b="1" dirty="0">
                <a:solidFill>
                  <a:srgbClr val="4FD6F2"/>
                </a:solidFill>
                <a:latin typeface="Calibri" pitchFamily="34" charset="0"/>
                <a:ea typeface="Calibri" pitchFamily="34" charset="-122"/>
                <a:cs typeface="Calibri" pitchFamily="34" charset="-120"/>
              </a:rPr>
              <a:t>5</a:t>
            </a:r>
            <a:endParaRPr lang="en-US" sz="1500" dirty="0"/>
          </a:p>
        </p:txBody>
      </p:sp>
      <p:sp>
        <p:nvSpPr>
          <p:cNvPr id="40" name="a_s4#t"/>
          <p:cNvSpPr txBox="1"/>
          <p:nvPr/>
        </p:nvSpPr>
        <p:spPr>
          <a:xfrm>
            <a:off x="8249717" y="2450592"/>
            <a:ext cx="1404061" cy="512064"/>
          </a:xfrm>
          <a:prstGeom prst="rect">
            <a:avLst/>
          </a:prstGeom>
          <a:noFill/>
          <a:ln/>
        </p:spPr>
        <p:txBody>
          <a:bodyPr wrap="square" lIns="0" tIns="0" rIns="0" bIns="0" rtlCol="0" anchor="b"/>
          <a:lstStyle/>
          <a:p>
            <a:pPr indent="0" marL="0">
              <a:buNone/>
            </a:pPr>
            <a:r>
              <a:rPr lang="en-US" sz="1450" b="1" dirty="0">
                <a:solidFill>
                  <a:srgbClr val="EEF3FA"/>
                </a:solidFill>
                <a:latin typeface="Calibri" pitchFamily="34" charset="0"/>
                <a:ea typeface="Calibri" pitchFamily="34" charset="-122"/>
                <a:cs typeface="Calibri" pitchFamily="34" charset="-120"/>
              </a:rPr>
              <a:t>Benchmark</a:t>
            </a:r>
            <a:endParaRPr lang="en-US" sz="1450" dirty="0"/>
          </a:p>
        </p:txBody>
      </p:sp>
      <p:sp>
        <p:nvSpPr>
          <p:cNvPr id="41" name="a_s4#f"/>
          <p:cNvSpPr txBox="1"/>
          <p:nvPr/>
        </p:nvSpPr>
        <p:spPr>
          <a:xfrm>
            <a:off x="8249717" y="2999232"/>
            <a:ext cx="1404061" cy="256032"/>
          </a:xfrm>
          <a:prstGeom prst="rect">
            <a:avLst/>
          </a:prstGeom>
          <a:noFill/>
          <a:ln/>
        </p:spPr>
        <p:txBody>
          <a:bodyPr wrap="square" lIns="0" tIns="0" rIns="0" bIns="0" rtlCol="0" anchor="t"/>
          <a:lstStyle/>
          <a:p>
            <a:pPr indent="0" marL="0">
              <a:buNone/>
            </a:pPr>
            <a:r>
              <a:rPr lang="en-US" sz="1050" dirty="0">
                <a:solidFill>
                  <a:srgbClr val="4FD6F2"/>
                </a:solidFill>
                <a:latin typeface="Calibri" pitchFamily="34" charset="0"/>
                <a:ea typeface="Calibri" pitchFamily="34" charset="-122"/>
                <a:cs typeface="Calibri" pitchFamily="34" charset="-120"/>
              </a:rPr>
              <a:t>evaluate.py</a:t>
            </a:r>
            <a:endParaRPr lang="en-US" sz="1050" dirty="0"/>
          </a:p>
        </p:txBody>
      </p:sp>
      <p:sp>
        <p:nvSpPr>
          <p:cNvPr id="42" name="a_s4#d"/>
          <p:cNvSpPr txBox="1"/>
          <p:nvPr/>
        </p:nvSpPr>
        <p:spPr>
          <a:xfrm>
            <a:off x="8249717" y="3255264"/>
            <a:ext cx="1404061" cy="457200"/>
          </a:xfrm>
          <a:prstGeom prst="rect">
            <a:avLst/>
          </a:prstGeom>
          <a:noFill/>
          <a:ln/>
        </p:spPr>
        <p:txBody>
          <a:bodyPr wrap="square" lIns="0" tIns="0" rIns="0" bIns="0" rtlCol="0" anchor="t"/>
          <a:lstStyle/>
          <a:p>
            <a:pPr indent="0" marL="0">
              <a:buNone/>
            </a:pPr>
            <a:r>
              <a:rPr lang="en-US" sz="1150" dirty="0">
                <a:solidFill>
                  <a:srgbClr val="AEBBD0"/>
                </a:solidFill>
                <a:latin typeface="Calibri" pitchFamily="34" charset="0"/>
                <a:ea typeface="Calibri" pitchFamily="34" charset="-122"/>
                <a:cs typeface="Calibri" pitchFamily="34" charset="-120"/>
              </a:rPr>
              <a:t>vs classical DLS and hybrid</a:t>
            </a:r>
            <a:endParaRPr lang="en-US" sz="1150" dirty="0"/>
          </a:p>
        </p:txBody>
      </p:sp>
      <p:sp>
        <p:nvSpPr>
          <p:cNvPr id="43" name="a_s4#ok#bb"/>
          <p:cNvSpPr/>
          <p:nvPr/>
        </p:nvSpPr>
        <p:spPr>
          <a:xfrm>
            <a:off x="8249717" y="3767328"/>
            <a:ext cx="868680" cy="292608"/>
          </a:xfrm>
          <a:prstGeom prst="roundRect">
            <a:avLst>
              <a:gd name="adj" fmla="val 50000"/>
            </a:avLst>
          </a:prstGeom>
          <a:solidFill>
            <a:srgbClr val="14233A"/>
          </a:solidFill>
          <a:ln w="12700">
            <a:solidFill>
              <a:srgbClr val="0CA30C"/>
            </a:solidFill>
            <a:prstDash val="solid"/>
          </a:ln>
        </p:spPr>
      </p:sp>
      <p:sp>
        <p:nvSpPr>
          <p:cNvPr id="44" name="a_s4#ok#bt"/>
          <p:cNvSpPr txBox="1"/>
          <p:nvPr/>
        </p:nvSpPr>
        <p:spPr>
          <a:xfrm>
            <a:off x="8249717" y="3767328"/>
            <a:ext cx="868680" cy="292608"/>
          </a:xfrm>
          <a:prstGeom prst="rect">
            <a:avLst/>
          </a:prstGeom>
          <a:noFill/>
          <a:ln/>
        </p:spPr>
        <p:txBody>
          <a:bodyPr wrap="square" lIns="0" tIns="0" rIns="0" bIns="0" rtlCol="0" anchor="ctr"/>
          <a:lstStyle/>
          <a:p>
            <a:pPr algn="ctr" indent="0" marL="0">
              <a:buNone/>
            </a:pPr>
            <a:r>
              <a:rPr lang="en-US" sz="1100" b="1" dirty="0">
                <a:solidFill>
                  <a:srgbClr val="8FF08F"/>
                </a:solidFill>
                <a:latin typeface="Calibri" pitchFamily="34" charset="0"/>
                <a:ea typeface="Calibri" pitchFamily="34" charset="-122"/>
                <a:cs typeface="Calibri" pitchFamily="34" charset="-120"/>
              </a:rPr>
              <a:t>✓ done</a:t>
            </a:r>
            <a:endParaRPr lang="en-US" sz="1100" dirty="0"/>
          </a:p>
        </p:txBody>
      </p:sp>
      <p:sp>
        <p:nvSpPr>
          <p:cNvPr id="45" name="a_s5#box"/>
          <p:cNvSpPr/>
          <p:nvPr/>
        </p:nvSpPr>
        <p:spPr>
          <a:xfrm>
            <a:off x="9946386" y="1691640"/>
            <a:ext cx="1696669" cy="2514600"/>
          </a:xfrm>
          <a:prstGeom prst="roundRect">
            <a:avLst>
              <a:gd name="adj" fmla="val 5389"/>
            </a:avLst>
          </a:prstGeom>
          <a:solidFill>
            <a:srgbClr val="0F1B2D"/>
          </a:solidFill>
          <a:ln w="12700">
            <a:solidFill>
              <a:srgbClr val="23344F"/>
            </a:solidFill>
            <a:prstDash val="solid"/>
          </a:ln>
        </p:spPr>
      </p:sp>
      <p:sp>
        <p:nvSpPr>
          <p:cNvPr id="46" name="a_s5#o"/>
          <p:cNvSpPr/>
          <p:nvPr/>
        </p:nvSpPr>
        <p:spPr>
          <a:xfrm>
            <a:off x="10129266" y="1874520"/>
            <a:ext cx="457200" cy="457200"/>
          </a:xfrm>
          <a:prstGeom prst="ellipse">
            <a:avLst/>
          </a:prstGeom>
          <a:solidFill>
            <a:srgbClr val="1A2C47"/>
          </a:solidFill>
          <a:ln w="15875">
            <a:solidFill>
              <a:srgbClr val="4FD6F2"/>
            </a:solidFill>
            <a:prstDash val="solid"/>
          </a:ln>
        </p:spPr>
      </p:sp>
      <p:sp>
        <p:nvSpPr>
          <p:cNvPr id="47" name="a_s5#n"/>
          <p:cNvSpPr txBox="1"/>
          <p:nvPr/>
        </p:nvSpPr>
        <p:spPr>
          <a:xfrm>
            <a:off x="10129266" y="1874520"/>
            <a:ext cx="457200" cy="457200"/>
          </a:xfrm>
          <a:prstGeom prst="rect">
            <a:avLst/>
          </a:prstGeom>
          <a:noFill/>
          <a:ln/>
        </p:spPr>
        <p:txBody>
          <a:bodyPr wrap="square" lIns="0" tIns="0" rIns="0" bIns="0" rtlCol="0" anchor="ctr"/>
          <a:lstStyle/>
          <a:p>
            <a:pPr algn="ctr" indent="0" marL="0">
              <a:buNone/>
            </a:pPr>
            <a:r>
              <a:rPr lang="en-US" sz="1500" b="1" dirty="0">
                <a:solidFill>
                  <a:srgbClr val="4FD6F2"/>
                </a:solidFill>
                <a:latin typeface="Calibri" pitchFamily="34" charset="0"/>
                <a:ea typeface="Calibri" pitchFamily="34" charset="-122"/>
                <a:cs typeface="Calibri" pitchFamily="34" charset="-120"/>
              </a:rPr>
              <a:t>6</a:t>
            </a:r>
            <a:endParaRPr lang="en-US" sz="1500" dirty="0"/>
          </a:p>
        </p:txBody>
      </p:sp>
      <p:sp>
        <p:nvSpPr>
          <p:cNvPr id="48" name="a_s5#t"/>
          <p:cNvSpPr txBox="1"/>
          <p:nvPr/>
        </p:nvSpPr>
        <p:spPr>
          <a:xfrm>
            <a:off x="10129266" y="2450592"/>
            <a:ext cx="1404061" cy="512064"/>
          </a:xfrm>
          <a:prstGeom prst="rect">
            <a:avLst/>
          </a:prstGeom>
          <a:noFill/>
          <a:ln/>
        </p:spPr>
        <p:txBody>
          <a:bodyPr wrap="square" lIns="0" tIns="0" rIns="0" bIns="0" rtlCol="0" anchor="b"/>
          <a:lstStyle/>
          <a:p>
            <a:pPr indent="0" marL="0">
              <a:buNone/>
            </a:pPr>
            <a:r>
              <a:rPr lang="en-US" sz="1450" b="1" dirty="0">
                <a:solidFill>
                  <a:srgbClr val="EEF3FA"/>
                </a:solidFill>
                <a:latin typeface="Calibri" pitchFamily="34" charset="0"/>
                <a:ea typeface="Calibri" pitchFamily="34" charset="-122"/>
                <a:cs typeface="Calibri" pitchFamily="34" charset="-120"/>
              </a:rPr>
              <a:t>Refinement</a:t>
            </a:r>
            <a:endParaRPr lang="en-US" sz="1450" dirty="0"/>
          </a:p>
        </p:txBody>
      </p:sp>
      <p:sp>
        <p:nvSpPr>
          <p:cNvPr id="49" name="a_s5#f"/>
          <p:cNvSpPr txBox="1"/>
          <p:nvPr/>
        </p:nvSpPr>
        <p:spPr>
          <a:xfrm>
            <a:off x="10129266" y="2999232"/>
            <a:ext cx="1404061" cy="256032"/>
          </a:xfrm>
          <a:prstGeom prst="rect">
            <a:avLst/>
          </a:prstGeom>
          <a:noFill/>
          <a:ln/>
        </p:spPr>
        <p:txBody>
          <a:bodyPr wrap="square" lIns="0" tIns="0" rIns="0" bIns="0" rtlCol="0" anchor="t"/>
          <a:lstStyle/>
          <a:p>
            <a:pPr indent="0" marL="0">
              <a:buNone/>
            </a:pPr>
            <a:r>
              <a:rPr lang="en-US" sz="1050" dirty="0">
                <a:solidFill>
                  <a:srgbClr val="4FD6F2"/>
                </a:solidFill>
                <a:latin typeface="Calibri" pitchFamily="34" charset="0"/>
                <a:ea typeface="Calibri" pitchFamily="34" charset="-122"/>
                <a:cs typeface="Calibri" pitchFamily="34" charset="-120"/>
              </a:rPr>
              <a:t>refine/lm_solver.py</a:t>
            </a:r>
            <a:endParaRPr lang="en-US" sz="1050" dirty="0"/>
          </a:p>
        </p:txBody>
      </p:sp>
      <p:sp>
        <p:nvSpPr>
          <p:cNvPr id="50" name="a_s5#d"/>
          <p:cNvSpPr txBox="1"/>
          <p:nvPr/>
        </p:nvSpPr>
        <p:spPr>
          <a:xfrm>
            <a:off x="10129266" y="3255264"/>
            <a:ext cx="1404061" cy="457200"/>
          </a:xfrm>
          <a:prstGeom prst="rect">
            <a:avLst/>
          </a:prstGeom>
          <a:noFill/>
          <a:ln/>
        </p:spPr>
        <p:txBody>
          <a:bodyPr wrap="square" lIns="0" tIns="0" rIns="0" bIns="0" rtlCol="0" anchor="t"/>
          <a:lstStyle/>
          <a:p>
            <a:pPr indent="0" marL="0">
              <a:buNone/>
            </a:pPr>
            <a:r>
              <a:rPr lang="en-US" sz="1150" dirty="0">
                <a:solidFill>
                  <a:srgbClr val="AEBBD0"/>
                </a:solidFill>
                <a:latin typeface="Calibri" pitchFamily="34" charset="0"/>
                <a:ea typeface="Calibri" pitchFamily="34" charset="-122"/>
                <a:cs typeface="Calibri" pitchFamily="34" charset="-120"/>
              </a:rPr>
              <a:t>below 1 mm and 1°</a:t>
            </a:r>
            <a:endParaRPr lang="en-US" sz="1150" dirty="0"/>
          </a:p>
        </p:txBody>
      </p:sp>
      <p:sp>
        <p:nvSpPr>
          <p:cNvPr id="51" name="a_s5#ok#bb"/>
          <p:cNvSpPr/>
          <p:nvPr/>
        </p:nvSpPr>
        <p:spPr>
          <a:xfrm>
            <a:off x="10129266" y="3767328"/>
            <a:ext cx="868680" cy="292608"/>
          </a:xfrm>
          <a:prstGeom prst="roundRect">
            <a:avLst>
              <a:gd name="adj" fmla="val 50000"/>
            </a:avLst>
          </a:prstGeom>
          <a:solidFill>
            <a:srgbClr val="14233A"/>
          </a:solidFill>
          <a:ln w="12700">
            <a:solidFill>
              <a:srgbClr val="0CA30C"/>
            </a:solidFill>
            <a:prstDash val="solid"/>
          </a:ln>
        </p:spPr>
      </p:sp>
      <p:sp>
        <p:nvSpPr>
          <p:cNvPr id="52" name="a_s5#ok#bt"/>
          <p:cNvSpPr txBox="1"/>
          <p:nvPr/>
        </p:nvSpPr>
        <p:spPr>
          <a:xfrm>
            <a:off x="10129266" y="3767328"/>
            <a:ext cx="868680" cy="292608"/>
          </a:xfrm>
          <a:prstGeom prst="rect">
            <a:avLst/>
          </a:prstGeom>
          <a:noFill/>
          <a:ln/>
        </p:spPr>
        <p:txBody>
          <a:bodyPr wrap="square" lIns="0" tIns="0" rIns="0" bIns="0" rtlCol="0" anchor="ctr"/>
          <a:lstStyle/>
          <a:p>
            <a:pPr algn="ctr" indent="0" marL="0">
              <a:buNone/>
            </a:pPr>
            <a:r>
              <a:rPr lang="en-US" sz="1100" b="1" dirty="0">
                <a:solidFill>
                  <a:srgbClr val="8FF08F"/>
                </a:solidFill>
                <a:latin typeface="Calibri" pitchFamily="34" charset="0"/>
                <a:ea typeface="Calibri" pitchFamily="34" charset="-122"/>
                <a:cs typeface="Calibri" pitchFamily="34" charset="-120"/>
              </a:rPr>
              <a:t>✓ done</a:t>
            </a:r>
            <a:endParaRPr lang="en-US" sz="1100" dirty="0"/>
          </a:p>
        </p:txBody>
      </p:sp>
      <p:sp>
        <p:nvSpPr>
          <p:cNvPr id="53" name="a_beyond"/>
          <p:cNvSpPr txBox="1"/>
          <p:nvPr/>
        </p:nvSpPr>
        <p:spPr>
          <a:xfrm>
            <a:off x="548640" y="4526280"/>
            <a:ext cx="5486400" cy="292608"/>
          </a:xfrm>
          <a:prstGeom prst="rect">
            <a:avLst/>
          </a:prstGeom>
          <a:noFill/>
          <a:ln/>
        </p:spPr>
        <p:txBody>
          <a:bodyPr wrap="square" lIns="0" tIns="0" rIns="0" bIns="0" rtlCol="0" anchor="t"/>
          <a:lstStyle/>
          <a:p>
            <a:pPr indent="0" marL="0">
              <a:buNone/>
            </a:pPr>
            <a:r>
              <a:rPr lang="en-US" sz="1300" b="1" dirty="0">
                <a:solidFill>
                  <a:srgbClr val="EEF3FA"/>
                </a:solidFill>
                <a:latin typeface="Calibri" pitchFamily="34" charset="0"/>
                <a:ea typeface="Calibri" pitchFamily="34" charset="-122"/>
                <a:cs typeface="Calibri" pitchFamily="34" charset="-120"/>
              </a:rPr>
              <a:t>Beyond the original plan</a:t>
            </a:r>
            <a:endParaRPr lang="en-US" sz="1300" dirty="0"/>
          </a:p>
        </p:txBody>
      </p:sp>
      <p:sp>
        <p:nvSpPr>
          <p:cNvPr id="54" name="a_x0#b"/>
          <p:cNvSpPr/>
          <p:nvPr/>
        </p:nvSpPr>
        <p:spPr>
          <a:xfrm>
            <a:off x="548640" y="4919472"/>
            <a:ext cx="2743200" cy="402336"/>
          </a:xfrm>
          <a:prstGeom prst="roundRect">
            <a:avLst>
              <a:gd name="adj" fmla="val 50000"/>
            </a:avLst>
          </a:prstGeom>
          <a:solidFill>
            <a:srgbClr val="14233A"/>
          </a:solidFill>
          <a:ln w="12700">
            <a:solidFill>
              <a:srgbClr val="4FD6F2"/>
            </a:solidFill>
            <a:prstDash val="solid"/>
          </a:ln>
        </p:spPr>
      </p:sp>
      <p:sp>
        <p:nvSpPr>
          <p:cNvPr id="55" name="a_x0#t"/>
          <p:cNvSpPr txBox="1"/>
          <p:nvPr/>
        </p:nvSpPr>
        <p:spPr>
          <a:xfrm>
            <a:off x="548640" y="4919472"/>
            <a:ext cx="2743200" cy="402336"/>
          </a:xfrm>
          <a:prstGeom prst="rect">
            <a:avLst/>
          </a:prstGeom>
          <a:noFill/>
          <a:ln/>
        </p:spPr>
        <p:txBody>
          <a:bodyPr wrap="square" lIns="0" tIns="0" rIns="0" bIns="0" rtlCol="0" anchor="ctr"/>
          <a:lstStyle/>
          <a:p>
            <a:pPr algn="ctr" indent="0" marL="0">
              <a:buNone/>
            </a:pPr>
            <a:r>
              <a:rPr lang="en-US" sz="1200" dirty="0">
                <a:solidFill>
                  <a:srgbClr val="EEF3FA"/>
                </a:solidFill>
                <a:latin typeface="Calibri" pitchFamily="34" charset="0"/>
                <a:ea typeface="Calibri" pitchFamily="34" charset="-122"/>
                <a:cs typeface="Calibri" pitchFamily="34" charset="-120"/>
              </a:rPr>
              <a:t>2.05 M-parameter residual network</a:t>
            </a:r>
            <a:endParaRPr lang="en-US" sz="1200" dirty="0"/>
          </a:p>
        </p:txBody>
      </p:sp>
      <p:sp>
        <p:nvSpPr>
          <p:cNvPr id="56" name="a_x1#b"/>
          <p:cNvSpPr/>
          <p:nvPr/>
        </p:nvSpPr>
        <p:spPr>
          <a:xfrm>
            <a:off x="3364992" y="4919472"/>
            <a:ext cx="3017520" cy="402336"/>
          </a:xfrm>
          <a:prstGeom prst="roundRect">
            <a:avLst>
              <a:gd name="adj" fmla="val 50000"/>
            </a:avLst>
          </a:prstGeom>
          <a:solidFill>
            <a:srgbClr val="14233A"/>
          </a:solidFill>
          <a:ln w="12700">
            <a:solidFill>
              <a:srgbClr val="4FD6F2"/>
            </a:solidFill>
            <a:prstDash val="solid"/>
          </a:ln>
        </p:spPr>
      </p:sp>
      <p:sp>
        <p:nvSpPr>
          <p:cNvPr id="57" name="a_x1#t"/>
          <p:cNvSpPr txBox="1"/>
          <p:nvPr/>
        </p:nvSpPr>
        <p:spPr>
          <a:xfrm>
            <a:off x="3364992" y="4919472"/>
            <a:ext cx="3017520" cy="402336"/>
          </a:xfrm>
          <a:prstGeom prst="rect">
            <a:avLst/>
          </a:prstGeom>
          <a:noFill/>
          <a:ln/>
        </p:spPr>
        <p:txBody>
          <a:bodyPr wrap="square" lIns="0" tIns="0" rIns="0" bIns="0" rtlCol="0" anchor="ctr"/>
          <a:lstStyle/>
          <a:p>
            <a:pPr algn="ctr" indent="0" marL="0">
              <a:buNone/>
            </a:pPr>
            <a:r>
              <a:rPr lang="en-US" sz="1200" dirty="0">
                <a:solidFill>
                  <a:srgbClr val="EEF3FA"/>
                </a:solidFill>
                <a:latin typeface="Calibri" pitchFamily="34" charset="0"/>
                <a:ea typeface="Calibri" pitchFamily="34" charset="-122"/>
                <a:cs typeface="Calibri" pitchFamily="34" charset="-120"/>
              </a:rPr>
              <a:t>LM refinement with collision-free retry</a:t>
            </a:r>
            <a:endParaRPr lang="en-US" sz="1200" dirty="0"/>
          </a:p>
        </p:txBody>
      </p:sp>
      <p:sp>
        <p:nvSpPr>
          <p:cNvPr id="58" name="a_x2#b"/>
          <p:cNvSpPr/>
          <p:nvPr/>
        </p:nvSpPr>
        <p:spPr>
          <a:xfrm>
            <a:off x="6455664" y="4919472"/>
            <a:ext cx="2331720" cy="402336"/>
          </a:xfrm>
          <a:prstGeom prst="roundRect">
            <a:avLst>
              <a:gd name="adj" fmla="val 50000"/>
            </a:avLst>
          </a:prstGeom>
          <a:solidFill>
            <a:srgbClr val="14233A"/>
          </a:solidFill>
          <a:ln w="12700">
            <a:solidFill>
              <a:srgbClr val="4FD6F2"/>
            </a:solidFill>
            <a:prstDash val="solid"/>
          </a:ln>
        </p:spPr>
      </p:sp>
      <p:sp>
        <p:nvSpPr>
          <p:cNvPr id="59" name="a_x2#t"/>
          <p:cNvSpPr txBox="1"/>
          <p:nvPr/>
        </p:nvSpPr>
        <p:spPr>
          <a:xfrm>
            <a:off x="6455664" y="4919472"/>
            <a:ext cx="2331720" cy="402336"/>
          </a:xfrm>
          <a:prstGeom prst="rect">
            <a:avLst/>
          </a:prstGeom>
          <a:noFill/>
          <a:ln/>
        </p:spPr>
        <p:txBody>
          <a:bodyPr wrap="square" lIns="0" tIns="0" rIns="0" bIns="0" rtlCol="0" anchor="ctr"/>
          <a:lstStyle/>
          <a:p>
            <a:pPr algn="ctr" indent="0" marL="0">
              <a:buNone/>
            </a:pPr>
            <a:r>
              <a:rPr lang="en-US" sz="1200" dirty="0">
                <a:solidFill>
                  <a:srgbClr val="EEF3FA"/>
                </a:solidFill>
                <a:latin typeface="Calibri" pitchFamily="34" charset="0"/>
                <a:ea typeface="Calibri" pitchFamily="34" charset="-122"/>
                <a:cs typeface="Calibri" pitchFamily="34" charset="-120"/>
              </a:rPr>
              <a:t>Neural IK Studio (web app)</a:t>
            </a:r>
            <a:endParaRPr lang="en-US" sz="1200" dirty="0"/>
          </a:p>
        </p:txBody>
      </p:sp>
      <p:sp>
        <p:nvSpPr>
          <p:cNvPr id="60" name="a_x3#b"/>
          <p:cNvSpPr/>
          <p:nvPr/>
        </p:nvSpPr>
        <p:spPr>
          <a:xfrm>
            <a:off x="8860536" y="4919472"/>
            <a:ext cx="2788920" cy="402336"/>
          </a:xfrm>
          <a:prstGeom prst="roundRect">
            <a:avLst>
              <a:gd name="adj" fmla="val 50000"/>
            </a:avLst>
          </a:prstGeom>
          <a:solidFill>
            <a:srgbClr val="14233A"/>
          </a:solidFill>
          <a:ln w="12700">
            <a:solidFill>
              <a:srgbClr val="4FD6F2"/>
            </a:solidFill>
            <a:prstDash val="solid"/>
          </a:ln>
        </p:spPr>
      </p:sp>
      <p:sp>
        <p:nvSpPr>
          <p:cNvPr id="61" name="a_x3#t"/>
          <p:cNvSpPr txBox="1"/>
          <p:nvPr/>
        </p:nvSpPr>
        <p:spPr>
          <a:xfrm>
            <a:off x="8860536" y="4919472"/>
            <a:ext cx="2788920" cy="402336"/>
          </a:xfrm>
          <a:prstGeom prst="rect">
            <a:avLst/>
          </a:prstGeom>
          <a:noFill/>
          <a:ln/>
        </p:spPr>
        <p:txBody>
          <a:bodyPr wrap="square" lIns="0" tIns="0" rIns="0" bIns="0" rtlCol="0" anchor="ctr"/>
          <a:lstStyle/>
          <a:p>
            <a:pPr algn="ctr" indent="0" marL="0">
              <a:buNone/>
            </a:pPr>
            <a:r>
              <a:rPr lang="en-US" sz="1200" dirty="0">
                <a:solidFill>
                  <a:srgbClr val="EEF3FA"/>
                </a:solidFill>
                <a:latin typeface="Calibri" pitchFamily="34" charset="0"/>
                <a:ea typeface="Calibri" pitchFamily="34" charset="-122"/>
                <a:cs typeface="Calibri" pitchFamily="34" charset="-120"/>
              </a:rPr>
              <a:t>Level 2 agent + Level 1 + 2 missions</a:t>
            </a:r>
            <a:endParaRPr lang="en-US" sz="1200" dirty="0"/>
          </a:p>
        </p:txBody>
      </p:sp>
      <p:sp>
        <p:nvSpPr>
          <p:cNvPr id="62" name="Text 59"/>
          <p:cNvSpPr txBox="1"/>
          <p:nvPr/>
        </p:nvSpPr>
        <p:spPr>
          <a:xfrm>
            <a:off x="548640" y="5760720"/>
            <a:ext cx="8229600" cy="274320"/>
          </a:xfrm>
          <a:prstGeom prst="rect">
            <a:avLst/>
          </a:prstGeom>
          <a:noFill/>
          <a:ln/>
        </p:spPr>
        <p:txBody>
          <a:bodyPr wrap="square" lIns="0" tIns="0" rIns="0" bIns="0" rtlCol="0" anchor="t"/>
          <a:lstStyle/>
          <a:p>
            <a:pPr indent="0" marL="0">
              <a:buNone/>
            </a:pPr>
            <a:r>
              <a:rPr lang="en-US" sz="1100" dirty="0">
                <a:solidFill>
                  <a:srgbClr val="7F8FA8"/>
                </a:solidFill>
                <a:latin typeface="Calibri" pitchFamily="34" charset="0"/>
                <a:ea typeface="Calibri" pitchFamily="34" charset="-122"/>
                <a:cs typeface="Calibri" pitchFamily="34" charset="-120"/>
              </a:rPr>
              <a:t>Plan: "Level 1 Implementation Plan — Neural IK for 6/7-DOF Manipulators" (PDF in the repository).</a:t>
            </a:r>
            <a:endParaRPr lang="en-US" sz="1100" dirty="0"/>
          </a:p>
        </p:txBody>
      </p:sp>
      <p:sp>
        <p:nvSpPr>
          <p:cNvPr id="25" name="Slide Number Placeholder 0"/>
          <p:cNvSpPr>
            <a:spLocks noGrp="1"/>
          </p:cNvSpPr>
          <p:nvPr>
            <p:ph type="sldNum" sz="quarter" idx="4294967295"/>
          </p:nvPr>
        </p:nvSpPr>
        <p:spPr>
          <a:xfrm>
            <a:off x="11094415" y="6446520"/>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7F8FA8"/>
                </a:solidFill>
              </a:defRPr>
            </a:lvl1pPr>
          </a:lstStyle>
          <a:p>
            <a:pPr algn="r"/>
            <a:fld id="{F7021451-1387-4CA6-816F-3879F97B5CBC}" type="slidenum">
              <a:rPr b="0" lang="en-US"/>
              <a:t>4</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28" fill="hold">
                            <p:stCondLst>
                              <p:cond delay="0"/>
                            </p:stCondLst>
                            <p:childTnLst>
                              <p:par>
                                <p:cTn id="4" presetID="10" presetClass="entr" presetSubtype="0" fill="hold" grpId="0" nodeType="afterEffect">
                                  <p:stCondLst>
                                    <p:cond delay="0"/>
                                  </p:stCondLst>
                                  <p:childTnLst>
                                    <p:set>
                                      <p:cBhvr>
                                        <p:cTn id="5" dur="1" fill="hold">
                                          <p:stCondLst>
                                            <p:cond delay="0"/>
                                          </p:stCondLst>
                                        </p:cTn>
                                        <p:tgtEl>
                                          <p:spTgt spid="5"/>
                                        </p:tgtEl>
                                        <p:attrNameLst>
                                          <p:attrName>style.visibility</p:attrName>
                                        </p:attrNameLst>
                                      </p:cBhvr>
                                      <p:to>
                                        <p:strVal val="visible"/>
                                      </p:to>
                                    </p:set>
                                    <p:animEffect transition="in" filter="fade">
                                      <p:cBhvr>
                                        <p:cTn id="6" dur="420"/>
                                        <p:tgtEl>
                                          <p:spTgt spid="5"/>
                                        </p:tgtEl>
                                      </p:cBhvr>
                                    </p:animEffect>
                                  </p:childTnLst>
                                </p:cTn>
                              </p:par>
                              <p:par>
                                <p:cTn id="7" presetID="10"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animEffect transition="in" filter="fade">
                                      <p:cBhvr>
                                        <p:cTn id="9" dur="420"/>
                                        <p:tgtEl>
                                          <p:spTgt spid="6"/>
                                        </p:tgtEl>
                                      </p:cBhvr>
                                    </p:animEffect>
                                  </p:childTnLst>
                                </p:cTn>
                              </p:par>
                              <p:par>
                                <p:cTn id="10" presetID="10" presetClass="entr" presetSubtype="0" fill="hold" grpId="0" nodeType="with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420"/>
                                        <p:tgtEl>
                                          <p:spTgt spid="7"/>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420"/>
                                        <p:tgtEl>
                                          <p:spTgt spid="8"/>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9"/>
                                        </p:tgtEl>
                                        <p:attrNameLst>
                                          <p:attrName>style.visibility</p:attrName>
                                        </p:attrNameLst>
                                      </p:cBhvr>
                                      <p:to>
                                        <p:strVal val="visible"/>
                                      </p:to>
                                    </p:set>
                                    <p:animEffect transition="in" filter="fade">
                                      <p:cBhvr>
                                        <p:cTn id="18" dur="420"/>
                                        <p:tgtEl>
                                          <p:spTgt spid="9"/>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fade">
                                      <p:cBhvr>
                                        <p:cTn id="21" dur="420"/>
                                        <p:tgtEl>
                                          <p:spTgt spid="10"/>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420"/>
                                        <p:tgtEl>
                                          <p:spTgt spid="11"/>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420"/>
                                        <p:tgtEl>
                                          <p:spTgt spid="12"/>
                                        </p:tgtEl>
                                      </p:cBhvr>
                                    </p:animEffect>
                                  </p:childTnLst>
                                </p:cTn>
                              </p:par>
                            </p:childTnLst>
                          </p:cTn>
                        </p:par>
                        <p:par>
                          <p:cTn id="53" fill="hold">
                            <p:stCondLst>
                              <p:cond delay="0"/>
                            </p:stCondLst>
                            <p:childTnLst>
                              <p:par>
                                <p:cTn id="29" presetID="10" presetClass="entr" presetSubtype="0" fill="hold" grpId="0" nodeType="afterEffect">
                                  <p:stCondLst>
                                    <p:cond delay="0"/>
                                  </p:stCondLst>
                                  <p:childTnLst>
                                    <p:set>
                                      <p:cBhvr>
                                        <p:cTn id="30" dur="1" fill="hold">
                                          <p:stCondLst>
                                            <p:cond delay="0"/>
                                          </p:stCondLst>
                                        </p:cTn>
                                        <p:tgtEl>
                                          <p:spTgt spid="13"/>
                                        </p:tgtEl>
                                        <p:attrNameLst>
                                          <p:attrName>style.visibility</p:attrName>
                                        </p:attrNameLst>
                                      </p:cBhvr>
                                      <p:to>
                                        <p:strVal val="visible"/>
                                      </p:to>
                                    </p:set>
                                    <p:animEffect transition="in" filter="fade">
                                      <p:cBhvr>
                                        <p:cTn id="31" dur="420"/>
                                        <p:tgtEl>
                                          <p:spTgt spid="13"/>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4"/>
                                        </p:tgtEl>
                                        <p:attrNameLst>
                                          <p:attrName>style.visibility</p:attrName>
                                        </p:attrNameLst>
                                      </p:cBhvr>
                                      <p:to>
                                        <p:strVal val="visible"/>
                                      </p:to>
                                    </p:set>
                                    <p:animEffect transition="in" filter="fade">
                                      <p:cBhvr>
                                        <p:cTn id="34" dur="420"/>
                                        <p:tgtEl>
                                          <p:spTgt spid="14"/>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15"/>
                                        </p:tgtEl>
                                        <p:attrNameLst>
                                          <p:attrName>style.visibility</p:attrName>
                                        </p:attrNameLst>
                                      </p:cBhvr>
                                      <p:to>
                                        <p:strVal val="visible"/>
                                      </p:to>
                                    </p:set>
                                    <p:animEffect transition="in" filter="fade">
                                      <p:cBhvr>
                                        <p:cTn id="37" dur="420"/>
                                        <p:tgtEl>
                                          <p:spTgt spid="15"/>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6"/>
                                        </p:tgtEl>
                                        <p:attrNameLst>
                                          <p:attrName>style.visibility</p:attrName>
                                        </p:attrNameLst>
                                      </p:cBhvr>
                                      <p:to>
                                        <p:strVal val="visible"/>
                                      </p:to>
                                    </p:set>
                                    <p:animEffect transition="in" filter="fade">
                                      <p:cBhvr>
                                        <p:cTn id="40" dur="420"/>
                                        <p:tgtEl>
                                          <p:spTgt spid="16"/>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7"/>
                                        </p:tgtEl>
                                        <p:attrNameLst>
                                          <p:attrName>style.visibility</p:attrName>
                                        </p:attrNameLst>
                                      </p:cBhvr>
                                      <p:to>
                                        <p:strVal val="visible"/>
                                      </p:to>
                                    </p:set>
                                    <p:animEffect transition="in" filter="fade">
                                      <p:cBhvr>
                                        <p:cTn id="43" dur="420"/>
                                        <p:tgtEl>
                                          <p:spTgt spid="17"/>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8"/>
                                        </p:tgtEl>
                                        <p:attrNameLst>
                                          <p:attrName>style.visibility</p:attrName>
                                        </p:attrNameLst>
                                      </p:cBhvr>
                                      <p:to>
                                        <p:strVal val="visible"/>
                                      </p:to>
                                    </p:set>
                                    <p:animEffect transition="in" filter="fade">
                                      <p:cBhvr>
                                        <p:cTn id="46" dur="420"/>
                                        <p:tgtEl>
                                          <p:spTgt spid="18"/>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9"/>
                                        </p:tgtEl>
                                        <p:attrNameLst>
                                          <p:attrName>style.visibility</p:attrName>
                                        </p:attrNameLst>
                                      </p:cBhvr>
                                      <p:to>
                                        <p:strVal val="visible"/>
                                      </p:to>
                                    </p:set>
                                    <p:animEffect transition="in" filter="fade">
                                      <p:cBhvr>
                                        <p:cTn id="49" dur="420"/>
                                        <p:tgtEl>
                                          <p:spTgt spid="19"/>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20"/>
                                        </p:tgtEl>
                                        <p:attrNameLst>
                                          <p:attrName>style.visibility</p:attrName>
                                        </p:attrNameLst>
                                      </p:cBhvr>
                                      <p:to>
                                        <p:strVal val="visible"/>
                                      </p:to>
                                    </p:set>
                                    <p:animEffect transition="in" filter="fade">
                                      <p:cBhvr>
                                        <p:cTn id="52" dur="420"/>
                                        <p:tgtEl>
                                          <p:spTgt spid="20"/>
                                        </p:tgtEl>
                                      </p:cBhvr>
                                    </p:animEffect>
                                  </p:childTnLst>
                                </p:cTn>
                              </p:par>
                            </p:childTnLst>
                          </p:cTn>
                        </p:par>
                        <p:par>
                          <p:cTn id="78" fill="hold">
                            <p:stCondLst>
                              <p:cond delay="260"/>
                            </p:stCondLst>
                            <p:childTnLst>
                              <p:par>
                                <p:cTn id="54" presetID="10" presetClass="entr" presetSubtype="0" fill="hold" grpId="0" nodeType="afterEffect">
                                  <p:stCondLst>
                                    <p:cond delay="0"/>
                                  </p:stCondLst>
                                  <p:childTnLst>
                                    <p:set>
                                      <p:cBhvr>
                                        <p:cTn id="55" dur="1" fill="hold">
                                          <p:stCondLst>
                                            <p:cond delay="0"/>
                                          </p:stCondLst>
                                        </p:cTn>
                                        <p:tgtEl>
                                          <p:spTgt spid="21"/>
                                        </p:tgtEl>
                                        <p:attrNameLst>
                                          <p:attrName>style.visibility</p:attrName>
                                        </p:attrNameLst>
                                      </p:cBhvr>
                                      <p:to>
                                        <p:strVal val="visible"/>
                                      </p:to>
                                    </p:set>
                                    <p:animEffect transition="in" filter="fade">
                                      <p:cBhvr>
                                        <p:cTn id="56" dur="420"/>
                                        <p:tgtEl>
                                          <p:spTgt spid="21"/>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2"/>
                                        </p:tgtEl>
                                        <p:attrNameLst>
                                          <p:attrName>style.visibility</p:attrName>
                                        </p:attrNameLst>
                                      </p:cBhvr>
                                      <p:to>
                                        <p:strVal val="visible"/>
                                      </p:to>
                                    </p:set>
                                    <p:animEffect transition="in" filter="fade">
                                      <p:cBhvr>
                                        <p:cTn id="59" dur="420"/>
                                        <p:tgtEl>
                                          <p:spTgt spid="22"/>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3"/>
                                        </p:tgtEl>
                                        <p:attrNameLst>
                                          <p:attrName>style.visibility</p:attrName>
                                        </p:attrNameLst>
                                      </p:cBhvr>
                                      <p:to>
                                        <p:strVal val="visible"/>
                                      </p:to>
                                    </p:set>
                                    <p:animEffect transition="in" filter="fade">
                                      <p:cBhvr>
                                        <p:cTn id="62" dur="420"/>
                                        <p:tgtEl>
                                          <p:spTgt spid="23"/>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24"/>
                                        </p:tgtEl>
                                        <p:attrNameLst>
                                          <p:attrName>style.visibility</p:attrName>
                                        </p:attrNameLst>
                                      </p:cBhvr>
                                      <p:to>
                                        <p:strVal val="visible"/>
                                      </p:to>
                                    </p:set>
                                    <p:animEffect transition="in" filter="fade">
                                      <p:cBhvr>
                                        <p:cTn id="65" dur="420"/>
                                        <p:tgtEl>
                                          <p:spTgt spid="24"/>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25"/>
                                        </p:tgtEl>
                                        <p:attrNameLst>
                                          <p:attrName>style.visibility</p:attrName>
                                        </p:attrNameLst>
                                      </p:cBhvr>
                                      <p:to>
                                        <p:strVal val="visible"/>
                                      </p:to>
                                    </p:set>
                                    <p:animEffect transition="in" filter="fade">
                                      <p:cBhvr>
                                        <p:cTn id="68" dur="420"/>
                                        <p:tgtEl>
                                          <p:spTgt spid="25"/>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26"/>
                                        </p:tgtEl>
                                        <p:attrNameLst>
                                          <p:attrName>style.visibility</p:attrName>
                                        </p:attrNameLst>
                                      </p:cBhvr>
                                      <p:to>
                                        <p:strVal val="visible"/>
                                      </p:to>
                                    </p:set>
                                    <p:animEffect transition="in" filter="fade">
                                      <p:cBhvr>
                                        <p:cTn id="71" dur="420"/>
                                        <p:tgtEl>
                                          <p:spTgt spid="26"/>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27"/>
                                        </p:tgtEl>
                                        <p:attrNameLst>
                                          <p:attrName>style.visibility</p:attrName>
                                        </p:attrNameLst>
                                      </p:cBhvr>
                                      <p:to>
                                        <p:strVal val="visible"/>
                                      </p:to>
                                    </p:set>
                                    <p:animEffect transition="in" filter="fade">
                                      <p:cBhvr>
                                        <p:cTn id="74" dur="420"/>
                                        <p:tgtEl>
                                          <p:spTgt spid="27"/>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28"/>
                                        </p:tgtEl>
                                        <p:attrNameLst>
                                          <p:attrName>style.visibility</p:attrName>
                                        </p:attrNameLst>
                                      </p:cBhvr>
                                      <p:to>
                                        <p:strVal val="visible"/>
                                      </p:to>
                                    </p:set>
                                    <p:animEffect transition="in" filter="fade">
                                      <p:cBhvr>
                                        <p:cTn id="77" dur="420"/>
                                        <p:tgtEl>
                                          <p:spTgt spid="28"/>
                                        </p:tgtEl>
                                      </p:cBhvr>
                                    </p:animEffect>
                                  </p:childTnLst>
                                </p:cTn>
                              </p:par>
                            </p:childTnLst>
                          </p:cTn>
                        </p:par>
                        <p:par>
                          <p:cTn id="103" fill="hold">
                            <p:stCondLst>
                              <p:cond delay="520"/>
                            </p:stCondLst>
                            <p:childTnLst>
                              <p:par>
                                <p:cTn id="79" presetID="10" presetClass="entr" presetSubtype="0" fill="hold" grpId="0" nodeType="afterEffect">
                                  <p:stCondLst>
                                    <p:cond delay="0"/>
                                  </p:stCondLst>
                                  <p:childTnLst>
                                    <p:set>
                                      <p:cBhvr>
                                        <p:cTn id="80" dur="1" fill="hold">
                                          <p:stCondLst>
                                            <p:cond delay="0"/>
                                          </p:stCondLst>
                                        </p:cTn>
                                        <p:tgtEl>
                                          <p:spTgt spid="29"/>
                                        </p:tgtEl>
                                        <p:attrNameLst>
                                          <p:attrName>style.visibility</p:attrName>
                                        </p:attrNameLst>
                                      </p:cBhvr>
                                      <p:to>
                                        <p:strVal val="visible"/>
                                      </p:to>
                                    </p:set>
                                    <p:animEffect transition="in" filter="fade">
                                      <p:cBhvr>
                                        <p:cTn id="81" dur="420"/>
                                        <p:tgtEl>
                                          <p:spTgt spid="29"/>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30"/>
                                        </p:tgtEl>
                                        <p:attrNameLst>
                                          <p:attrName>style.visibility</p:attrName>
                                        </p:attrNameLst>
                                      </p:cBhvr>
                                      <p:to>
                                        <p:strVal val="visible"/>
                                      </p:to>
                                    </p:set>
                                    <p:animEffect transition="in" filter="fade">
                                      <p:cBhvr>
                                        <p:cTn id="84" dur="420"/>
                                        <p:tgtEl>
                                          <p:spTgt spid="30"/>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31"/>
                                        </p:tgtEl>
                                        <p:attrNameLst>
                                          <p:attrName>style.visibility</p:attrName>
                                        </p:attrNameLst>
                                      </p:cBhvr>
                                      <p:to>
                                        <p:strVal val="visible"/>
                                      </p:to>
                                    </p:set>
                                    <p:animEffect transition="in" filter="fade">
                                      <p:cBhvr>
                                        <p:cTn id="87" dur="420"/>
                                        <p:tgtEl>
                                          <p:spTgt spid="31"/>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32"/>
                                        </p:tgtEl>
                                        <p:attrNameLst>
                                          <p:attrName>style.visibility</p:attrName>
                                        </p:attrNameLst>
                                      </p:cBhvr>
                                      <p:to>
                                        <p:strVal val="visible"/>
                                      </p:to>
                                    </p:set>
                                    <p:animEffect transition="in" filter="fade">
                                      <p:cBhvr>
                                        <p:cTn id="90" dur="420"/>
                                        <p:tgtEl>
                                          <p:spTgt spid="32"/>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33"/>
                                        </p:tgtEl>
                                        <p:attrNameLst>
                                          <p:attrName>style.visibility</p:attrName>
                                        </p:attrNameLst>
                                      </p:cBhvr>
                                      <p:to>
                                        <p:strVal val="visible"/>
                                      </p:to>
                                    </p:set>
                                    <p:animEffect transition="in" filter="fade">
                                      <p:cBhvr>
                                        <p:cTn id="93" dur="420"/>
                                        <p:tgtEl>
                                          <p:spTgt spid="33"/>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34"/>
                                        </p:tgtEl>
                                        <p:attrNameLst>
                                          <p:attrName>style.visibility</p:attrName>
                                        </p:attrNameLst>
                                      </p:cBhvr>
                                      <p:to>
                                        <p:strVal val="visible"/>
                                      </p:to>
                                    </p:set>
                                    <p:animEffect transition="in" filter="fade">
                                      <p:cBhvr>
                                        <p:cTn id="96" dur="420"/>
                                        <p:tgtEl>
                                          <p:spTgt spid="34"/>
                                        </p:tgtEl>
                                      </p:cBhvr>
                                    </p:animEffect>
                                  </p:childTnLst>
                                </p:cTn>
                              </p:par>
                              <p:par>
                                <p:cTn id="97" presetID="10" presetClass="entr" presetSubtype="0" fill="hold" grpId="0" nodeType="withEffect">
                                  <p:stCondLst>
                                    <p:cond delay="0"/>
                                  </p:stCondLst>
                                  <p:childTnLst>
                                    <p:set>
                                      <p:cBhvr>
                                        <p:cTn id="98" dur="1" fill="hold">
                                          <p:stCondLst>
                                            <p:cond delay="0"/>
                                          </p:stCondLst>
                                        </p:cTn>
                                        <p:tgtEl>
                                          <p:spTgt spid="35"/>
                                        </p:tgtEl>
                                        <p:attrNameLst>
                                          <p:attrName>style.visibility</p:attrName>
                                        </p:attrNameLst>
                                      </p:cBhvr>
                                      <p:to>
                                        <p:strVal val="visible"/>
                                      </p:to>
                                    </p:set>
                                    <p:animEffect transition="in" filter="fade">
                                      <p:cBhvr>
                                        <p:cTn id="99" dur="420"/>
                                        <p:tgtEl>
                                          <p:spTgt spid="35"/>
                                        </p:tgtEl>
                                      </p:cBhvr>
                                    </p:animEffect>
                                  </p:childTnLst>
                                </p:cTn>
                              </p:par>
                              <p:par>
                                <p:cTn id="100" presetID="10" presetClass="entr" presetSubtype="0" fill="hold" grpId="0" nodeType="withEffect">
                                  <p:stCondLst>
                                    <p:cond delay="0"/>
                                  </p:stCondLst>
                                  <p:childTnLst>
                                    <p:set>
                                      <p:cBhvr>
                                        <p:cTn id="101" dur="1" fill="hold">
                                          <p:stCondLst>
                                            <p:cond delay="0"/>
                                          </p:stCondLst>
                                        </p:cTn>
                                        <p:tgtEl>
                                          <p:spTgt spid="36"/>
                                        </p:tgtEl>
                                        <p:attrNameLst>
                                          <p:attrName>style.visibility</p:attrName>
                                        </p:attrNameLst>
                                      </p:cBhvr>
                                      <p:to>
                                        <p:strVal val="visible"/>
                                      </p:to>
                                    </p:set>
                                    <p:animEffect transition="in" filter="fade">
                                      <p:cBhvr>
                                        <p:cTn id="102" dur="420"/>
                                        <p:tgtEl>
                                          <p:spTgt spid="36"/>
                                        </p:tgtEl>
                                      </p:cBhvr>
                                    </p:animEffect>
                                  </p:childTnLst>
                                </p:cTn>
                              </p:par>
                            </p:childTnLst>
                          </p:cTn>
                        </p:par>
                        <p:par>
                          <p:cTn id="128" fill="hold">
                            <p:stCondLst>
                              <p:cond delay="780"/>
                            </p:stCondLst>
                            <p:childTnLst>
                              <p:par>
                                <p:cTn id="104" presetID="10" presetClass="entr" presetSubtype="0" fill="hold" grpId="0" nodeType="afterEffect">
                                  <p:stCondLst>
                                    <p:cond delay="0"/>
                                  </p:stCondLst>
                                  <p:childTnLst>
                                    <p:set>
                                      <p:cBhvr>
                                        <p:cTn id="105" dur="1" fill="hold">
                                          <p:stCondLst>
                                            <p:cond delay="0"/>
                                          </p:stCondLst>
                                        </p:cTn>
                                        <p:tgtEl>
                                          <p:spTgt spid="37"/>
                                        </p:tgtEl>
                                        <p:attrNameLst>
                                          <p:attrName>style.visibility</p:attrName>
                                        </p:attrNameLst>
                                      </p:cBhvr>
                                      <p:to>
                                        <p:strVal val="visible"/>
                                      </p:to>
                                    </p:set>
                                    <p:animEffect transition="in" filter="fade">
                                      <p:cBhvr>
                                        <p:cTn id="106" dur="420"/>
                                        <p:tgtEl>
                                          <p:spTgt spid="37"/>
                                        </p:tgtEl>
                                      </p:cBhvr>
                                    </p:animEffect>
                                  </p:childTnLst>
                                </p:cTn>
                              </p:par>
                              <p:par>
                                <p:cTn id="107" presetID="10" presetClass="entr" presetSubtype="0" fill="hold" grpId="0" nodeType="withEffect">
                                  <p:stCondLst>
                                    <p:cond delay="0"/>
                                  </p:stCondLst>
                                  <p:childTnLst>
                                    <p:set>
                                      <p:cBhvr>
                                        <p:cTn id="108" dur="1" fill="hold">
                                          <p:stCondLst>
                                            <p:cond delay="0"/>
                                          </p:stCondLst>
                                        </p:cTn>
                                        <p:tgtEl>
                                          <p:spTgt spid="38"/>
                                        </p:tgtEl>
                                        <p:attrNameLst>
                                          <p:attrName>style.visibility</p:attrName>
                                        </p:attrNameLst>
                                      </p:cBhvr>
                                      <p:to>
                                        <p:strVal val="visible"/>
                                      </p:to>
                                    </p:set>
                                    <p:animEffect transition="in" filter="fade">
                                      <p:cBhvr>
                                        <p:cTn id="109" dur="420"/>
                                        <p:tgtEl>
                                          <p:spTgt spid="38"/>
                                        </p:tgtEl>
                                      </p:cBhvr>
                                    </p:animEffect>
                                  </p:childTnLst>
                                </p:cTn>
                              </p:par>
                              <p:par>
                                <p:cTn id="110" presetID="10" presetClass="entr" presetSubtype="0" fill="hold" grpId="0" nodeType="withEffect">
                                  <p:stCondLst>
                                    <p:cond delay="0"/>
                                  </p:stCondLst>
                                  <p:childTnLst>
                                    <p:set>
                                      <p:cBhvr>
                                        <p:cTn id="111" dur="1" fill="hold">
                                          <p:stCondLst>
                                            <p:cond delay="0"/>
                                          </p:stCondLst>
                                        </p:cTn>
                                        <p:tgtEl>
                                          <p:spTgt spid="39"/>
                                        </p:tgtEl>
                                        <p:attrNameLst>
                                          <p:attrName>style.visibility</p:attrName>
                                        </p:attrNameLst>
                                      </p:cBhvr>
                                      <p:to>
                                        <p:strVal val="visible"/>
                                      </p:to>
                                    </p:set>
                                    <p:animEffect transition="in" filter="fade">
                                      <p:cBhvr>
                                        <p:cTn id="112" dur="420"/>
                                        <p:tgtEl>
                                          <p:spTgt spid="39"/>
                                        </p:tgtEl>
                                      </p:cBhvr>
                                    </p:animEffect>
                                  </p:childTnLst>
                                </p:cTn>
                              </p:par>
                              <p:par>
                                <p:cTn id="113" presetID="10" presetClass="entr" presetSubtype="0" fill="hold" grpId="0" nodeType="withEffect">
                                  <p:stCondLst>
                                    <p:cond delay="0"/>
                                  </p:stCondLst>
                                  <p:childTnLst>
                                    <p:set>
                                      <p:cBhvr>
                                        <p:cTn id="114" dur="1" fill="hold">
                                          <p:stCondLst>
                                            <p:cond delay="0"/>
                                          </p:stCondLst>
                                        </p:cTn>
                                        <p:tgtEl>
                                          <p:spTgt spid="40"/>
                                        </p:tgtEl>
                                        <p:attrNameLst>
                                          <p:attrName>style.visibility</p:attrName>
                                        </p:attrNameLst>
                                      </p:cBhvr>
                                      <p:to>
                                        <p:strVal val="visible"/>
                                      </p:to>
                                    </p:set>
                                    <p:animEffect transition="in" filter="fade">
                                      <p:cBhvr>
                                        <p:cTn id="115" dur="420"/>
                                        <p:tgtEl>
                                          <p:spTgt spid="40"/>
                                        </p:tgtEl>
                                      </p:cBhvr>
                                    </p:animEffect>
                                  </p:childTnLst>
                                </p:cTn>
                              </p:par>
                              <p:par>
                                <p:cTn id="116" presetID="10" presetClass="entr" presetSubtype="0" fill="hold" grpId="0" nodeType="withEffect">
                                  <p:stCondLst>
                                    <p:cond delay="0"/>
                                  </p:stCondLst>
                                  <p:childTnLst>
                                    <p:set>
                                      <p:cBhvr>
                                        <p:cTn id="117" dur="1" fill="hold">
                                          <p:stCondLst>
                                            <p:cond delay="0"/>
                                          </p:stCondLst>
                                        </p:cTn>
                                        <p:tgtEl>
                                          <p:spTgt spid="41"/>
                                        </p:tgtEl>
                                        <p:attrNameLst>
                                          <p:attrName>style.visibility</p:attrName>
                                        </p:attrNameLst>
                                      </p:cBhvr>
                                      <p:to>
                                        <p:strVal val="visible"/>
                                      </p:to>
                                    </p:set>
                                    <p:animEffect transition="in" filter="fade">
                                      <p:cBhvr>
                                        <p:cTn id="118" dur="420"/>
                                        <p:tgtEl>
                                          <p:spTgt spid="41"/>
                                        </p:tgtEl>
                                      </p:cBhvr>
                                    </p:animEffect>
                                  </p:childTnLst>
                                </p:cTn>
                              </p:par>
                              <p:par>
                                <p:cTn id="119" presetID="10" presetClass="entr" presetSubtype="0" fill="hold" grpId="0" nodeType="withEffect">
                                  <p:stCondLst>
                                    <p:cond delay="0"/>
                                  </p:stCondLst>
                                  <p:childTnLst>
                                    <p:set>
                                      <p:cBhvr>
                                        <p:cTn id="120" dur="1" fill="hold">
                                          <p:stCondLst>
                                            <p:cond delay="0"/>
                                          </p:stCondLst>
                                        </p:cTn>
                                        <p:tgtEl>
                                          <p:spTgt spid="42"/>
                                        </p:tgtEl>
                                        <p:attrNameLst>
                                          <p:attrName>style.visibility</p:attrName>
                                        </p:attrNameLst>
                                      </p:cBhvr>
                                      <p:to>
                                        <p:strVal val="visible"/>
                                      </p:to>
                                    </p:set>
                                    <p:animEffect transition="in" filter="fade">
                                      <p:cBhvr>
                                        <p:cTn id="121" dur="420"/>
                                        <p:tgtEl>
                                          <p:spTgt spid="42"/>
                                        </p:tgtEl>
                                      </p:cBhvr>
                                    </p:animEffect>
                                  </p:childTnLst>
                                </p:cTn>
                              </p:par>
                              <p:par>
                                <p:cTn id="122" presetID="10" presetClass="entr" presetSubtype="0" fill="hold" grpId="0" nodeType="withEffect">
                                  <p:stCondLst>
                                    <p:cond delay="0"/>
                                  </p:stCondLst>
                                  <p:childTnLst>
                                    <p:set>
                                      <p:cBhvr>
                                        <p:cTn id="123" dur="1" fill="hold">
                                          <p:stCondLst>
                                            <p:cond delay="0"/>
                                          </p:stCondLst>
                                        </p:cTn>
                                        <p:tgtEl>
                                          <p:spTgt spid="43"/>
                                        </p:tgtEl>
                                        <p:attrNameLst>
                                          <p:attrName>style.visibility</p:attrName>
                                        </p:attrNameLst>
                                      </p:cBhvr>
                                      <p:to>
                                        <p:strVal val="visible"/>
                                      </p:to>
                                    </p:set>
                                    <p:animEffect transition="in" filter="fade">
                                      <p:cBhvr>
                                        <p:cTn id="124" dur="420"/>
                                        <p:tgtEl>
                                          <p:spTgt spid="43"/>
                                        </p:tgtEl>
                                      </p:cBhvr>
                                    </p:animEffect>
                                  </p:childTnLst>
                                </p:cTn>
                              </p:par>
                              <p:par>
                                <p:cTn id="125" presetID="10" presetClass="entr" presetSubtype="0" fill="hold" grpId="0" nodeType="withEffect">
                                  <p:stCondLst>
                                    <p:cond delay="0"/>
                                  </p:stCondLst>
                                  <p:childTnLst>
                                    <p:set>
                                      <p:cBhvr>
                                        <p:cTn id="126" dur="1" fill="hold">
                                          <p:stCondLst>
                                            <p:cond delay="0"/>
                                          </p:stCondLst>
                                        </p:cTn>
                                        <p:tgtEl>
                                          <p:spTgt spid="44"/>
                                        </p:tgtEl>
                                        <p:attrNameLst>
                                          <p:attrName>style.visibility</p:attrName>
                                        </p:attrNameLst>
                                      </p:cBhvr>
                                      <p:to>
                                        <p:strVal val="visible"/>
                                      </p:to>
                                    </p:set>
                                    <p:animEffect transition="in" filter="fade">
                                      <p:cBhvr>
                                        <p:cTn id="127" dur="420"/>
                                        <p:tgtEl>
                                          <p:spTgt spid="44"/>
                                        </p:tgtEl>
                                      </p:cBhvr>
                                    </p:animEffect>
                                  </p:childTnLst>
                                </p:cTn>
                              </p:par>
                            </p:childTnLst>
                          </p:cTn>
                        </p:par>
                        <p:par>
                          <p:cTn id="153" fill="hold">
                            <p:stCondLst>
                              <p:cond delay="1040"/>
                            </p:stCondLst>
                            <p:childTnLst>
                              <p:par>
                                <p:cTn id="129" presetID="10" presetClass="entr" presetSubtype="0" fill="hold" grpId="0" nodeType="afterEffect">
                                  <p:stCondLst>
                                    <p:cond delay="0"/>
                                  </p:stCondLst>
                                  <p:childTnLst>
                                    <p:set>
                                      <p:cBhvr>
                                        <p:cTn id="130" dur="1" fill="hold">
                                          <p:stCondLst>
                                            <p:cond delay="0"/>
                                          </p:stCondLst>
                                        </p:cTn>
                                        <p:tgtEl>
                                          <p:spTgt spid="45"/>
                                        </p:tgtEl>
                                        <p:attrNameLst>
                                          <p:attrName>style.visibility</p:attrName>
                                        </p:attrNameLst>
                                      </p:cBhvr>
                                      <p:to>
                                        <p:strVal val="visible"/>
                                      </p:to>
                                    </p:set>
                                    <p:animEffect transition="in" filter="fade">
                                      <p:cBhvr>
                                        <p:cTn id="131" dur="420"/>
                                        <p:tgtEl>
                                          <p:spTgt spid="45"/>
                                        </p:tgtEl>
                                      </p:cBhvr>
                                    </p:animEffect>
                                  </p:childTnLst>
                                </p:cTn>
                              </p:par>
                              <p:par>
                                <p:cTn id="132" presetID="10" presetClass="entr" presetSubtype="0" fill="hold" grpId="0" nodeType="withEffect">
                                  <p:stCondLst>
                                    <p:cond delay="0"/>
                                  </p:stCondLst>
                                  <p:childTnLst>
                                    <p:set>
                                      <p:cBhvr>
                                        <p:cTn id="133" dur="1" fill="hold">
                                          <p:stCondLst>
                                            <p:cond delay="0"/>
                                          </p:stCondLst>
                                        </p:cTn>
                                        <p:tgtEl>
                                          <p:spTgt spid="46"/>
                                        </p:tgtEl>
                                        <p:attrNameLst>
                                          <p:attrName>style.visibility</p:attrName>
                                        </p:attrNameLst>
                                      </p:cBhvr>
                                      <p:to>
                                        <p:strVal val="visible"/>
                                      </p:to>
                                    </p:set>
                                    <p:animEffect transition="in" filter="fade">
                                      <p:cBhvr>
                                        <p:cTn id="134" dur="420"/>
                                        <p:tgtEl>
                                          <p:spTgt spid="46"/>
                                        </p:tgtEl>
                                      </p:cBhvr>
                                    </p:animEffect>
                                  </p:childTnLst>
                                </p:cTn>
                              </p:par>
                              <p:par>
                                <p:cTn id="135" presetID="10" presetClass="entr" presetSubtype="0" fill="hold" grpId="0" nodeType="withEffect">
                                  <p:stCondLst>
                                    <p:cond delay="0"/>
                                  </p:stCondLst>
                                  <p:childTnLst>
                                    <p:set>
                                      <p:cBhvr>
                                        <p:cTn id="136" dur="1" fill="hold">
                                          <p:stCondLst>
                                            <p:cond delay="0"/>
                                          </p:stCondLst>
                                        </p:cTn>
                                        <p:tgtEl>
                                          <p:spTgt spid="47"/>
                                        </p:tgtEl>
                                        <p:attrNameLst>
                                          <p:attrName>style.visibility</p:attrName>
                                        </p:attrNameLst>
                                      </p:cBhvr>
                                      <p:to>
                                        <p:strVal val="visible"/>
                                      </p:to>
                                    </p:set>
                                    <p:animEffect transition="in" filter="fade">
                                      <p:cBhvr>
                                        <p:cTn id="137" dur="420"/>
                                        <p:tgtEl>
                                          <p:spTgt spid="47"/>
                                        </p:tgtEl>
                                      </p:cBhvr>
                                    </p:animEffect>
                                  </p:childTnLst>
                                </p:cTn>
                              </p:par>
                              <p:par>
                                <p:cTn id="138" presetID="10" presetClass="entr" presetSubtype="0" fill="hold" grpId="0" nodeType="withEffect">
                                  <p:stCondLst>
                                    <p:cond delay="0"/>
                                  </p:stCondLst>
                                  <p:childTnLst>
                                    <p:set>
                                      <p:cBhvr>
                                        <p:cTn id="139" dur="1" fill="hold">
                                          <p:stCondLst>
                                            <p:cond delay="0"/>
                                          </p:stCondLst>
                                        </p:cTn>
                                        <p:tgtEl>
                                          <p:spTgt spid="48"/>
                                        </p:tgtEl>
                                        <p:attrNameLst>
                                          <p:attrName>style.visibility</p:attrName>
                                        </p:attrNameLst>
                                      </p:cBhvr>
                                      <p:to>
                                        <p:strVal val="visible"/>
                                      </p:to>
                                    </p:set>
                                    <p:animEffect transition="in" filter="fade">
                                      <p:cBhvr>
                                        <p:cTn id="140" dur="420"/>
                                        <p:tgtEl>
                                          <p:spTgt spid="48"/>
                                        </p:tgtEl>
                                      </p:cBhvr>
                                    </p:animEffect>
                                  </p:childTnLst>
                                </p:cTn>
                              </p:par>
                              <p:par>
                                <p:cTn id="141" presetID="10" presetClass="entr" presetSubtype="0" fill="hold" grpId="0" nodeType="withEffect">
                                  <p:stCondLst>
                                    <p:cond delay="0"/>
                                  </p:stCondLst>
                                  <p:childTnLst>
                                    <p:set>
                                      <p:cBhvr>
                                        <p:cTn id="142" dur="1" fill="hold">
                                          <p:stCondLst>
                                            <p:cond delay="0"/>
                                          </p:stCondLst>
                                        </p:cTn>
                                        <p:tgtEl>
                                          <p:spTgt spid="49"/>
                                        </p:tgtEl>
                                        <p:attrNameLst>
                                          <p:attrName>style.visibility</p:attrName>
                                        </p:attrNameLst>
                                      </p:cBhvr>
                                      <p:to>
                                        <p:strVal val="visible"/>
                                      </p:to>
                                    </p:set>
                                    <p:animEffect transition="in" filter="fade">
                                      <p:cBhvr>
                                        <p:cTn id="143" dur="420"/>
                                        <p:tgtEl>
                                          <p:spTgt spid="49"/>
                                        </p:tgtEl>
                                      </p:cBhvr>
                                    </p:animEffect>
                                  </p:childTnLst>
                                </p:cTn>
                              </p:par>
                              <p:par>
                                <p:cTn id="144" presetID="10" presetClass="entr" presetSubtype="0" fill="hold" grpId="0" nodeType="withEffect">
                                  <p:stCondLst>
                                    <p:cond delay="0"/>
                                  </p:stCondLst>
                                  <p:childTnLst>
                                    <p:set>
                                      <p:cBhvr>
                                        <p:cTn id="145" dur="1" fill="hold">
                                          <p:stCondLst>
                                            <p:cond delay="0"/>
                                          </p:stCondLst>
                                        </p:cTn>
                                        <p:tgtEl>
                                          <p:spTgt spid="50"/>
                                        </p:tgtEl>
                                        <p:attrNameLst>
                                          <p:attrName>style.visibility</p:attrName>
                                        </p:attrNameLst>
                                      </p:cBhvr>
                                      <p:to>
                                        <p:strVal val="visible"/>
                                      </p:to>
                                    </p:set>
                                    <p:animEffect transition="in" filter="fade">
                                      <p:cBhvr>
                                        <p:cTn id="146" dur="420"/>
                                        <p:tgtEl>
                                          <p:spTgt spid="50"/>
                                        </p:tgtEl>
                                      </p:cBhvr>
                                    </p:animEffect>
                                  </p:childTnLst>
                                </p:cTn>
                              </p:par>
                              <p:par>
                                <p:cTn id="147" presetID="10" presetClass="entr" presetSubtype="0" fill="hold" grpId="0" nodeType="withEffect">
                                  <p:stCondLst>
                                    <p:cond delay="0"/>
                                  </p:stCondLst>
                                  <p:childTnLst>
                                    <p:set>
                                      <p:cBhvr>
                                        <p:cTn id="148" dur="1" fill="hold">
                                          <p:stCondLst>
                                            <p:cond delay="0"/>
                                          </p:stCondLst>
                                        </p:cTn>
                                        <p:tgtEl>
                                          <p:spTgt spid="51"/>
                                        </p:tgtEl>
                                        <p:attrNameLst>
                                          <p:attrName>style.visibility</p:attrName>
                                        </p:attrNameLst>
                                      </p:cBhvr>
                                      <p:to>
                                        <p:strVal val="visible"/>
                                      </p:to>
                                    </p:set>
                                    <p:animEffect transition="in" filter="fade">
                                      <p:cBhvr>
                                        <p:cTn id="149" dur="420"/>
                                        <p:tgtEl>
                                          <p:spTgt spid="51"/>
                                        </p:tgtEl>
                                      </p:cBhvr>
                                    </p:animEffect>
                                  </p:childTnLst>
                                </p:cTn>
                              </p:par>
                              <p:par>
                                <p:cTn id="150" presetID="10" presetClass="entr" presetSubtype="0" fill="hold" grpId="0" nodeType="withEffect">
                                  <p:stCondLst>
                                    <p:cond delay="0"/>
                                  </p:stCondLst>
                                  <p:childTnLst>
                                    <p:set>
                                      <p:cBhvr>
                                        <p:cTn id="151" dur="1" fill="hold">
                                          <p:stCondLst>
                                            <p:cond delay="0"/>
                                          </p:stCondLst>
                                        </p:cTn>
                                        <p:tgtEl>
                                          <p:spTgt spid="52"/>
                                        </p:tgtEl>
                                        <p:attrNameLst>
                                          <p:attrName>style.visibility</p:attrName>
                                        </p:attrNameLst>
                                      </p:cBhvr>
                                      <p:to>
                                        <p:strVal val="visible"/>
                                      </p:to>
                                    </p:set>
                                    <p:animEffect transition="in" filter="fade">
                                      <p:cBhvr>
                                        <p:cTn id="152" dur="420"/>
                                        <p:tgtEl>
                                          <p:spTgt spid="52"/>
                                        </p:tgtEl>
                                      </p:cBhvr>
                                    </p:animEffect>
                                  </p:childTnLst>
                                </p:cTn>
                              </p:par>
                            </p:childTnLst>
                          </p:cTn>
                        </p:par>
                        <p:par>
                          <p:cTn id="157" fill="hold">
                            <p:stCondLst>
                              <p:cond delay="1300"/>
                            </p:stCondLst>
                            <p:childTnLst>
                              <p:par>
                                <p:cTn id="154" presetID="10" presetClass="entr" presetSubtype="0" fill="hold" grpId="0" nodeType="afterEffect">
                                  <p:stCondLst>
                                    <p:cond delay="0"/>
                                  </p:stCondLst>
                                  <p:childTnLst>
                                    <p:set>
                                      <p:cBhvr>
                                        <p:cTn id="155" dur="1" fill="hold">
                                          <p:stCondLst>
                                            <p:cond delay="0"/>
                                          </p:stCondLst>
                                        </p:cTn>
                                        <p:tgtEl>
                                          <p:spTgt spid="53"/>
                                        </p:tgtEl>
                                        <p:attrNameLst>
                                          <p:attrName>style.visibility</p:attrName>
                                        </p:attrNameLst>
                                      </p:cBhvr>
                                      <p:to>
                                        <p:strVal val="visible"/>
                                      </p:to>
                                    </p:set>
                                    <p:animEffect transition="in" filter="fade">
                                      <p:cBhvr>
                                        <p:cTn id="156" dur="420"/>
                                        <p:tgtEl>
                                          <p:spTgt spid="53"/>
                                        </p:tgtEl>
                                      </p:cBhvr>
                                    </p:animEffect>
                                  </p:childTnLst>
                                </p:cTn>
                              </p:par>
                            </p:childTnLst>
                          </p:cTn>
                        </p:par>
                        <p:par>
                          <p:cTn id="164" fill="hold">
                            <p:stCondLst>
                              <p:cond delay="1560"/>
                            </p:stCondLst>
                            <p:childTnLst>
                              <p:par>
                                <p:cTn id="158" presetID="10" presetClass="entr" presetSubtype="0" fill="hold" grpId="0" nodeType="afterEffect">
                                  <p:stCondLst>
                                    <p:cond delay="0"/>
                                  </p:stCondLst>
                                  <p:childTnLst>
                                    <p:set>
                                      <p:cBhvr>
                                        <p:cTn id="159" dur="1" fill="hold">
                                          <p:stCondLst>
                                            <p:cond delay="0"/>
                                          </p:stCondLst>
                                        </p:cTn>
                                        <p:tgtEl>
                                          <p:spTgt spid="54"/>
                                        </p:tgtEl>
                                        <p:attrNameLst>
                                          <p:attrName>style.visibility</p:attrName>
                                        </p:attrNameLst>
                                      </p:cBhvr>
                                      <p:to>
                                        <p:strVal val="visible"/>
                                      </p:to>
                                    </p:set>
                                    <p:animEffect transition="in" filter="fade">
                                      <p:cBhvr>
                                        <p:cTn id="160" dur="420"/>
                                        <p:tgtEl>
                                          <p:spTgt spid="54"/>
                                        </p:tgtEl>
                                      </p:cBhvr>
                                    </p:animEffect>
                                  </p:childTnLst>
                                </p:cTn>
                              </p:par>
                              <p:par>
                                <p:cTn id="161" presetID="10" presetClass="entr" presetSubtype="0" fill="hold" grpId="0" nodeType="withEffect">
                                  <p:stCondLst>
                                    <p:cond delay="0"/>
                                  </p:stCondLst>
                                  <p:childTnLst>
                                    <p:set>
                                      <p:cBhvr>
                                        <p:cTn id="162" dur="1" fill="hold">
                                          <p:stCondLst>
                                            <p:cond delay="0"/>
                                          </p:stCondLst>
                                        </p:cTn>
                                        <p:tgtEl>
                                          <p:spTgt spid="55"/>
                                        </p:tgtEl>
                                        <p:attrNameLst>
                                          <p:attrName>style.visibility</p:attrName>
                                        </p:attrNameLst>
                                      </p:cBhvr>
                                      <p:to>
                                        <p:strVal val="visible"/>
                                      </p:to>
                                    </p:set>
                                    <p:animEffect transition="in" filter="fade">
                                      <p:cBhvr>
                                        <p:cTn id="163" dur="420"/>
                                        <p:tgtEl>
                                          <p:spTgt spid="55"/>
                                        </p:tgtEl>
                                      </p:cBhvr>
                                    </p:animEffect>
                                  </p:childTnLst>
                                </p:cTn>
                              </p:par>
                            </p:childTnLst>
                          </p:cTn>
                        </p:par>
                        <p:par>
                          <p:cTn id="171" fill="hold">
                            <p:stCondLst>
                              <p:cond delay="1820"/>
                            </p:stCondLst>
                            <p:childTnLst>
                              <p:par>
                                <p:cTn id="165" presetID="10" presetClass="entr" presetSubtype="0" fill="hold" grpId="0" nodeType="afterEffect">
                                  <p:stCondLst>
                                    <p:cond delay="0"/>
                                  </p:stCondLst>
                                  <p:childTnLst>
                                    <p:set>
                                      <p:cBhvr>
                                        <p:cTn id="166" dur="1" fill="hold">
                                          <p:stCondLst>
                                            <p:cond delay="0"/>
                                          </p:stCondLst>
                                        </p:cTn>
                                        <p:tgtEl>
                                          <p:spTgt spid="56"/>
                                        </p:tgtEl>
                                        <p:attrNameLst>
                                          <p:attrName>style.visibility</p:attrName>
                                        </p:attrNameLst>
                                      </p:cBhvr>
                                      <p:to>
                                        <p:strVal val="visible"/>
                                      </p:to>
                                    </p:set>
                                    <p:animEffect transition="in" filter="fade">
                                      <p:cBhvr>
                                        <p:cTn id="167" dur="420"/>
                                        <p:tgtEl>
                                          <p:spTgt spid="56"/>
                                        </p:tgtEl>
                                      </p:cBhvr>
                                    </p:animEffect>
                                  </p:childTnLst>
                                </p:cTn>
                              </p:par>
                              <p:par>
                                <p:cTn id="168" presetID="10" presetClass="entr" presetSubtype="0" fill="hold" grpId="0" nodeType="withEffect">
                                  <p:stCondLst>
                                    <p:cond delay="0"/>
                                  </p:stCondLst>
                                  <p:childTnLst>
                                    <p:set>
                                      <p:cBhvr>
                                        <p:cTn id="169" dur="1" fill="hold">
                                          <p:stCondLst>
                                            <p:cond delay="0"/>
                                          </p:stCondLst>
                                        </p:cTn>
                                        <p:tgtEl>
                                          <p:spTgt spid="57"/>
                                        </p:tgtEl>
                                        <p:attrNameLst>
                                          <p:attrName>style.visibility</p:attrName>
                                        </p:attrNameLst>
                                      </p:cBhvr>
                                      <p:to>
                                        <p:strVal val="visible"/>
                                      </p:to>
                                    </p:set>
                                    <p:animEffect transition="in" filter="fade">
                                      <p:cBhvr>
                                        <p:cTn id="170" dur="420"/>
                                        <p:tgtEl>
                                          <p:spTgt spid="57"/>
                                        </p:tgtEl>
                                      </p:cBhvr>
                                    </p:animEffect>
                                  </p:childTnLst>
                                </p:cTn>
                              </p:par>
                            </p:childTnLst>
                          </p:cTn>
                        </p:par>
                        <p:par>
                          <p:cTn id="178" fill="hold">
                            <p:stCondLst>
                              <p:cond delay="2080"/>
                            </p:stCondLst>
                            <p:childTnLst>
                              <p:par>
                                <p:cTn id="172" presetID="10" presetClass="entr" presetSubtype="0" fill="hold" grpId="0" nodeType="afterEffect">
                                  <p:stCondLst>
                                    <p:cond delay="0"/>
                                  </p:stCondLst>
                                  <p:childTnLst>
                                    <p:set>
                                      <p:cBhvr>
                                        <p:cTn id="173" dur="1" fill="hold">
                                          <p:stCondLst>
                                            <p:cond delay="0"/>
                                          </p:stCondLst>
                                        </p:cTn>
                                        <p:tgtEl>
                                          <p:spTgt spid="58"/>
                                        </p:tgtEl>
                                        <p:attrNameLst>
                                          <p:attrName>style.visibility</p:attrName>
                                        </p:attrNameLst>
                                      </p:cBhvr>
                                      <p:to>
                                        <p:strVal val="visible"/>
                                      </p:to>
                                    </p:set>
                                    <p:animEffect transition="in" filter="fade">
                                      <p:cBhvr>
                                        <p:cTn id="174" dur="420"/>
                                        <p:tgtEl>
                                          <p:spTgt spid="58"/>
                                        </p:tgtEl>
                                      </p:cBhvr>
                                    </p:animEffect>
                                  </p:childTnLst>
                                </p:cTn>
                              </p:par>
                              <p:par>
                                <p:cTn id="175" presetID="10" presetClass="entr" presetSubtype="0" fill="hold" grpId="0" nodeType="withEffect">
                                  <p:stCondLst>
                                    <p:cond delay="0"/>
                                  </p:stCondLst>
                                  <p:childTnLst>
                                    <p:set>
                                      <p:cBhvr>
                                        <p:cTn id="176" dur="1" fill="hold">
                                          <p:stCondLst>
                                            <p:cond delay="0"/>
                                          </p:stCondLst>
                                        </p:cTn>
                                        <p:tgtEl>
                                          <p:spTgt spid="59"/>
                                        </p:tgtEl>
                                        <p:attrNameLst>
                                          <p:attrName>style.visibility</p:attrName>
                                        </p:attrNameLst>
                                      </p:cBhvr>
                                      <p:to>
                                        <p:strVal val="visible"/>
                                      </p:to>
                                    </p:set>
                                    <p:animEffect transition="in" filter="fade">
                                      <p:cBhvr>
                                        <p:cTn id="177" dur="420"/>
                                        <p:tgtEl>
                                          <p:spTgt spid="59"/>
                                        </p:tgtEl>
                                      </p:cBhvr>
                                    </p:animEffect>
                                  </p:childTnLst>
                                </p:cTn>
                              </p:par>
                            </p:childTnLst>
                          </p:cTn>
                        </p:par>
                        <p:par>
                          <p:cTn id="185" fill="hold">
                            <p:stCondLst>
                              <p:cond delay="2340"/>
                            </p:stCondLst>
                            <p:childTnLst>
                              <p:par>
                                <p:cTn id="179" presetID="10" presetClass="entr" presetSubtype="0" fill="hold" grpId="0" nodeType="afterEffect">
                                  <p:stCondLst>
                                    <p:cond delay="0"/>
                                  </p:stCondLst>
                                  <p:childTnLst>
                                    <p:set>
                                      <p:cBhvr>
                                        <p:cTn id="180" dur="1" fill="hold">
                                          <p:stCondLst>
                                            <p:cond delay="0"/>
                                          </p:stCondLst>
                                        </p:cTn>
                                        <p:tgtEl>
                                          <p:spTgt spid="60"/>
                                        </p:tgtEl>
                                        <p:attrNameLst>
                                          <p:attrName>style.visibility</p:attrName>
                                        </p:attrNameLst>
                                      </p:cBhvr>
                                      <p:to>
                                        <p:strVal val="visible"/>
                                      </p:to>
                                    </p:set>
                                    <p:animEffect transition="in" filter="fade">
                                      <p:cBhvr>
                                        <p:cTn id="181" dur="420"/>
                                        <p:tgtEl>
                                          <p:spTgt spid="60"/>
                                        </p:tgtEl>
                                      </p:cBhvr>
                                    </p:animEffect>
                                  </p:childTnLst>
                                </p:cTn>
                              </p:par>
                              <p:par>
                                <p:cTn id="182" presetID="10" presetClass="entr" presetSubtype="0" fill="hold" grpId="0" nodeType="withEffect">
                                  <p:stCondLst>
                                    <p:cond delay="0"/>
                                  </p:stCondLst>
                                  <p:childTnLst>
                                    <p:set>
                                      <p:cBhvr>
                                        <p:cTn id="183" dur="1" fill="hold">
                                          <p:stCondLst>
                                            <p:cond delay="0"/>
                                          </p:stCondLst>
                                        </p:cTn>
                                        <p:tgtEl>
                                          <p:spTgt spid="61"/>
                                        </p:tgtEl>
                                        <p:attrNameLst>
                                          <p:attrName>style.visibility</p:attrName>
                                        </p:attrNameLst>
                                      </p:cBhvr>
                                      <p:to>
                                        <p:strVal val="visible"/>
                                      </p:to>
                                    </p:set>
                                    <p:animEffect transition="in" filter="fade">
                                      <p:cBhvr>
                                        <p:cTn id="184" dur="420"/>
                                        <p:tgtEl>
                                          <p:spTgt spid="6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p:bldP spid="7" grpId="0" animBg="1"/>
      <p:bldP spid="8" grpId="0" animBg="1"/>
      <p:bldP spid="9" grpId="0" animBg="1"/>
      <p:bldP spid="10" grpId="0" animBg="1"/>
      <p:bldP spid="11" grpId="0"/>
      <p:bldP spid="12" grpId="0" animBg="1"/>
      <p:bldP spid="13" grpId="0"/>
      <p:bldP spid="14" grpId="0"/>
      <p:bldP spid="15" grpId="0" animBg="1"/>
      <p:bldP spid="16" grpId="0" animBg="1"/>
      <p:bldP spid="17" grpId="0" animBg="1"/>
      <p:bldP spid="18" grpId="0" animBg="1"/>
      <p:bldP spid="19" grpId="0"/>
      <p:bldP spid="20" grpId="0" animBg="1"/>
      <p:bldP spid="21" grpId="0"/>
      <p:bldP spid="22" grpId="0"/>
      <p:bldP spid="23" grpId="0" animBg="1"/>
      <p:bldP spid="24" grpId="0" animBg="1"/>
      <p:bldP spid="25" grpId="0" animBg="1"/>
      <p:bldP spid="26" grpId="0" animBg="1"/>
      <p:bldP spid="27" grpId="0"/>
      <p:bldP spid="28" grpId="0" animBg="1"/>
      <p:bldP spid="29" grpId="0"/>
      <p:bldP spid="30" grpId="0"/>
      <p:bldP spid="31" grpId="0" animBg="1"/>
      <p:bldP spid="32" grpId="0" animBg="1"/>
      <p:bldP spid="33" grpId="0" animBg="1"/>
      <p:bldP spid="34" grpId="0" animBg="1"/>
      <p:bldP spid="35" grpId="0"/>
      <p:bldP spid="36" grpId="0" animBg="1"/>
      <p:bldP spid="37" grpId="0"/>
      <p:bldP spid="38" grpId="0"/>
      <p:bldP spid="39" grpId="0" animBg="1"/>
      <p:bldP spid="40" grpId="0" animBg="1"/>
      <p:bldP spid="41" grpId="0" animBg="1"/>
      <p:bldP spid="42" grpId="0" animBg="1"/>
      <p:bldP spid="43" grpId="0"/>
      <p:bldP spid="44" grpId="0" animBg="1"/>
      <p:bldP spid="45" grpId="0"/>
      <p:bldP spid="46" grpId="0"/>
      <p:bldP spid="47" grpId="0" animBg="1"/>
      <p:bldP spid="48" grpId="0" animBg="1"/>
      <p:bldP spid="49" grpId="0" animBg="1"/>
      <p:bldP spid="50" grpId="0" animBg="1"/>
      <p:bldP spid="51" grpId="0"/>
      <p:bldP spid="52" grpId="0" animBg="1"/>
      <p:bldP spid="53" grpId="0" animBg="1"/>
      <p:bldP spid="54" grpId="0"/>
      <p:bldP spid="55" grpId="0" animBg="1"/>
      <p:bldP spid="56" grpId="0"/>
      <p:bldP spid="57" grpId="0" animBg="1"/>
      <p:bldP spid="58" grpId="0"/>
      <p:bldP spid="59" grpId="0" animBg="1"/>
      <p:bldP spid="60" grpId="0"/>
      <p:bldP spid="61"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1" type="body" hasCustomPrompt="1"/>
          </p:nvPr>
        </p:nvSpPr>
        <p:spPr>
          <a:xfrm>
            <a:off x="731520" y="310896"/>
            <a:ext cx="8686800" cy="329184"/>
          </a:xfrm>
          <a:prstGeom prst="rect">
            <a:avLst/>
          </a:prstGeom>
          <a:noFill/>
          <a:ln/>
        </p:spPr>
        <p:txBody>
          <a:bodyPr wrap="square" lIns="0" tIns="0" rIns="0" bIns="0" rtlCol="0" anchor="ctr"/>
          <a:lstStyle/>
          <a:p>
            <a:pPr algn="l" indent="0" marL="0">
              <a:buNone/>
            </a:pPr>
            <a:r>
              <a:rPr lang="en-US" sz="1200" b="1" spc="300" kern="0" dirty="0">
                <a:solidFill>
                  <a:srgbClr val="AEBBD0"/>
                </a:solidFill>
              </a:rPr>
              <a:t>LEVEL 1 · TOOLS</a:t>
            </a:r>
            <a:endParaRPr lang="en-US" sz="1200" dirty="0"/>
          </a:p>
        </p:txBody>
      </p:sp>
      <p:sp>
        <p:nvSpPr>
          <p:cNvPr id="3" name="Text 0"/>
          <p:cNvSpPr/>
          <p:nvPr>
            <p:ph idx="102" type="title" hasCustomPrompt="1"/>
          </p:nvPr>
        </p:nvSpPr>
        <p:spPr>
          <a:xfrm>
            <a:off x="548640" y="658368"/>
            <a:ext cx="11094415" cy="731520"/>
          </a:xfrm>
          <a:prstGeom prst="rect">
            <a:avLst/>
          </a:prstGeom>
          <a:noFill/>
          <a:ln/>
        </p:spPr>
        <p:txBody>
          <a:bodyPr wrap="square" lIns="0" tIns="0" rIns="0" bIns="0" rtlCol="0" anchor="ctr"/>
          <a:lstStyle/>
          <a:p>
            <a:pPr algn="l" indent="0" marL="0">
              <a:buNone/>
            </a:pPr>
            <a:r>
              <a:rPr lang="en-US" sz="3200" b="1" dirty="0">
                <a:solidFill>
                  <a:srgbClr val="EEF3FA"/>
                </a:solidFill>
              </a:rPr>
              <a:t>Technology and simulation environment</a:t>
            </a:r>
            <a:endParaRPr lang="en-US" sz="3200" dirty="0"/>
          </a:p>
        </p:txBody>
      </p:sp>
      <p:sp>
        <p:nvSpPr>
          <p:cNvPr id="5" name="t_0#box"/>
          <p:cNvSpPr/>
          <p:nvPr/>
        </p:nvSpPr>
        <p:spPr>
          <a:xfrm>
            <a:off x="548640" y="1691640"/>
            <a:ext cx="2075688" cy="1828800"/>
          </a:xfrm>
          <a:prstGeom prst="roundRect">
            <a:avLst>
              <a:gd name="adj" fmla="val 5000"/>
            </a:avLst>
          </a:prstGeom>
          <a:solidFill>
            <a:srgbClr val="0F1B2D"/>
          </a:solidFill>
          <a:ln w="12700">
            <a:solidFill>
              <a:srgbClr val="23344F"/>
            </a:solidFill>
            <a:prstDash val="solid"/>
          </a:ln>
        </p:spPr>
      </p:sp>
      <p:sp>
        <p:nvSpPr>
          <p:cNvPr id="6" name="t_0#h"/>
          <p:cNvSpPr txBox="1"/>
          <p:nvPr/>
        </p:nvSpPr>
        <p:spPr>
          <a:xfrm>
            <a:off x="749808" y="1874520"/>
            <a:ext cx="1673352" cy="384048"/>
          </a:xfrm>
          <a:prstGeom prst="rect">
            <a:avLst/>
          </a:prstGeom>
          <a:noFill/>
          <a:ln/>
        </p:spPr>
        <p:txBody>
          <a:bodyPr wrap="square" lIns="0" tIns="0" rIns="0" bIns="0" rtlCol="0" anchor="t"/>
          <a:lstStyle/>
          <a:p>
            <a:pPr indent="0" marL="0">
              <a:buNone/>
            </a:pPr>
            <a:r>
              <a:rPr lang="en-US" sz="1600" b="1" dirty="0">
                <a:solidFill>
                  <a:srgbClr val="EEF3FA"/>
                </a:solidFill>
                <a:latin typeface="Calibri" pitchFamily="34" charset="0"/>
                <a:ea typeface="Calibri" pitchFamily="34" charset="-122"/>
                <a:cs typeface="Calibri" pitchFamily="34" charset="-120"/>
              </a:rPr>
              <a:t>PyBullet 3.2.7</a:t>
            </a:r>
            <a:endParaRPr lang="en-US" sz="1600" dirty="0"/>
          </a:p>
        </p:txBody>
      </p:sp>
      <p:sp>
        <p:nvSpPr>
          <p:cNvPr id="7" name="t_0#b"/>
          <p:cNvSpPr txBox="1"/>
          <p:nvPr/>
        </p:nvSpPr>
        <p:spPr>
          <a:xfrm>
            <a:off x="749808" y="2240280"/>
            <a:ext cx="1673352" cy="1170432"/>
          </a:xfrm>
          <a:prstGeom prst="rect">
            <a:avLst/>
          </a:prstGeom>
          <a:noFill/>
          <a:ln/>
        </p:spPr>
        <p:txBody>
          <a:bodyPr wrap="square" lIns="0" tIns="0" rIns="0" bIns="0" rtlCol="0" anchor="t"/>
          <a:lstStyle/>
          <a:p>
            <a:pPr indent="0" marL="0">
              <a:spcAft>
                <a:spcPts val="400"/>
              </a:spcAft>
              <a:buNone/>
            </a:pPr>
            <a:r>
              <a:rPr lang="en-US" sz="1250" dirty="0">
                <a:solidFill>
                  <a:srgbClr val="AEBBD0"/>
                </a:solidFill>
                <a:latin typeface="Calibri" pitchFamily="34" charset="0"/>
                <a:ea typeface="Calibri" pitchFamily="34" charset="-122"/>
                <a:cs typeface="Calibri" pitchFamily="34" charset="-120"/>
              </a:rPr>
              <a:t>Physics engine: FK, Jacobians, self-contact checks (headless)</a:t>
            </a:r>
            <a:endParaRPr lang="en-US" sz="1250" dirty="0"/>
          </a:p>
        </p:txBody>
      </p:sp>
      <p:sp>
        <p:nvSpPr>
          <p:cNvPr id="8" name="t_1#box"/>
          <p:cNvSpPr/>
          <p:nvPr/>
        </p:nvSpPr>
        <p:spPr>
          <a:xfrm>
            <a:off x="2761488" y="1691640"/>
            <a:ext cx="2075688" cy="1828800"/>
          </a:xfrm>
          <a:prstGeom prst="roundRect">
            <a:avLst>
              <a:gd name="adj" fmla="val 5000"/>
            </a:avLst>
          </a:prstGeom>
          <a:solidFill>
            <a:srgbClr val="0F1B2D"/>
          </a:solidFill>
          <a:ln w="12700">
            <a:solidFill>
              <a:srgbClr val="23344F"/>
            </a:solidFill>
            <a:prstDash val="solid"/>
          </a:ln>
        </p:spPr>
      </p:sp>
      <p:sp>
        <p:nvSpPr>
          <p:cNvPr id="9" name="t_1#h"/>
          <p:cNvSpPr txBox="1"/>
          <p:nvPr/>
        </p:nvSpPr>
        <p:spPr>
          <a:xfrm>
            <a:off x="2962656" y="1874520"/>
            <a:ext cx="1673352" cy="384048"/>
          </a:xfrm>
          <a:prstGeom prst="rect">
            <a:avLst/>
          </a:prstGeom>
          <a:noFill/>
          <a:ln/>
        </p:spPr>
        <p:txBody>
          <a:bodyPr wrap="square" lIns="0" tIns="0" rIns="0" bIns="0" rtlCol="0" anchor="t"/>
          <a:lstStyle/>
          <a:p>
            <a:pPr indent="0" marL="0">
              <a:buNone/>
            </a:pPr>
            <a:r>
              <a:rPr lang="en-US" sz="1600" b="1" dirty="0">
                <a:solidFill>
                  <a:srgbClr val="EEF3FA"/>
                </a:solidFill>
                <a:latin typeface="Calibri" pitchFamily="34" charset="0"/>
                <a:ea typeface="Calibri" pitchFamily="34" charset="-122"/>
                <a:cs typeface="Calibri" pitchFamily="34" charset="-120"/>
              </a:rPr>
              <a:t>PyTorch 2.14</a:t>
            </a:r>
            <a:endParaRPr lang="en-US" sz="1600" dirty="0"/>
          </a:p>
        </p:txBody>
      </p:sp>
      <p:sp>
        <p:nvSpPr>
          <p:cNvPr id="10" name="t_1#b"/>
          <p:cNvSpPr txBox="1"/>
          <p:nvPr/>
        </p:nvSpPr>
        <p:spPr>
          <a:xfrm>
            <a:off x="2962656" y="2240280"/>
            <a:ext cx="1673352" cy="1170432"/>
          </a:xfrm>
          <a:prstGeom prst="rect">
            <a:avLst/>
          </a:prstGeom>
          <a:noFill/>
          <a:ln/>
        </p:spPr>
        <p:txBody>
          <a:bodyPr wrap="square" lIns="0" tIns="0" rIns="0" bIns="0" rtlCol="0" anchor="t"/>
          <a:lstStyle/>
          <a:p>
            <a:pPr indent="0" marL="0">
              <a:spcAft>
                <a:spcPts val="400"/>
              </a:spcAft>
              <a:buNone/>
            </a:pPr>
            <a:r>
              <a:rPr lang="en-US" sz="1250" dirty="0">
                <a:solidFill>
                  <a:srgbClr val="AEBBD0"/>
                </a:solidFill>
                <a:latin typeface="Calibri" pitchFamily="34" charset="0"/>
                <a:ea typeface="Calibri" pitchFamily="34" charset="-122"/>
                <a:cs typeface="Calibri" pitchFamily="34" charset="-120"/>
              </a:rPr>
              <a:t>Networks, training, batched LM solver</a:t>
            </a:r>
            <a:endParaRPr lang="en-US" sz="1250" dirty="0"/>
          </a:p>
        </p:txBody>
      </p:sp>
      <p:sp>
        <p:nvSpPr>
          <p:cNvPr id="11" name="t_2#box"/>
          <p:cNvSpPr/>
          <p:nvPr/>
        </p:nvSpPr>
        <p:spPr>
          <a:xfrm>
            <a:off x="4974336" y="1691640"/>
            <a:ext cx="2075688" cy="1828800"/>
          </a:xfrm>
          <a:prstGeom prst="roundRect">
            <a:avLst>
              <a:gd name="adj" fmla="val 5000"/>
            </a:avLst>
          </a:prstGeom>
          <a:solidFill>
            <a:srgbClr val="0F1B2D"/>
          </a:solidFill>
          <a:ln w="12700">
            <a:solidFill>
              <a:srgbClr val="23344F"/>
            </a:solidFill>
            <a:prstDash val="solid"/>
          </a:ln>
        </p:spPr>
      </p:sp>
      <p:sp>
        <p:nvSpPr>
          <p:cNvPr id="12" name="t_2#h"/>
          <p:cNvSpPr txBox="1"/>
          <p:nvPr/>
        </p:nvSpPr>
        <p:spPr>
          <a:xfrm>
            <a:off x="5175504" y="1874520"/>
            <a:ext cx="1673352" cy="384048"/>
          </a:xfrm>
          <a:prstGeom prst="rect">
            <a:avLst/>
          </a:prstGeom>
          <a:noFill/>
          <a:ln/>
        </p:spPr>
        <p:txBody>
          <a:bodyPr wrap="square" lIns="0" tIns="0" rIns="0" bIns="0" rtlCol="0" anchor="t"/>
          <a:lstStyle/>
          <a:p>
            <a:pPr indent="0" marL="0">
              <a:buNone/>
            </a:pPr>
            <a:r>
              <a:rPr lang="en-US" sz="1600" b="1" dirty="0">
                <a:solidFill>
                  <a:srgbClr val="EEF3FA"/>
                </a:solidFill>
                <a:latin typeface="Calibri" pitchFamily="34" charset="0"/>
                <a:ea typeface="Calibri" pitchFamily="34" charset="-122"/>
                <a:cs typeface="Calibri" pitchFamily="34" charset="-120"/>
              </a:rPr>
              <a:t>NumPy · Matplotlib</a:t>
            </a:r>
            <a:endParaRPr lang="en-US" sz="1600" dirty="0"/>
          </a:p>
        </p:txBody>
      </p:sp>
      <p:sp>
        <p:nvSpPr>
          <p:cNvPr id="13" name="t_2#b"/>
          <p:cNvSpPr txBox="1"/>
          <p:nvPr/>
        </p:nvSpPr>
        <p:spPr>
          <a:xfrm>
            <a:off x="5175504" y="2240280"/>
            <a:ext cx="1673352" cy="1170432"/>
          </a:xfrm>
          <a:prstGeom prst="rect">
            <a:avLst/>
          </a:prstGeom>
          <a:noFill/>
          <a:ln/>
        </p:spPr>
        <p:txBody>
          <a:bodyPr wrap="square" lIns="0" tIns="0" rIns="0" bIns="0" rtlCol="0" anchor="t"/>
          <a:lstStyle/>
          <a:p>
            <a:pPr indent="0" marL="0">
              <a:spcAft>
                <a:spcPts val="400"/>
              </a:spcAft>
              <a:buNone/>
            </a:pPr>
            <a:r>
              <a:rPr lang="en-US" sz="1250" dirty="0">
                <a:solidFill>
                  <a:srgbClr val="AEBBD0"/>
                </a:solidFill>
                <a:latin typeface="Calibri" pitchFamily="34" charset="0"/>
                <a:ea typeface="Calibri" pitchFamily="34" charset="-122"/>
                <a:cs typeface="Calibri" pitchFamily="34" charset="-120"/>
              </a:rPr>
              <a:t>Data handling and figures</a:t>
            </a:r>
            <a:endParaRPr lang="en-US" sz="1250" dirty="0"/>
          </a:p>
        </p:txBody>
      </p:sp>
      <p:sp>
        <p:nvSpPr>
          <p:cNvPr id="14" name="t_3#box"/>
          <p:cNvSpPr/>
          <p:nvPr/>
        </p:nvSpPr>
        <p:spPr>
          <a:xfrm>
            <a:off x="548640" y="3703320"/>
            <a:ext cx="2075688" cy="1828800"/>
          </a:xfrm>
          <a:prstGeom prst="roundRect">
            <a:avLst>
              <a:gd name="adj" fmla="val 5000"/>
            </a:avLst>
          </a:prstGeom>
          <a:solidFill>
            <a:srgbClr val="0F1B2D"/>
          </a:solidFill>
          <a:ln w="12700">
            <a:solidFill>
              <a:srgbClr val="23344F"/>
            </a:solidFill>
            <a:prstDash val="solid"/>
          </a:ln>
        </p:spPr>
      </p:sp>
      <p:sp>
        <p:nvSpPr>
          <p:cNvPr id="15" name="t_3#h"/>
          <p:cNvSpPr txBox="1"/>
          <p:nvPr/>
        </p:nvSpPr>
        <p:spPr>
          <a:xfrm>
            <a:off x="749808" y="3886200"/>
            <a:ext cx="1673352" cy="384048"/>
          </a:xfrm>
          <a:prstGeom prst="rect">
            <a:avLst/>
          </a:prstGeom>
          <a:noFill/>
          <a:ln/>
        </p:spPr>
        <p:txBody>
          <a:bodyPr wrap="square" lIns="0" tIns="0" rIns="0" bIns="0" rtlCol="0" anchor="t"/>
          <a:lstStyle/>
          <a:p>
            <a:pPr indent="0" marL="0">
              <a:buNone/>
            </a:pPr>
            <a:r>
              <a:rPr lang="en-US" sz="1600" b="1" dirty="0">
                <a:solidFill>
                  <a:srgbClr val="EEF3FA"/>
                </a:solidFill>
                <a:latin typeface="Calibri" pitchFamily="34" charset="0"/>
                <a:ea typeface="Calibri" pitchFamily="34" charset="-122"/>
                <a:cs typeface="Calibri" pitchFamily="34" charset="-120"/>
              </a:rPr>
              <a:t>Python 3.13</a:t>
            </a:r>
            <a:endParaRPr lang="en-US" sz="1600" dirty="0"/>
          </a:p>
        </p:txBody>
      </p:sp>
      <p:sp>
        <p:nvSpPr>
          <p:cNvPr id="16" name="t_3#b"/>
          <p:cNvSpPr txBox="1"/>
          <p:nvPr/>
        </p:nvSpPr>
        <p:spPr>
          <a:xfrm>
            <a:off x="749808" y="4251960"/>
            <a:ext cx="1673352" cy="1170432"/>
          </a:xfrm>
          <a:prstGeom prst="rect">
            <a:avLst/>
          </a:prstGeom>
          <a:noFill/>
          <a:ln/>
        </p:spPr>
        <p:txBody>
          <a:bodyPr wrap="square" lIns="0" tIns="0" rIns="0" bIns="0" rtlCol="0" anchor="t"/>
          <a:lstStyle/>
          <a:p>
            <a:pPr indent="0" marL="0">
              <a:spcAft>
                <a:spcPts val="400"/>
              </a:spcAft>
              <a:buNone/>
            </a:pPr>
            <a:r>
              <a:rPr lang="en-US" sz="1250" dirty="0">
                <a:solidFill>
                  <a:srgbClr val="AEBBD0"/>
                </a:solidFill>
                <a:latin typeface="Calibri" pitchFamily="34" charset="0"/>
                <a:ea typeface="Calibri" pitchFamily="34" charset="-122"/>
                <a:cs typeface="Calibri" pitchFamily="34" charset="-120"/>
              </a:rPr>
              <a:t>Every pipeline step is a script</a:t>
            </a:r>
            <a:endParaRPr lang="en-US" sz="1250" dirty="0"/>
          </a:p>
        </p:txBody>
      </p:sp>
      <p:sp>
        <p:nvSpPr>
          <p:cNvPr id="17" name="t_4#box"/>
          <p:cNvSpPr/>
          <p:nvPr/>
        </p:nvSpPr>
        <p:spPr>
          <a:xfrm>
            <a:off x="2761488" y="3703320"/>
            <a:ext cx="2075688" cy="1828800"/>
          </a:xfrm>
          <a:prstGeom prst="roundRect">
            <a:avLst>
              <a:gd name="adj" fmla="val 5000"/>
            </a:avLst>
          </a:prstGeom>
          <a:solidFill>
            <a:srgbClr val="0F1B2D"/>
          </a:solidFill>
          <a:ln w="12700">
            <a:solidFill>
              <a:srgbClr val="23344F"/>
            </a:solidFill>
            <a:prstDash val="solid"/>
          </a:ln>
        </p:spPr>
      </p:sp>
      <p:sp>
        <p:nvSpPr>
          <p:cNvPr id="18" name="t_4#h"/>
          <p:cNvSpPr txBox="1"/>
          <p:nvPr/>
        </p:nvSpPr>
        <p:spPr>
          <a:xfrm>
            <a:off x="2962656" y="3886200"/>
            <a:ext cx="1673352" cy="384048"/>
          </a:xfrm>
          <a:prstGeom prst="rect">
            <a:avLst/>
          </a:prstGeom>
          <a:noFill/>
          <a:ln/>
        </p:spPr>
        <p:txBody>
          <a:bodyPr wrap="square" lIns="0" tIns="0" rIns="0" bIns="0" rtlCol="0" anchor="t"/>
          <a:lstStyle/>
          <a:p>
            <a:pPr indent="0" marL="0">
              <a:buNone/>
            </a:pPr>
            <a:r>
              <a:rPr lang="en-US" sz="1600" b="1" dirty="0">
                <a:solidFill>
                  <a:srgbClr val="EEF3FA"/>
                </a:solidFill>
                <a:latin typeface="Calibri" pitchFamily="34" charset="0"/>
                <a:ea typeface="Calibri" pitchFamily="34" charset="-122"/>
                <a:cs typeface="Calibri" pitchFamily="34" charset="-120"/>
              </a:rPr>
              <a:t>Three.js Studio</a:t>
            </a:r>
            <a:endParaRPr lang="en-US" sz="1600" dirty="0"/>
          </a:p>
        </p:txBody>
      </p:sp>
      <p:sp>
        <p:nvSpPr>
          <p:cNvPr id="19" name="t_4#b"/>
          <p:cNvSpPr txBox="1"/>
          <p:nvPr/>
        </p:nvSpPr>
        <p:spPr>
          <a:xfrm>
            <a:off x="2962656" y="4251960"/>
            <a:ext cx="1673352" cy="1170432"/>
          </a:xfrm>
          <a:prstGeom prst="rect">
            <a:avLst/>
          </a:prstGeom>
          <a:noFill/>
          <a:ln/>
        </p:spPr>
        <p:txBody>
          <a:bodyPr wrap="square" lIns="0" tIns="0" rIns="0" bIns="0" rtlCol="0" anchor="t"/>
          <a:lstStyle/>
          <a:p>
            <a:pPr indent="0" marL="0">
              <a:spcAft>
                <a:spcPts val="400"/>
              </a:spcAft>
              <a:buNone/>
            </a:pPr>
            <a:r>
              <a:rPr lang="en-US" sz="1250" dirty="0">
                <a:solidFill>
                  <a:srgbClr val="AEBBD0"/>
                </a:solidFill>
                <a:latin typeface="Calibri" pitchFamily="34" charset="0"/>
                <a:ea typeface="Calibri" pitchFamily="34" charset="-122"/>
                <a:cs typeface="Calibri" pitchFamily="34" charset="-120"/>
              </a:rPr>
              <a:t>Web app: generate, train, evaluate, infer, Level 2</a:t>
            </a:r>
            <a:endParaRPr lang="en-US" sz="1250" dirty="0"/>
          </a:p>
        </p:txBody>
      </p:sp>
      <p:sp>
        <p:nvSpPr>
          <p:cNvPr id="20" name="t_5#box"/>
          <p:cNvSpPr/>
          <p:nvPr/>
        </p:nvSpPr>
        <p:spPr>
          <a:xfrm>
            <a:off x="4974336" y="3703320"/>
            <a:ext cx="2075688" cy="1828800"/>
          </a:xfrm>
          <a:prstGeom prst="roundRect">
            <a:avLst>
              <a:gd name="adj" fmla="val 5000"/>
            </a:avLst>
          </a:prstGeom>
          <a:solidFill>
            <a:srgbClr val="0F1B2D"/>
          </a:solidFill>
          <a:ln w="12700">
            <a:solidFill>
              <a:srgbClr val="23344F"/>
            </a:solidFill>
            <a:prstDash val="solid"/>
          </a:ln>
        </p:spPr>
      </p:sp>
      <p:sp>
        <p:nvSpPr>
          <p:cNvPr id="21" name="t_5#h"/>
          <p:cNvSpPr txBox="1"/>
          <p:nvPr/>
        </p:nvSpPr>
        <p:spPr>
          <a:xfrm>
            <a:off x="5175504" y="3886200"/>
            <a:ext cx="1673352" cy="384048"/>
          </a:xfrm>
          <a:prstGeom prst="rect">
            <a:avLst/>
          </a:prstGeom>
          <a:noFill/>
          <a:ln/>
        </p:spPr>
        <p:txBody>
          <a:bodyPr wrap="square" lIns="0" tIns="0" rIns="0" bIns="0" rtlCol="0" anchor="t"/>
          <a:lstStyle/>
          <a:p>
            <a:pPr indent="0" marL="0">
              <a:buNone/>
            </a:pPr>
            <a:r>
              <a:rPr lang="en-US" sz="1600" b="1" dirty="0">
                <a:solidFill>
                  <a:srgbClr val="EEF3FA"/>
                </a:solidFill>
                <a:latin typeface="Calibri" pitchFamily="34" charset="0"/>
                <a:ea typeface="Calibri" pitchFamily="34" charset="-122"/>
                <a:cs typeface="Calibri" pitchFamily="34" charset="-120"/>
              </a:rPr>
              <a:t>Docker</a:t>
            </a:r>
            <a:endParaRPr lang="en-US" sz="1600" dirty="0"/>
          </a:p>
        </p:txBody>
      </p:sp>
      <p:sp>
        <p:nvSpPr>
          <p:cNvPr id="22" name="t_5#b"/>
          <p:cNvSpPr txBox="1"/>
          <p:nvPr/>
        </p:nvSpPr>
        <p:spPr>
          <a:xfrm>
            <a:off x="5175504" y="4251960"/>
            <a:ext cx="1673352" cy="1170432"/>
          </a:xfrm>
          <a:prstGeom prst="rect">
            <a:avLst/>
          </a:prstGeom>
          <a:noFill/>
          <a:ln/>
        </p:spPr>
        <p:txBody>
          <a:bodyPr wrap="square" lIns="0" tIns="0" rIns="0" bIns="0" rtlCol="0" anchor="t"/>
          <a:lstStyle/>
          <a:p>
            <a:pPr indent="0" marL="0">
              <a:spcAft>
                <a:spcPts val="400"/>
              </a:spcAft>
              <a:buNone/>
            </a:pPr>
            <a:r>
              <a:rPr lang="en-US" sz="1250" dirty="0">
                <a:solidFill>
                  <a:srgbClr val="AEBBD0"/>
                </a:solidFill>
                <a:latin typeface="Calibri" pitchFamily="34" charset="0"/>
                <a:ea typeface="Calibri" pitchFamily="34" charset="-122"/>
                <a:cs typeface="Calibri" pitchFamily="34" charset="-120"/>
              </a:rPr>
              <a:t>Offline image for the team PCs</a:t>
            </a:r>
            <a:endParaRPr lang="en-US" sz="1250" dirty="0"/>
          </a:p>
        </p:txBody>
      </p:sp>
      <p:sp>
        <p:nvSpPr>
          <p:cNvPr id="23" name="t_hw#box"/>
          <p:cNvSpPr/>
          <p:nvPr/>
        </p:nvSpPr>
        <p:spPr>
          <a:xfrm>
            <a:off x="7360920" y="1691640"/>
            <a:ext cx="4282135" cy="3840480"/>
          </a:xfrm>
          <a:prstGeom prst="roundRect">
            <a:avLst>
              <a:gd name="adj" fmla="val 2381"/>
            </a:avLst>
          </a:prstGeom>
          <a:solidFill>
            <a:srgbClr val="0F1B2D"/>
          </a:solidFill>
          <a:ln w="12700">
            <a:solidFill>
              <a:srgbClr val="23344F"/>
            </a:solidFill>
            <a:prstDash val="solid"/>
          </a:ln>
        </p:spPr>
      </p:sp>
      <p:sp>
        <p:nvSpPr>
          <p:cNvPr id="24" name="t_hw#k"/>
          <p:cNvSpPr txBox="1"/>
          <p:nvPr/>
        </p:nvSpPr>
        <p:spPr>
          <a:xfrm>
            <a:off x="7562088" y="1874520"/>
            <a:ext cx="3879799" cy="228600"/>
          </a:xfrm>
          <a:prstGeom prst="rect">
            <a:avLst/>
          </a:prstGeom>
          <a:noFill/>
          <a:ln/>
        </p:spPr>
        <p:txBody>
          <a:bodyPr wrap="square" lIns="0" tIns="0" rIns="0" bIns="0" rtlCol="0" anchor="t"/>
          <a:lstStyle/>
          <a:p>
            <a:pPr indent="0" marL="0">
              <a:buNone/>
            </a:pPr>
            <a:r>
              <a:rPr lang="en-US" sz="1050" b="1" spc="200" kern="0" dirty="0">
                <a:solidFill>
                  <a:srgbClr val="4FD6F2"/>
                </a:solidFill>
                <a:latin typeface="Calibri" pitchFamily="34" charset="0"/>
                <a:ea typeface="Calibri" pitchFamily="34" charset="-122"/>
                <a:cs typeface="Calibri" pitchFamily="34" charset="-120"/>
              </a:rPr>
              <a:t>WHERE THE RESULTS CAME FROM</a:t>
            </a:r>
            <a:endParaRPr lang="en-US" sz="1050" dirty="0"/>
          </a:p>
        </p:txBody>
      </p:sp>
      <p:sp>
        <p:nvSpPr>
          <p:cNvPr id="25" name="t_hw#h"/>
          <p:cNvSpPr txBox="1"/>
          <p:nvPr/>
        </p:nvSpPr>
        <p:spPr>
          <a:xfrm>
            <a:off x="7562088" y="2167128"/>
            <a:ext cx="3879799" cy="384048"/>
          </a:xfrm>
          <a:prstGeom prst="rect">
            <a:avLst/>
          </a:prstGeom>
          <a:noFill/>
          <a:ln/>
        </p:spPr>
        <p:txBody>
          <a:bodyPr wrap="square" lIns="0" tIns="0" rIns="0" bIns="0" rtlCol="0" anchor="t"/>
          <a:lstStyle/>
          <a:p>
            <a:pPr indent="0" marL="0">
              <a:buNone/>
            </a:pPr>
            <a:r>
              <a:rPr lang="en-US" sz="1600" b="1" dirty="0">
                <a:solidFill>
                  <a:srgbClr val="EEF3FA"/>
                </a:solidFill>
                <a:latin typeface="Calibri" pitchFamily="34" charset="0"/>
                <a:ea typeface="Calibri" pitchFamily="34" charset="-122"/>
                <a:cs typeface="Calibri" pitchFamily="34" charset="-120"/>
              </a:rPr>
              <a:t>Hardware</a:t>
            </a:r>
            <a:endParaRPr lang="en-US" sz="1600" dirty="0"/>
          </a:p>
        </p:txBody>
      </p:sp>
      <p:sp>
        <p:nvSpPr>
          <p:cNvPr id="26" name="t_hw#b"/>
          <p:cNvSpPr txBox="1"/>
          <p:nvPr/>
        </p:nvSpPr>
        <p:spPr>
          <a:xfrm>
            <a:off x="7562088" y="2532888"/>
            <a:ext cx="3879799" cy="2889504"/>
          </a:xfrm>
          <a:prstGeom prst="rect">
            <a:avLst/>
          </a:prstGeom>
          <a:noFill/>
          <a:ln/>
        </p:spPr>
        <p:txBody>
          <a:bodyPr wrap="square" lIns="0" tIns="0" rIns="0" bIns="0" rtlCol="0" anchor="t"/>
          <a:lstStyle/>
          <a:p>
            <a:pPr indent="0" marL="0">
              <a:spcAft>
                <a:spcPts val="400"/>
              </a:spcAft>
              <a:buNone/>
            </a:pPr>
            <a:r>
              <a:rPr lang="en-US" sz="1250" dirty="0">
                <a:solidFill>
                  <a:srgbClr val="AEBBD0"/>
                </a:solidFill>
                <a:latin typeface="Calibri" pitchFamily="34" charset="0"/>
                <a:ea typeface="Calibri" pitchFamily="34" charset="-122"/>
                <a:cs typeface="Calibri" pitchFamily="34" charset="-120"/>
              </a:rPr>
              <a:t>Team, Level 1 best run: NVIDIA RTX A6000, 719 s training.</a:t>
            </a:r>
            <a:endParaRPr lang="en-US" sz="1250" dirty="0"/>
          </a:p>
          <a:p>
            <a:pPr indent="0" marL="0">
              <a:spcAft>
                <a:spcPts val="400"/>
              </a:spcAft>
              <a:buNone/>
            </a:pPr>
            <a:endParaRPr lang="en-US" sz="1250" dirty="0"/>
          </a:p>
          <a:p>
            <a:pPr indent="0" marL="0">
              <a:spcAft>
                <a:spcPts val="400"/>
              </a:spcAft>
              <a:buNone/>
            </a:pPr>
            <a:r>
              <a:rPr lang="en-US" sz="1250" dirty="0">
                <a:solidFill>
                  <a:srgbClr val="AEBBD0"/>
                </a:solidFill>
                <a:latin typeface="Calibri" pitchFamily="34" charset="0"/>
                <a:ea typeface="Calibri" pitchFamily="34" charset="-122"/>
                <a:cs typeface="Calibri" pitchFamily="34" charset="-120"/>
              </a:rPr>
              <a:t>Team, Level 2 agent: 20 M PPO steps, 134 min (GPU updates, 80 simulated arms on CPU workers).</a:t>
            </a:r>
            <a:endParaRPr lang="en-US" sz="1250" dirty="0"/>
          </a:p>
          <a:p>
            <a:pPr indent="0" marL="0">
              <a:spcAft>
                <a:spcPts val="400"/>
              </a:spcAft>
              <a:buNone/>
            </a:pPr>
            <a:endParaRPr lang="en-US" sz="1250" dirty="0"/>
          </a:p>
          <a:p>
            <a:pPr indent="0" marL="0">
              <a:spcAft>
                <a:spcPts val="400"/>
              </a:spcAft>
              <a:buNone/>
            </a:pPr>
            <a:r>
              <a:rPr lang="en-US" sz="1250" dirty="0">
                <a:solidFill>
                  <a:srgbClr val="AEBBD0"/>
                </a:solidFill>
                <a:latin typeface="Calibri" pitchFamily="34" charset="0"/>
                <a:ea typeface="Calibri" pitchFamily="34" charset="-122"/>
                <a:cs typeface="Calibri" pitchFamily="34" charset="-120"/>
              </a:rPr>
              <a:t>This presentation: everything re-measured on a 4-core CPU, no GPU.</a:t>
            </a:r>
            <a:endParaRPr lang="en-US" sz="1250" dirty="0"/>
          </a:p>
        </p:txBody>
      </p:sp>
      <p:sp>
        <p:nvSpPr>
          <p:cNvPr id="27" name="Text 24"/>
          <p:cNvSpPr txBox="1"/>
          <p:nvPr/>
        </p:nvSpPr>
        <p:spPr>
          <a:xfrm>
            <a:off x="548640" y="5760720"/>
            <a:ext cx="10058400" cy="274320"/>
          </a:xfrm>
          <a:prstGeom prst="rect">
            <a:avLst/>
          </a:prstGeom>
          <a:noFill/>
          <a:ln/>
        </p:spPr>
        <p:txBody>
          <a:bodyPr wrap="square" lIns="0" tIns="0" rIns="0" bIns="0" rtlCol="0" anchor="t"/>
          <a:lstStyle/>
          <a:p>
            <a:pPr indent="0" marL="0">
              <a:buNone/>
            </a:pPr>
            <a:r>
              <a:rPr lang="en-US" sz="1100" dirty="0">
                <a:solidFill>
                  <a:srgbClr val="7F8FA8"/>
                </a:solidFill>
                <a:latin typeface="Calibri" pitchFamily="34" charset="0"/>
                <a:ea typeface="Calibri" pitchFamily="34" charset="-122"/>
                <a:cs typeface="Calibri" pitchFamily="34" charset="-120"/>
              </a:rPr>
              <a:t>Simulation only: PyBullet moves the arm kinematically (no dynamics); obstacles in Level 2 are spheres.</a:t>
            </a:r>
            <a:endParaRPr lang="en-US" sz="1100" dirty="0"/>
          </a:p>
        </p:txBody>
      </p:sp>
      <p:sp>
        <p:nvSpPr>
          <p:cNvPr id="25" name="Slide Number Placeholder 0"/>
          <p:cNvSpPr>
            <a:spLocks noGrp="1"/>
          </p:cNvSpPr>
          <p:nvPr>
            <p:ph type="sldNum" sz="quarter" idx="4294967295"/>
          </p:nvPr>
        </p:nvSpPr>
        <p:spPr>
          <a:xfrm>
            <a:off x="11094415" y="6446520"/>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7F8FA8"/>
                </a:solidFill>
              </a:defRPr>
            </a:lvl1pPr>
          </a:lstStyle>
          <a:p>
            <a:pPr algn="r"/>
            <a:fld id="{F7021451-1387-4CA6-816F-3879F97B5CBC}" type="slidenum">
              <a:rPr b="0" lang="en-US"/>
              <a:t>5</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13" fill="hold">
                            <p:stCondLst>
                              <p:cond delay="0"/>
                            </p:stCondLst>
                            <p:childTnLst>
                              <p:par>
                                <p:cTn id="4" presetID="10" presetClass="entr" presetSubtype="0" fill="hold" grpId="0" nodeType="afterEffect">
                                  <p:stCondLst>
                                    <p:cond delay="0"/>
                                  </p:stCondLst>
                                  <p:childTnLst>
                                    <p:set>
                                      <p:cBhvr>
                                        <p:cTn id="5" dur="1" fill="hold">
                                          <p:stCondLst>
                                            <p:cond delay="0"/>
                                          </p:stCondLst>
                                        </p:cTn>
                                        <p:tgtEl>
                                          <p:spTgt spid="5"/>
                                        </p:tgtEl>
                                        <p:attrNameLst>
                                          <p:attrName>style.visibility</p:attrName>
                                        </p:attrNameLst>
                                      </p:cBhvr>
                                      <p:to>
                                        <p:strVal val="visible"/>
                                      </p:to>
                                    </p:set>
                                    <p:animEffect transition="in" filter="fade">
                                      <p:cBhvr>
                                        <p:cTn id="6" dur="420"/>
                                        <p:tgtEl>
                                          <p:spTgt spid="5"/>
                                        </p:tgtEl>
                                      </p:cBhvr>
                                    </p:animEffect>
                                  </p:childTnLst>
                                </p:cTn>
                              </p:par>
                              <p:par>
                                <p:cTn id="7" presetID="10"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animEffect transition="in" filter="fade">
                                      <p:cBhvr>
                                        <p:cTn id="9" dur="420"/>
                                        <p:tgtEl>
                                          <p:spTgt spid="6"/>
                                        </p:tgtEl>
                                      </p:cBhvr>
                                    </p:animEffect>
                                  </p:childTnLst>
                                </p:cTn>
                              </p:par>
                              <p:par>
                                <p:cTn id="10" presetID="10" presetClass="entr" presetSubtype="0" fill="hold" grpId="0" nodeType="with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420"/>
                                        <p:tgtEl>
                                          <p:spTgt spid="7"/>
                                        </p:tgtEl>
                                      </p:cBhvr>
                                    </p:animEffect>
                                  </p:childTnLst>
                                </p:cTn>
                              </p:par>
                            </p:childTnLst>
                          </p:cTn>
                        </p:par>
                        <p:par>
                          <p:cTn id="23" fill="hold">
                            <p:stCondLst>
                              <p:cond delay="0"/>
                            </p:stCondLst>
                            <p:childTnLst>
                              <p:par>
                                <p:cTn id="14" presetID="10" presetClass="entr" presetSubtype="0" fill="hold" grpId="0" nodeType="after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2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20"/>
                                        <p:tgtEl>
                                          <p:spTgt spid="9"/>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420"/>
                                        <p:tgtEl>
                                          <p:spTgt spid="10"/>
                                        </p:tgtEl>
                                      </p:cBhvr>
                                    </p:animEffect>
                                  </p:childTnLst>
                                </p:cTn>
                              </p:par>
                            </p:childTnLst>
                          </p:cTn>
                        </p:par>
                        <p:par>
                          <p:cTn id="33" fill="hold">
                            <p:stCondLst>
                              <p:cond delay="260"/>
                            </p:stCondLst>
                            <p:childTnLst>
                              <p:par>
                                <p:cTn id="24" presetID="10" presetClass="entr" presetSubtype="0" fill="hold" grpId="0" nodeType="after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420"/>
                                        <p:tgtEl>
                                          <p:spTgt spid="11"/>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42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fade">
                                      <p:cBhvr>
                                        <p:cTn id="32" dur="420"/>
                                        <p:tgtEl>
                                          <p:spTgt spid="13"/>
                                        </p:tgtEl>
                                      </p:cBhvr>
                                    </p:animEffect>
                                  </p:childTnLst>
                                </p:cTn>
                              </p:par>
                            </p:childTnLst>
                          </p:cTn>
                        </p:par>
                        <p:par>
                          <p:cTn id="43" fill="hold">
                            <p:stCondLst>
                              <p:cond delay="520"/>
                            </p:stCondLst>
                            <p:childTnLst>
                              <p:par>
                                <p:cTn id="34" presetID="10" presetClass="entr" presetSubtype="0" fill="hold" grpId="0" nodeType="after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20"/>
                                        <p:tgtEl>
                                          <p:spTgt spid="14"/>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15"/>
                                        </p:tgtEl>
                                        <p:attrNameLst>
                                          <p:attrName>style.visibility</p:attrName>
                                        </p:attrNameLst>
                                      </p:cBhvr>
                                      <p:to>
                                        <p:strVal val="visible"/>
                                      </p:to>
                                    </p:set>
                                    <p:animEffect transition="in" filter="fade">
                                      <p:cBhvr>
                                        <p:cTn id="39" dur="420"/>
                                        <p:tgtEl>
                                          <p:spTgt spid="15"/>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16"/>
                                        </p:tgtEl>
                                        <p:attrNameLst>
                                          <p:attrName>style.visibility</p:attrName>
                                        </p:attrNameLst>
                                      </p:cBhvr>
                                      <p:to>
                                        <p:strVal val="visible"/>
                                      </p:to>
                                    </p:set>
                                    <p:animEffect transition="in" filter="fade">
                                      <p:cBhvr>
                                        <p:cTn id="42" dur="420"/>
                                        <p:tgtEl>
                                          <p:spTgt spid="16"/>
                                        </p:tgtEl>
                                      </p:cBhvr>
                                    </p:animEffect>
                                  </p:childTnLst>
                                </p:cTn>
                              </p:par>
                            </p:childTnLst>
                          </p:cTn>
                        </p:par>
                        <p:par>
                          <p:cTn id="53" fill="hold">
                            <p:stCondLst>
                              <p:cond delay="780"/>
                            </p:stCondLst>
                            <p:childTnLst>
                              <p:par>
                                <p:cTn id="44" presetID="10" presetClass="entr" presetSubtype="0" fill="hold" grpId="0" nodeType="afterEffect">
                                  <p:stCondLst>
                                    <p:cond delay="0"/>
                                  </p:stCondLst>
                                  <p:childTnLst>
                                    <p:set>
                                      <p:cBhvr>
                                        <p:cTn id="45" dur="1" fill="hold">
                                          <p:stCondLst>
                                            <p:cond delay="0"/>
                                          </p:stCondLst>
                                        </p:cTn>
                                        <p:tgtEl>
                                          <p:spTgt spid="17"/>
                                        </p:tgtEl>
                                        <p:attrNameLst>
                                          <p:attrName>style.visibility</p:attrName>
                                        </p:attrNameLst>
                                      </p:cBhvr>
                                      <p:to>
                                        <p:strVal val="visible"/>
                                      </p:to>
                                    </p:set>
                                    <p:animEffect transition="in" filter="fade">
                                      <p:cBhvr>
                                        <p:cTn id="46" dur="420"/>
                                        <p:tgtEl>
                                          <p:spTgt spid="17"/>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18"/>
                                        </p:tgtEl>
                                        <p:attrNameLst>
                                          <p:attrName>style.visibility</p:attrName>
                                        </p:attrNameLst>
                                      </p:cBhvr>
                                      <p:to>
                                        <p:strVal val="visible"/>
                                      </p:to>
                                    </p:set>
                                    <p:animEffect transition="in" filter="fade">
                                      <p:cBhvr>
                                        <p:cTn id="49" dur="420"/>
                                        <p:tgtEl>
                                          <p:spTgt spid="18"/>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9"/>
                                        </p:tgtEl>
                                        <p:attrNameLst>
                                          <p:attrName>style.visibility</p:attrName>
                                        </p:attrNameLst>
                                      </p:cBhvr>
                                      <p:to>
                                        <p:strVal val="visible"/>
                                      </p:to>
                                    </p:set>
                                    <p:animEffect transition="in" filter="fade">
                                      <p:cBhvr>
                                        <p:cTn id="52" dur="420"/>
                                        <p:tgtEl>
                                          <p:spTgt spid="19"/>
                                        </p:tgtEl>
                                      </p:cBhvr>
                                    </p:animEffect>
                                  </p:childTnLst>
                                </p:cTn>
                              </p:par>
                            </p:childTnLst>
                          </p:cTn>
                        </p:par>
                        <p:par>
                          <p:cTn id="63" fill="hold">
                            <p:stCondLst>
                              <p:cond delay="1040"/>
                            </p:stCondLst>
                            <p:childTnLst>
                              <p:par>
                                <p:cTn id="54" presetID="10" presetClass="entr" presetSubtype="0" fill="hold" grpId="0" nodeType="afterEffect">
                                  <p:stCondLst>
                                    <p:cond delay="0"/>
                                  </p:stCondLst>
                                  <p:childTnLst>
                                    <p:set>
                                      <p:cBhvr>
                                        <p:cTn id="55" dur="1" fill="hold">
                                          <p:stCondLst>
                                            <p:cond delay="0"/>
                                          </p:stCondLst>
                                        </p:cTn>
                                        <p:tgtEl>
                                          <p:spTgt spid="20"/>
                                        </p:tgtEl>
                                        <p:attrNameLst>
                                          <p:attrName>style.visibility</p:attrName>
                                        </p:attrNameLst>
                                      </p:cBhvr>
                                      <p:to>
                                        <p:strVal val="visible"/>
                                      </p:to>
                                    </p:set>
                                    <p:animEffect transition="in" filter="fade">
                                      <p:cBhvr>
                                        <p:cTn id="56" dur="420"/>
                                        <p:tgtEl>
                                          <p:spTgt spid="20"/>
                                        </p:tgtEl>
                                      </p:cBhvr>
                                    </p:animEffect>
                                  </p:childTnLst>
                                </p:cTn>
                              </p:par>
                              <p:par>
                                <p:cTn id="57" presetID="10" presetClass="entr" presetSubtype="0" fill="hold" grpId="0" nodeType="withEffect">
                                  <p:stCondLst>
                                    <p:cond delay="0"/>
                                  </p:stCondLst>
                                  <p:childTnLst>
                                    <p:set>
                                      <p:cBhvr>
                                        <p:cTn id="58" dur="1" fill="hold">
                                          <p:stCondLst>
                                            <p:cond delay="0"/>
                                          </p:stCondLst>
                                        </p:cTn>
                                        <p:tgtEl>
                                          <p:spTgt spid="21"/>
                                        </p:tgtEl>
                                        <p:attrNameLst>
                                          <p:attrName>style.visibility</p:attrName>
                                        </p:attrNameLst>
                                      </p:cBhvr>
                                      <p:to>
                                        <p:strVal val="visible"/>
                                      </p:to>
                                    </p:set>
                                    <p:animEffect transition="in" filter="fade">
                                      <p:cBhvr>
                                        <p:cTn id="59" dur="420"/>
                                        <p:tgtEl>
                                          <p:spTgt spid="21"/>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2"/>
                                        </p:tgtEl>
                                        <p:attrNameLst>
                                          <p:attrName>style.visibility</p:attrName>
                                        </p:attrNameLst>
                                      </p:cBhvr>
                                      <p:to>
                                        <p:strVal val="visible"/>
                                      </p:to>
                                    </p:set>
                                    <p:animEffect transition="in" filter="fade">
                                      <p:cBhvr>
                                        <p:cTn id="62" dur="420"/>
                                        <p:tgtEl>
                                          <p:spTgt spid="22"/>
                                        </p:tgtEl>
                                      </p:cBhvr>
                                    </p:animEffect>
                                  </p:childTnLst>
                                </p:cTn>
                              </p:par>
                            </p:childTnLst>
                          </p:cTn>
                        </p:par>
                        <p:par>
                          <p:cTn id="76" fill="hold">
                            <p:stCondLst>
                              <p:cond delay="1300"/>
                            </p:stCondLst>
                            <p:childTnLst>
                              <p:par>
                                <p:cTn id="64" presetID="10" presetClass="entr" presetSubtype="0" fill="hold" grpId="0" nodeType="afterEffect">
                                  <p:stCondLst>
                                    <p:cond delay="0"/>
                                  </p:stCondLst>
                                  <p:childTnLst>
                                    <p:set>
                                      <p:cBhvr>
                                        <p:cTn id="65" dur="1" fill="hold">
                                          <p:stCondLst>
                                            <p:cond delay="0"/>
                                          </p:stCondLst>
                                        </p:cTn>
                                        <p:tgtEl>
                                          <p:spTgt spid="23"/>
                                        </p:tgtEl>
                                        <p:attrNameLst>
                                          <p:attrName>style.visibility</p:attrName>
                                        </p:attrNameLst>
                                      </p:cBhvr>
                                      <p:to>
                                        <p:strVal val="visible"/>
                                      </p:to>
                                    </p:set>
                                    <p:animEffect transition="in" filter="fade">
                                      <p:cBhvr>
                                        <p:cTn id="66" dur="420"/>
                                        <p:tgtEl>
                                          <p:spTgt spid="23"/>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24"/>
                                        </p:tgtEl>
                                        <p:attrNameLst>
                                          <p:attrName>style.visibility</p:attrName>
                                        </p:attrNameLst>
                                      </p:cBhvr>
                                      <p:to>
                                        <p:strVal val="visible"/>
                                      </p:to>
                                    </p:set>
                                    <p:animEffect transition="in" filter="fade">
                                      <p:cBhvr>
                                        <p:cTn id="69" dur="420"/>
                                        <p:tgtEl>
                                          <p:spTgt spid="24"/>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25"/>
                                        </p:tgtEl>
                                        <p:attrNameLst>
                                          <p:attrName>style.visibility</p:attrName>
                                        </p:attrNameLst>
                                      </p:cBhvr>
                                      <p:to>
                                        <p:strVal val="visible"/>
                                      </p:to>
                                    </p:set>
                                    <p:animEffect transition="in" filter="fade">
                                      <p:cBhvr>
                                        <p:cTn id="72" dur="420"/>
                                        <p:tgtEl>
                                          <p:spTgt spid="25"/>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26"/>
                                        </p:tgtEl>
                                        <p:attrNameLst>
                                          <p:attrName>style.visibility</p:attrName>
                                        </p:attrNameLst>
                                      </p:cBhvr>
                                      <p:to>
                                        <p:strVal val="visible"/>
                                      </p:to>
                                    </p:set>
                                    <p:animEffect transition="in" filter="fade">
                                      <p:cBhvr>
                                        <p:cTn id="75" dur="42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animBg="1"/>
      <p:bldP spid="7" grpId="0" animBg="1"/>
      <p:bldP spid="8" grpId="0"/>
      <p:bldP spid="9" grpId="0" animBg="1"/>
      <p:bldP spid="10" grpId="0" animBg="1"/>
      <p:bldP spid="11" grpId="0"/>
      <p:bldP spid="12" grpId="0" animBg="1"/>
      <p:bldP spid="13" grpId="0" animBg="1"/>
      <p:bldP spid="14" grpId="0"/>
      <p:bldP spid="15" grpId="0" animBg="1"/>
      <p:bldP spid="16" grpId="0" animBg="1"/>
      <p:bldP spid="17" grpId="0"/>
      <p:bldP spid="18" grpId="0" animBg="1"/>
      <p:bldP spid="19" grpId="0" animBg="1"/>
      <p:bldP spid="20" grpId="0"/>
      <p:bldP spid="21" grpId="0" animBg="1"/>
      <p:bldP spid="22" grpId="0" animBg="1"/>
      <p:bldP spid="23" grpId="0"/>
      <p:bldP spid="24" grpId="0" animBg="1"/>
      <p:bldP spid="25" grpId="0" animBg="1"/>
      <p:bldP spid="26"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1" type="body" hasCustomPrompt="1"/>
          </p:nvPr>
        </p:nvSpPr>
        <p:spPr>
          <a:xfrm>
            <a:off x="731520" y="310896"/>
            <a:ext cx="8686800" cy="329184"/>
          </a:xfrm>
          <a:prstGeom prst="rect">
            <a:avLst/>
          </a:prstGeom>
          <a:noFill/>
          <a:ln/>
        </p:spPr>
        <p:txBody>
          <a:bodyPr wrap="square" lIns="0" tIns="0" rIns="0" bIns="0" rtlCol="0" anchor="ctr"/>
          <a:lstStyle/>
          <a:p>
            <a:pPr algn="l" indent="0" marL="0">
              <a:buNone/>
            </a:pPr>
            <a:r>
              <a:rPr lang="en-US" sz="1200" b="1" spc="300" kern="0" dirty="0">
                <a:solidFill>
                  <a:srgbClr val="AEBBD0"/>
                </a:solidFill>
              </a:rPr>
              <a:t>LEVEL 1 · ROBOT</a:t>
            </a:r>
            <a:endParaRPr lang="en-US" sz="1200" dirty="0"/>
          </a:p>
        </p:txBody>
      </p:sp>
      <p:sp>
        <p:nvSpPr>
          <p:cNvPr id="3" name="Text 0"/>
          <p:cNvSpPr/>
          <p:nvPr>
            <p:ph idx="102" type="title" hasCustomPrompt="1"/>
          </p:nvPr>
        </p:nvSpPr>
        <p:spPr>
          <a:xfrm>
            <a:off x="548640" y="658368"/>
            <a:ext cx="11094415" cy="731520"/>
          </a:xfrm>
          <a:prstGeom prst="rect">
            <a:avLst/>
          </a:prstGeom>
          <a:noFill/>
          <a:ln/>
        </p:spPr>
        <p:txBody>
          <a:bodyPr wrap="square" lIns="0" tIns="0" rIns="0" bIns="0" rtlCol="0" anchor="ctr"/>
          <a:lstStyle/>
          <a:p>
            <a:pPr algn="l" indent="0" marL="0">
              <a:buNone/>
            </a:pPr>
            <a:r>
              <a:rPr lang="en-US" sz="3200" b="1" dirty="0">
                <a:solidFill>
                  <a:srgbClr val="EEF3FA"/>
                </a:solidFill>
              </a:rPr>
              <a:t>Building the xArm6 digital robot</a:t>
            </a:r>
            <a:endParaRPr lang="en-US" sz="3200" dirty="0"/>
          </a:p>
        </p:txBody>
      </p:sp>
      <p:sp>
        <p:nvSpPr>
          <p:cNvPr id="5" name="video_robot_intro#frame"/>
          <p:cNvSpPr/>
          <p:nvPr/>
        </p:nvSpPr>
        <p:spPr>
          <a:xfrm>
            <a:off x="521208" y="1664208"/>
            <a:ext cx="6364224" cy="3603879"/>
          </a:xfrm>
          <a:prstGeom prst="roundRect">
            <a:avLst>
              <a:gd name="adj" fmla="val 1015"/>
            </a:avLst>
          </a:prstGeom>
          <a:solidFill>
            <a:srgbClr val="0A1527"/>
          </a:solidFill>
          <a:ln w="12700">
            <a:solidFill>
              <a:srgbClr val="23344F"/>
            </a:solidFill>
            <a:prstDash val="solid"/>
          </a:ln>
        </p:spPr>
      </p:sp>
      <p:pic>
        <p:nvPicPr>
          <p:cNvPr id="3" name="video_robot_intro#media">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548640" y="1691640"/>
            <a:ext cx="6309360" cy="3549015"/>
          </a:xfrm>
          <a:prstGeom prst="rect">
            <a:avLst/>
          </a:prstGeom>
        </p:spPr>
      </p:pic>
      <p:sp>
        <p:nvSpPr>
          <p:cNvPr id="7" name="video_robot_intro#cap"/>
          <p:cNvSpPr txBox="1"/>
          <p:nvPr/>
        </p:nvSpPr>
        <p:spPr>
          <a:xfrm>
            <a:off x="548640" y="5332095"/>
            <a:ext cx="6309360" cy="274320"/>
          </a:xfrm>
          <a:prstGeom prst="rect">
            <a:avLst/>
          </a:prstGeom>
          <a:noFill/>
          <a:ln/>
        </p:spPr>
        <p:txBody>
          <a:bodyPr wrap="square" lIns="0" tIns="0" rIns="0" bIns="0" rtlCol="0" anchor="t"/>
          <a:lstStyle/>
          <a:p>
            <a:pPr indent="0" marL="0">
              <a:buNone/>
            </a:pPr>
            <a:r>
              <a:rPr lang="en-US" sz="1050" dirty="0">
                <a:solidFill>
                  <a:srgbClr val="7F8FA8"/>
                </a:solidFill>
                <a:latin typeface="Calibri" pitchFamily="34" charset="0"/>
                <a:ea typeface="Calibri" pitchFamily="34" charset="-122"/>
                <a:cs typeface="Calibri" pitchFamily="34" charset="-120"/>
              </a:rPr>
              <a:t>Simulation 1 · each joint highlighted and swept inside its limits; end-effector frame at the end</a:t>
            </a:r>
            <a:endParaRPr lang="en-US" sz="1050" dirty="0"/>
          </a:p>
        </p:txBody>
      </p:sp>
      <p:graphicFrame>
        <p:nvGraphicFramePr>
          <p:cNvPr id="7" name="r_table"/>
          <p:cNvGraphicFramePr>
            <a:graphicFrameLocks noGrp="1"/>
          </p:cNvGraphicFramePr>
          <p:nvPr>
            <p:extLst>
              <p:ext uri="{D42A27DB-BD31-4B8C-83A1-F6EECF244321}">
                <p14:modId xmlns:p14="http://schemas.microsoft.com/office/powerpoint/2010/main" val="1579011935"/>
              </p:ext>
            </p:extLst>
          </p:nvPr>
        </p:nvGraphicFramePr>
        <p:xfrm>
          <a:off x="7178040" y="1691640"/>
          <a:ext cx="4465015" cy="914400"/>
        </p:xfrm>
        <a:graphic>
          <a:graphicData uri="http://schemas.openxmlformats.org/drawingml/2006/table">
            <a:tbl>
              <a:tblPr/>
              <a:tblGrid>
                <a:gridCol w="731520"/>
                <a:gridCol w="2011680"/>
                <a:gridCol w="1719072"/>
              </a:tblGrid>
              <a:tr h="329184">
                <a:tc>
                  <a:txBody>
                    <a:bodyPr/>
                    <a:lstStyle/>
                    <a:p>
                      <a:pPr indent="0" marL="0">
                        <a:buNone/>
                      </a:pPr>
                      <a:r>
                        <a:rPr lang="en-US" sz="1300" b="1" dirty="0">
                          <a:solidFill>
                            <a:srgbClr val="EEF3FA"/>
                          </a:solidFill>
                          <a:latin typeface="Calibri" pitchFamily="34" charset="0"/>
                          <a:ea typeface="Calibri" pitchFamily="34" charset="-122"/>
                          <a:cs typeface="Calibri" pitchFamily="34" charset="-120"/>
                        </a:rPr>
                        <a:t>Joint</a:t>
                      </a:r>
                      <a:endParaRPr lang="en-US" sz="1300" dirty="0">
                        <a:latin typeface="Calibri" charset="0"/>
                        <a:ea typeface="Calibri" charset="0"/>
                        <a:cs typeface="Calibri" charset="0"/>
                      </a:endParaRPr>
                    </a:p>
                  </a:txBody>
                  <a:tcPr marL="91440" marR="91440" marT="0" marB="0" anchor="ctr">
                    <a:lnL w="9525" cap="flat" cmpd="sng" algn="ctr">
                      <a:solidFill>
                        <a:srgbClr val="23344F"/>
                      </a:solidFill>
                      <a:prstDash val="solid"/>
                      <a:round/>
                      <a:headEnd type="none" w="med" len="med"/>
                      <a:tailEnd type="none" w="med" len="med"/>
                    </a:lnL>
                    <a:lnR w="9525" cap="flat" cmpd="sng" algn="ctr">
                      <a:solidFill>
                        <a:srgbClr val="23344F"/>
                      </a:solidFill>
                      <a:prstDash val="solid"/>
                      <a:round/>
                      <a:headEnd type="none" w="med" len="med"/>
                      <a:tailEnd type="none" w="med" len="med"/>
                    </a:lnR>
                    <a:lnT w="9525" cap="flat" cmpd="sng" algn="ctr">
                      <a:solidFill>
                        <a:srgbClr val="23344F"/>
                      </a:solidFill>
                      <a:prstDash val="solid"/>
                      <a:round/>
                      <a:headEnd type="none" w="med" len="med"/>
                      <a:tailEnd type="none" w="med" len="med"/>
                    </a:lnT>
                    <a:lnB w="9525" cap="flat" cmpd="sng" algn="ctr">
                      <a:solidFill>
                        <a:srgbClr val="23344F"/>
                      </a:solidFill>
                      <a:prstDash val="solid"/>
                      <a:round/>
                      <a:headEnd type="none" w="med" len="med"/>
                      <a:tailEnd type="none" w="med" len="med"/>
                    </a:lnB>
                    <a:solidFill>
                      <a:srgbClr val="0F1B2D"/>
                    </a:solidFill>
                  </a:tcPr>
                </a:tc>
                <a:tc>
                  <a:txBody>
                    <a:bodyPr/>
                    <a:lstStyle/>
                    <a:p>
                      <a:pPr indent="0" marL="0">
                        <a:buNone/>
                      </a:pPr>
                      <a:r>
                        <a:rPr lang="en-US" sz="1300" b="1" dirty="0">
                          <a:solidFill>
                            <a:srgbClr val="EEF3FA"/>
                          </a:solidFill>
                          <a:latin typeface="Calibri" pitchFamily="34" charset="0"/>
                          <a:ea typeface="Calibri" pitchFamily="34" charset="-122"/>
                          <a:cs typeface="Calibri" pitchFamily="34" charset="-120"/>
                        </a:rPr>
                        <a:t>Role</a:t>
                      </a:r>
                      <a:endParaRPr lang="en-US" sz="1300" dirty="0">
                        <a:latin typeface="Calibri" charset="0"/>
                        <a:ea typeface="Calibri" charset="0"/>
                        <a:cs typeface="Calibri" charset="0"/>
                      </a:endParaRPr>
                    </a:p>
                  </a:txBody>
                  <a:tcPr marL="91440" marR="91440" marT="0" marB="0" anchor="ctr">
                    <a:lnL w="9525" cap="flat" cmpd="sng" algn="ctr">
                      <a:solidFill>
                        <a:srgbClr val="23344F"/>
                      </a:solidFill>
                      <a:prstDash val="solid"/>
                      <a:round/>
                      <a:headEnd type="none" w="med" len="med"/>
                      <a:tailEnd type="none" w="med" len="med"/>
                    </a:lnL>
                    <a:lnR w="9525" cap="flat" cmpd="sng" algn="ctr">
                      <a:solidFill>
                        <a:srgbClr val="23344F"/>
                      </a:solidFill>
                      <a:prstDash val="solid"/>
                      <a:round/>
                      <a:headEnd type="none" w="med" len="med"/>
                      <a:tailEnd type="none" w="med" len="med"/>
                    </a:lnR>
                    <a:lnT w="9525" cap="flat" cmpd="sng" algn="ctr">
                      <a:solidFill>
                        <a:srgbClr val="23344F"/>
                      </a:solidFill>
                      <a:prstDash val="solid"/>
                      <a:round/>
                      <a:headEnd type="none" w="med" len="med"/>
                      <a:tailEnd type="none" w="med" len="med"/>
                    </a:lnT>
                    <a:lnB w="9525" cap="flat" cmpd="sng" algn="ctr">
                      <a:solidFill>
                        <a:srgbClr val="23344F"/>
                      </a:solidFill>
                      <a:prstDash val="solid"/>
                      <a:round/>
                      <a:headEnd type="none" w="med" len="med"/>
                      <a:tailEnd type="none" w="med" len="med"/>
                    </a:lnB>
                    <a:solidFill>
                      <a:srgbClr val="0F1B2D"/>
                    </a:solidFill>
                  </a:tcPr>
                </a:tc>
                <a:tc>
                  <a:txBody>
                    <a:bodyPr/>
                    <a:lstStyle/>
                    <a:p>
                      <a:pPr algn="r" indent="0" marL="0">
                        <a:buNone/>
                      </a:pPr>
                      <a:r>
                        <a:rPr lang="en-US" sz="1300" b="1" dirty="0">
                          <a:solidFill>
                            <a:srgbClr val="EEF3FA"/>
                          </a:solidFill>
                          <a:latin typeface="Calibri" pitchFamily="34" charset="0"/>
                          <a:ea typeface="Calibri" pitchFamily="34" charset="-122"/>
                          <a:cs typeface="Calibri" pitchFamily="34" charset="-120"/>
                        </a:rPr>
                        <a:t>Limits (°)</a:t>
                      </a:r>
                      <a:endParaRPr lang="en-US" sz="1300" dirty="0">
                        <a:latin typeface="Calibri" charset="0"/>
                        <a:ea typeface="Calibri" charset="0"/>
                        <a:cs typeface="Calibri" charset="0"/>
                      </a:endParaRPr>
                    </a:p>
                  </a:txBody>
                  <a:tcPr marL="91440" marR="91440" marT="0" marB="0" anchor="ctr">
                    <a:lnL w="9525" cap="flat" cmpd="sng" algn="ctr">
                      <a:solidFill>
                        <a:srgbClr val="23344F"/>
                      </a:solidFill>
                      <a:prstDash val="solid"/>
                      <a:round/>
                      <a:headEnd type="none" w="med" len="med"/>
                      <a:tailEnd type="none" w="med" len="med"/>
                    </a:lnL>
                    <a:lnR w="9525" cap="flat" cmpd="sng" algn="ctr">
                      <a:solidFill>
                        <a:srgbClr val="23344F"/>
                      </a:solidFill>
                      <a:prstDash val="solid"/>
                      <a:round/>
                      <a:headEnd type="none" w="med" len="med"/>
                      <a:tailEnd type="none" w="med" len="med"/>
                    </a:lnR>
                    <a:lnT w="9525" cap="flat" cmpd="sng" algn="ctr">
                      <a:solidFill>
                        <a:srgbClr val="23344F"/>
                      </a:solidFill>
                      <a:prstDash val="solid"/>
                      <a:round/>
                      <a:headEnd type="none" w="med" len="med"/>
                      <a:tailEnd type="none" w="med" len="med"/>
                    </a:lnT>
                    <a:lnB w="9525" cap="flat" cmpd="sng" algn="ctr">
                      <a:solidFill>
                        <a:srgbClr val="23344F"/>
                      </a:solidFill>
                      <a:prstDash val="solid"/>
                      <a:round/>
                      <a:headEnd type="none" w="med" len="med"/>
                      <a:tailEnd type="none" w="med" len="med"/>
                    </a:lnB>
                    <a:solidFill>
                      <a:srgbClr val="0F1B2D"/>
                    </a:solidFill>
                  </a:tcPr>
                </a:tc>
              </a:tr>
              <a:tr h="329184">
                <a:tc>
                  <a:txBody>
                    <a:bodyPr/>
                    <a:lstStyle/>
                    <a:p>
                      <a:pPr indent="0" marL="0">
                        <a:buNone/>
                      </a:pPr>
                      <a:r>
                        <a:rPr lang="en-US" sz="1300" dirty="0">
                          <a:solidFill>
                            <a:srgbClr val="AEBBD0"/>
                          </a:solidFill>
                          <a:latin typeface="Calibri" pitchFamily="34" charset="0"/>
                          <a:ea typeface="Calibri" pitchFamily="34" charset="-122"/>
                          <a:cs typeface="Calibri" pitchFamily="34" charset="-120"/>
                        </a:rPr>
                        <a:t>J1</a:t>
                      </a:r>
                      <a:endParaRPr lang="en-US" sz="1300" dirty="0">
                        <a:latin typeface="Calibri" charset="0"/>
                        <a:ea typeface="Calibri" charset="0"/>
                        <a:cs typeface="Calibri" charset="0"/>
                      </a:endParaRPr>
                    </a:p>
                  </a:txBody>
                  <a:tcPr marL="91440" marR="91440" marT="0" marB="0" anchor="ctr">
                    <a:lnL w="9525" cap="flat" cmpd="sng" algn="ctr">
                      <a:solidFill>
                        <a:srgbClr val="23344F"/>
                      </a:solidFill>
                      <a:prstDash val="solid"/>
                      <a:round/>
                      <a:headEnd type="none" w="med" len="med"/>
                      <a:tailEnd type="none" w="med" len="med"/>
                    </a:lnL>
                    <a:lnR w="9525" cap="flat" cmpd="sng" algn="ctr">
                      <a:solidFill>
                        <a:srgbClr val="23344F"/>
                      </a:solidFill>
                      <a:prstDash val="solid"/>
                      <a:round/>
                      <a:headEnd type="none" w="med" len="med"/>
                      <a:tailEnd type="none" w="med" len="med"/>
                    </a:lnR>
                    <a:lnT w="9525" cap="flat" cmpd="sng" algn="ctr">
                      <a:solidFill>
                        <a:srgbClr val="23344F"/>
                      </a:solidFill>
                      <a:prstDash val="solid"/>
                      <a:round/>
                      <a:headEnd type="none" w="med" len="med"/>
                      <a:tailEnd type="none" w="med" len="med"/>
                    </a:lnT>
                    <a:lnB w="9525" cap="flat" cmpd="sng" algn="ctr">
                      <a:solidFill>
                        <a:srgbClr val="23344F"/>
                      </a:solidFill>
                      <a:prstDash val="solid"/>
                      <a:round/>
                      <a:headEnd type="none" w="med" len="med"/>
                      <a:tailEnd type="none" w="med" len="med"/>
                    </a:lnB>
                    <a:solidFill>
                      <a:srgbClr val="0F1B2D"/>
                    </a:solidFill>
                  </a:tcPr>
                </a:tc>
                <a:tc>
                  <a:txBody>
                    <a:bodyPr/>
                    <a:lstStyle/>
                    <a:p>
                      <a:pPr indent="0" marL="0">
                        <a:buNone/>
                      </a:pPr>
                      <a:r>
                        <a:rPr lang="en-US" sz="1300" dirty="0">
                          <a:solidFill>
                            <a:srgbClr val="AEBBD0"/>
                          </a:solidFill>
                          <a:latin typeface="Calibri" pitchFamily="34" charset="0"/>
                          <a:ea typeface="Calibri" pitchFamily="34" charset="-122"/>
                          <a:cs typeface="Calibri" pitchFamily="34" charset="-120"/>
                        </a:rPr>
                        <a:t>base rotation</a:t>
                      </a:r>
                      <a:endParaRPr lang="en-US" sz="1300" dirty="0">
                        <a:latin typeface="Calibri" charset="0"/>
                        <a:ea typeface="Calibri" charset="0"/>
                        <a:cs typeface="Calibri" charset="0"/>
                      </a:endParaRPr>
                    </a:p>
                  </a:txBody>
                  <a:tcPr marL="91440" marR="91440" marT="0" marB="0" anchor="ctr">
                    <a:lnL w="9525" cap="flat" cmpd="sng" algn="ctr">
                      <a:solidFill>
                        <a:srgbClr val="23344F"/>
                      </a:solidFill>
                      <a:prstDash val="solid"/>
                      <a:round/>
                      <a:headEnd type="none" w="med" len="med"/>
                      <a:tailEnd type="none" w="med" len="med"/>
                    </a:lnL>
                    <a:lnR w="9525" cap="flat" cmpd="sng" algn="ctr">
                      <a:solidFill>
                        <a:srgbClr val="23344F"/>
                      </a:solidFill>
                      <a:prstDash val="solid"/>
                      <a:round/>
                      <a:headEnd type="none" w="med" len="med"/>
                      <a:tailEnd type="none" w="med" len="med"/>
                    </a:lnR>
                    <a:lnT w="9525" cap="flat" cmpd="sng" algn="ctr">
                      <a:solidFill>
                        <a:srgbClr val="23344F"/>
                      </a:solidFill>
                      <a:prstDash val="solid"/>
                      <a:round/>
                      <a:headEnd type="none" w="med" len="med"/>
                      <a:tailEnd type="none" w="med" len="med"/>
                    </a:lnT>
                    <a:lnB w="9525" cap="flat" cmpd="sng" algn="ctr">
                      <a:solidFill>
                        <a:srgbClr val="23344F"/>
                      </a:solidFill>
                      <a:prstDash val="solid"/>
                      <a:round/>
                      <a:headEnd type="none" w="med" len="med"/>
                      <a:tailEnd type="none" w="med" len="med"/>
                    </a:lnB>
                    <a:solidFill>
                      <a:srgbClr val="0F1B2D"/>
                    </a:solidFill>
                  </a:tcPr>
                </a:tc>
                <a:tc>
                  <a:txBody>
                    <a:bodyPr/>
                    <a:lstStyle/>
                    <a:p>
                      <a:pPr algn="r" indent="0" marL="0">
                        <a:buNone/>
                      </a:pPr>
                      <a:r>
                        <a:rPr lang="en-US" sz="1300" dirty="0">
                          <a:solidFill>
                            <a:srgbClr val="AEBBD0"/>
                          </a:solidFill>
                          <a:latin typeface="Calibri" pitchFamily="34" charset="0"/>
                          <a:ea typeface="Calibri" pitchFamily="34" charset="-122"/>
                          <a:cs typeface="Calibri" pitchFamily="34" charset="-120"/>
                        </a:rPr>
                        <a:t>−360 … 360</a:t>
                      </a:r>
                      <a:endParaRPr lang="en-US" sz="1300" dirty="0">
                        <a:latin typeface="Calibri" charset="0"/>
                        <a:ea typeface="Calibri" charset="0"/>
                        <a:cs typeface="Calibri" charset="0"/>
                      </a:endParaRPr>
                    </a:p>
                  </a:txBody>
                  <a:tcPr marL="91440" marR="91440" marT="0" marB="0" anchor="ctr">
                    <a:lnL w="9525" cap="flat" cmpd="sng" algn="ctr">
                      <a:solidFill>
                        <a:srgbClr val="23344F"/>
                      </a:solidFill>
                      <a:prstDash val="solid"/>
                      <a:round/>
                      <a:headEnd type="none" w="med" len="med"/>
                      <a:tailEnd type="none" w="med" len="med"/>
                    </a:lnL>
                    <a:lnR w="9525" cap="flat" cmpd="sng" algn="ctr">
                      <a:solidFill>
                        <a:srgbClr val="23344F"/>
                      </a:solidFill>
                      <a:prstDash val="solid"/>
                      <a:round/>
                      <a:headEnd type="none" w="med" len="med"/>
                      <a:tailEnd type="none" w="med" len="med"/>
                    </a:lnR>
                    <a:lnT w="9525" cap="flat" cmpd="sng" algn="ctr">
                      <a:solidFill>
                        <a:srgbClr val="23344F"/>
                      </a:solidFill>
                      <a:prstDash val="solid"/>
                      <a:round/>
                      <a:headEnd type="none" w="med" len="med"/>
                      <a:tailEnd type="none" w="med" len="med"/>
                    </a:lnT>
                    <a:lnB w="9525" cap="flat" cmpd="sng" algn="ctr">
                      <a:solidFill>
                        <a:srgbClr val="23344F"/>
                      </a:solidFill>
                      <a:prstDash val="solid"/>
                      <a:round/>
                      <a:headEnd type="none" w="med" len="med"/>
                      <a:tailEnd type="none" w="med" len="med"/>
                    </a:lnB>
                    <a:solidFill>
                      <a:srgbClr val="0F1B2D"/>
                    </a:solidFill>
                  </a:tcPr>
                </a:tc>
              </a:tr>
              <a:tr h="329184">
                <a:tc>
                  <a:txBody>
                    <a:bodyPr/>
                    <a:lstStyle/>
                    <a:p>
                      <a:pPr indent="0" marL="0">
                        <a:buNone/>
                      </a:pPr>
                      <a:r>
                        <a:rPr lang="en-US" sz="1300" dirty="0">
                          <a:solidFill>
                            <a:srgbClr val="AEBBD0"/>
                          </a:solidFill>
                          <a:latin typeface="Calibri" pitchFamily="34" charset="0"/>
                          <a:ea typeface="Calibri" pitchFamily="34" charset="-122"/>
                          <a:cs typeface="Calibri" pitchFamily="34" charset="-120"/>
                        </a:rPr>
                        <a:t>J2</a:t>
                      </a:r>
                      <a:endParaRPr lang="en-US" sz="1300" dirty="0">
                        <a:latin typeface="Calibri" charset="0"/>
                        <a:ea typeface="Calibri" charset="0"/>
                        <a:cs typeface="Calibri" charset="0"/>
                      </a:endParaRPr>
                    </a:p>
                  </a:txBody>
                  <a:tcPr marL="91440" marR="91440" marT="0" marB="0" anchor="ctr">
                    <a:lnL w="9525" cap="flat" cmpd="sng" algn="ctr">
                      <a:solidFill>
                        <a:srgbClr val="23344F"/>
                      </a:solidFill>
                      <a:prstDash val="solid"/>
                      <a:round/>
                      <a:headEnd type="none" w="med" len="med"/>
                      <a:tailEnd type="none" w="med" len="med"/>
                    </a:lnL>
                    <a:lnR w="9525" cap="flat" cmpd="sng" algn="ctr">
                      <a:solidFill>
                        <a:srgbClr val="23344F"/>
                      </a:solidFill>
                      <a:prstDash val="solid"/>
                      <a:round/>
                      <a:headEnd type="none" w="med" len="med"/>
                      <a:tailEnd type="none" w="med" len="med"/>
                    </a:lnR>
                    <a:lnT w="9525" cap="flat" cmpd="sng" algn="ctr">
                      <a:solidFill>
                        <a:srgbClr val="23344F"/>
                      </a:solidFill>
                      <a:prstDash val="solid"/>
                      <a:round/>
                      <a:headEnd type="none" w="med" len="med"/>
                      <a:tailEnd type="none" w="med" len="med"/>
                    </a:lnT>
                    <a:lnB w="9525" cap="flat" cmpd="sng" algn="ctr">
                      <a:solidFill>
                        <a:srgbClr val="23344F"/>
                      </a:solidFill>
                      <a:prstDash val="solid"/>
                      <a:round/>
                      <a:headEnd type="none" w="med" len="med"/>
                      <a:tailEnd type="none" w="med" len="med"/>
                    </a:lnB>
                    <a:solidFill>
                      <a:srgbClr val="0F1B2D"/>
                    </a:solidFill>
                  </a:tcPr>
                </a:tc>
                <a:tc>
                  <a:txBody>
                    <a:bodyPr/>
                    <a:lstStyle/>
                    <a:p>
                      <a:pPr indent="0" marL="0">
                        <a:buNone/>
                      </a:pPr>
                      <a:r>
                        <a:rPr lang="en-US" sz="1300" dirty="0">
                          <a:solidFill>
                            <a:srgbClr val="AEBBD0"/>
                          </a:solidFill>
                          <a:latin typeface="Calibri" pitchFamily="34" charset="0"/>
                          <a:ea typeface="Calibri" pitchFamily="34" charset="-122"/>
                          <a:cs typeface="Calibri" pitchFamily="34" charset="-120"/>
                        </a:rPr>
                        <a:t>shoulder</a:t>
                      </a:r>
                      <a:endParaRPr lang="en-US" sz="1300" dirty="0">
                        <a:latin typeface="Calibri" charset="0"/>
                        <a:ea typeface="Calibri" charset="0"/>
                        <a:cs typeface="Calibri" charset="0"/>
                      </a:endParaRPr>
                    </a:p>
                  </a:txBody>
                  <a:tcPr marL="91440" marR="91440" marT="0" marB="0" anchor="ctr">
                    <a:lnL w="9525" cap="flat" cmpd="sng" algn="ctr">
                      <a:solidFill>
                        <a:srgbClr val="23344F"/>
                      </a:solidFill>
                      <a:prstDash val="solid"/>
                      <a:round/>
                      <a:headEnd type="none" w="med" len="med"/>
                      <a:tailEnd type="none" w="med" len="med"/>
                    </a:lnL>
                    <a:lnR w="9525" cap="flat" cmpd="sng" algn="ctr">
                      <a:solidFill>
                        <a:srgbClr val="23344F"/>
                      </a:solidFill>
                      <a:prstDash val="solid"/>
                      <a:round/>
                      <a:headEnd type="none" w="med" len="med"/>
                      <a:tailEnd type="none" w="med" len="med"/>
                    </a:lnR>
                    <a:lnT w="9525" cap="flat" cmpd="sng" algn="ctr">
                      <a:solidFill>
                        <a:srgbClr val="23344F"/>
                      </a:solidFill>
                      <a:prstDash val="solid"/>
                      <a:round/>
                      <a:headEnd type="none" w="med" len="med"/>
                      <a:tailEnd type="none" w="med" len="med"/>
                    </a:lnT>
                    <a:lnB w="9525" cap="flat" cmpd="sng" algn="ctr">
                      <a:solidFill>
                        <a:srgbClr val="23344F"/>
                      </a:solidFill>
                      <a:prstDash val="solid"/>
                      <a:round/>
                      <a:headEnd type="none" w="med" len="med"/>
                      <a:tailEnd type="none" w="med" len="med"/>
                    </a:lnB>
                    <a:solidFill>
                      <a:srgbClr val="0F1B2D"/>
                    </a:solidFill>
                  </a:tcPr>
                </a:tc>
                <a:tc>
                  <a:txBody>
                    <a:bodyPr/>
                    <a:lstStyle/>
                    <a:p>
                      <a:pPr algn="r" indent="0" marL="0">
                        <a:buNone/>
                      </a:pPr>
                      <a:r>
                        <a:rPr lang="en-US" sz="1300" dirty="0">
                          <a:solidFill>
                            <a:srgbClr val="AEBBD0"/>
                          </a:solidFill>
                          <a:latin typeface="Calibri" pitchFamily="34" charset="0"/>
                          <a:ea typeface="Calibri" pitchFamily="34" charset="-122"/>
                          <a:cs typeface="Calibri" pitchFamily="34" charset="-120"/>
                        </a:rPr>
                        <a:t>−118 … 120</a:t>
                      </a:r>
                      <a:endParaRPr lang="en-US" sz="1300" dirty="0">
                        <a:latin typeface="Calibri" charset="0"/>
                        <a:ea typeface="Calibri" charset="0"/>
                        <a:cs typeface="Calibri" charset="0"/>
                      </a:endParaRPr>
                    </a:p>
                  </a:txBody>
                  <a:tcPr marL="91440" marR="91440" marT="0" marB="0" anchor="ctr">
                    <a:lnL w="9525" cap="flat" cmpd="sng" algn="ctr">
                      <a:solidFill>
                        <a:srgbClr val="23344F"/>
                      </a:solidFill>
                      <a:prstDash val="solid"/>
                      <a:round/>
                      <a:headEnd type="none" w="med" len="med"/>
                      <a:tailEnd type="none" w="med" len="med"/>
                    </a:lnL>
                    <a:lnR w="9525" cap="flat" cmpd="sng" algn="ctr">
                      <a:solidFill>
                        <a:srgbClr val="23344F"/>
                      </a:solidFill>
                      <a:prstDash val="solid"/>
                      <a:round/>
                      <a:headEnd type="none" w="med" len="med"/>
                      <a:tailEnd type="none" w="med" len="med"/>
                    </a:lnR>
                    <a:lnT w="9525" cap="flat" cmpd="sng" algn="ctr">
                      <a:solidFill>
                        <a:srgbClr val="23344F"/>
                      </a:solidFill>
                      <a:prstDash val="solid"/>
                      <a:round/>
                      <a:headEnd type="none" w="med" len="med"/>
                      <a:tailEnd type="none" w="med" len="med"/>
                    </a:lnT>
                    <a:lnB w="9525" cap="flat" cmpd="sng" algn="ctr">
                      <a:solidFill>
                        <a:srgbClr val="23344F"/>
                      </a:solidFill>
                      <a:prstDash val="solid"/>
                      <a:round/>
                      <a:headEnd type="none" w="med" len="med"/>
                      <a:tailEnd type="none" w="med" len="med"/>
                    </a:lnB>
                    <a:solidFill>
                      <a:srgbClr val="0F1B2D"/>
                    </a:solidFill>
                  </a:tcPr>
                </a:tc>
              </a:tr>
              <a:tr h="329184">
                <a:tc>
                  <a:txBody>
                    <a:bodyPr/>
                    <a:lstStyle/>
                    <a:p>
                      <a:pPr indent="0" marL="0">
                        <a:buNone/>
                      </a:pPr>
                      <a:r>
                        <a:rPr lang="en-US" sz="1300" dirty="0">
                          <a:solidFill>
                            <a:srgbClr val="AEBBD0"/>
                          </a:solidFill>
                          <a:latin typeface="Calibri" pitchFamily="34" charset="0"/>
                          <a:ea typeface="Calibri" pitchFamily="34" charset="-122"/>
                          <a:cs typeface="Calibri" pitchFamily="34" charset="-120"/>
                        </a:rPr>
                        <a:t>J3</a:t>
                      </a:r>
                      <a:endParaRPr lang="en-US" sz="1300" dirty="0">
                        <a:latin typeface="Calibri" charset="0"/>
                        <a:ea typeface="Calibri" charset="0"/>
                        <a:cs typeface="Calibri" charset="0"/>
                      </a:endParaRPr>
                    </a:p>
                  </a:txBody>
                  <a:tcPr marL="91440" marR="91440" marT="0" marB="0" anchor="ctr">
                    <a:lnL w="9525" cap="flat" cmpd="sng" algn="ctr">
                      <a:solidFill>
                        <a:srgbClr val="23344F"/>
                      </a:solidFill>
                      <a:prstDash val="solid"/>
                      <a:round/>
                      <a:headEnd type="none" w="med" len="med"/>
                      <a:tailEnd type="none" w="med" len="med"/>
                    </a:lnL>
                    <a:lnR w="9525" cap="flat" cmpd="sng" algn="ctr">
                      <a:solidFill>
                        <a:srgbClr val="23344F"/>
                      </a:solidFill>
                      <a:prstDash val="solid"/>
                      <a:round/>
                      <a:headEnd type="none" w="med" len="med"/>
                      <a:tailEnd type="none" w="med" len="med"/>
                    </a:lnR>
                    <a:lnT w="9525" cap="flat" cmpd="sng" algn="ctr">
                      <a:solidFill>
                        <a:srgbClr val="23344F"/>
                      </a:solidFill>
                      <a:prstDash val="solid"/>
                      <a:round/>
                      <a:headEnd type="none" w="med" len="med"/>
                      <a:tailEnd type="none" w="med" len="med"/>
                    </a:lnT>
                    <a:lnB w="9525" cap="flat" cmpd="sng" algn="ctr">
                      <a:solidFill>
                        <a:srgbClr val="23344F"/>
                      </a:solidFill>
                      <a:prstDash val="solid"/>
                      <a:round/>
                      <a:headEnd type="none" w="med" len="med"/>
                      <a:tailEnd type="none" w="med" len="med"/>
                    </a:lnB>
                    <a:solidFill>
                      <a:srgbClr val="0F1B2D"/>
                    </a:solidFill>
                  </a:tcPr>
                </a:tc>
                <a:tc>
                  <a:txBody>
                    <a:bodyPr/>
                    <a:lstStyle/>
                    <a:p>
                      <a:pPr indent="0" marL="0">
                        <a:buNone/>
                      </a:pPr>
                      <a:r>
                        <a:rPr lang="en-US" sz="1300" dirty="0">
                          <a:solidFill>
                            <a:srgbClr val="AEBBD0"/>
                          </a:solidFill>
                          <a:latin typeface="Calibri" pitchFamily="34" charset="0"/>
                          <a:ea typeface="Calibri" pitchFamily="34" charset="-122"/>
                          <a:cs typeface="Calibri" pitchFamily="34" charset="-120"/>
                        </a:rPr>
                        <a:t>elbow</a:t>
                      </a:r>
                      <a:endParaRPr lang="en-US" sz="1300" dirty="0">
                        <a:latin typeface="Calibri" charset="0"/>
                        <a:ea typeface="Calibri" charset="0"/>
                        <a:cs typeface="Calibri" charset="0"/>
                      </a:endParaRPr>
                    </a:p>
                  </a:txBody>
                  <a:tcPr marL="91440" marR="91440" marT="0" marB="0" anchor="ctr">
                    <a:lnL w="9525" cap="flat" cmpd="sng" algn="ctr">
                      <a:solidFill>
                        <a:srgbClr val="23344F"/>
                      </a:solidFill>
                      <a:prstDash val="solid"/>
                      <a:round/>
                      <a:headEnd type="none" w="med" len="med"/>
                      <a:tailEnd type="none" w="med" len="med"/>
                    </a:lnL>
                    <a:lnR w="9525" cap="flat" cmpd="sng" algn="ctr">
                      <a:solidFill>
                        <a:srgbClr val="23344F"/>
                      </a:solidFill>
                      <a:prstDash val="solid"/>
                      <a:round/>
                      <a:headEnd type="none" w="med" len="med"/>
                      <a:tailEnd type="none" w="med" len="med"/>
                    </a:lnR>
                    <a:lnT w="9525" cap="flat" cmpd="sng" algn="ctr">
                      <a:solidFill>
                        <a:srgbClr val="23344F"/>
                      </a:solidFill>
                      <a:prstDash val="solid"/>
                      <a:round/>
                      <a:headEnd type="none" w="med" len="med"/>
                      <a:tailEnd type="none" w="med" len="med"/>
                    </a:lnT>
                    <a:lnB w="9525" cap="flat" cmpd="sng" algn="ctr">
                      <a:solidFill>
                        <a:srgbClr val="23344F"/>
                      </a:solidFill>
                      <a:prstDash val="solid"/>
                      <a:round/>
                      <a:headEnd type="none" w="med" len="med"/>
                      <a:tailEnd type="none" w="med" len="med"/>
                    </a:lnB>
                    <a:solidFill>
                      <a:srgbClr val="0F1B2D"/>
                    </a:solidFill>
                  </a:tcPr>
                </a:tc>
                <a:tc>
                  <a:txBody>
                    <a:bodyPr/>
                    <a:lstStyle/>
                    <a:p>
                      <a:pPr algn="r" indent="0" marL="0">
                        <a:buNone/>
                      </a:pPr>
                      <a:r>
                        <a:rPr lang="en-US" sz="1300" dirty="0">
                          <a:solidFill>
                            <a:srgbClr val="AEBBD0"/>
                          </a:solidFill>
                          <a:latin typeface="Calibri" pitchFamily="34" charset="0"/>
                          <a:ea typeface="Calibri" pitchFamily="34" charset="-122"/>
                          <a:cs typeface="Calibri" pitchFamily="34" charset="-120"/>
                        </a:rPr>
                        <a:t>−225 … 11</a:t>
                      </a:r>
                      <a:endParaRPr lang="en-US" sz="1300" dirty="0">
                        <a:latin typeface="Calibri" charset="0"/>
                        <a:ea typeface="Calibri" charset="0"/>
                        <a:cs typeface="Calibri" charset="0"/>
                      </a:endParaRPr>
                    </a:p>
                  </a:txBody>
                  <a:tcPr marL="91440" marR="91440" marT="0" marB="0" anchor="ctr">
                    <a:lnL w="9525" cap="flat" cmpd="sng" algn="ctr">
                      <a:solidFill>
                        <a:srgbClr val="23344F"/>
                      </a:solidFill>
                      <a:prstDash val="solid"/>
                      <a:round/>
                      <a:headEnd type="none" w="med" len="med"/>
                      <a:tailEnd type="none" w="med" len="med"/>
                    </a:lnL>
                    <a:lnR w="9525" cap="flat" cmpd="sng" algn="ctr">
                      <a:solidFill>
                        <a:srgbClr val="23344F"/>
                      </a:solidFill>
                      <a:prstDash val="solid"/>
                      <a:round/>
                      <a:headEnd type="none" w="med" len="med"/>
                      <a:tailEnd type="none" w="med" len="med"/>
                    </a:lnR>
                    <a:lnT w="9525" cap="flat" cmpd="sng" algn="ctr">
                      <a:solidFill>
                        <a:srgbClr val="23344F"/>
                      </a:solidFill>
                      <a:prstDash val="solid"/>
                      <a:round/>
                      <a:headEnd type="none" w="med" len="med"/>
                      <a:tailEnd type="none" w="med" len="med"/>
                    </a:lnT>
                    <a:lnB w="9525" cap="flat" cmpd="sng" algn="ctr">
                      <a:solidFill>
                        <a:srgbClr val="23344F"/>
                      </a:solidFill>
                      <a:prstDash val="solid"/>
                      <a:round/>
                      <a:headEnd type="none" w="med" len="med"/>
                      <a:tailEnd type="none" w="med" len="med"/>
                    </a:lnB>
                    <a:solidFill>
                      <a:srgbClr val="0F1B2D"/>
                    </a:solidFill>
                  </a:tcPr>
                </a:tc>
              </a:tr>
              <a:tr h="329184">
                <a:tc>
                  <a:txBody>
                    <a:bodyPr/>
                    <a:lstStyle/>
                    <a:p>
                      <a:pPr indent="0" marL="0">
                        <a:buNone/>
                      </a:pPr>
                      <a:r>
                        <a:rPr lang="en-US" sz="1300" dirty="0">
                          <a:solidFill>
                            <a:srgbClr val="AEBBD0"/>
                          </a:solidFill>
                          <a:latin typeface="Calibri" pitchFamily="34" charset="0"/>
                          <a:ea typeface="Calibri" pitchFamily="34" charset="-122"/>
                          <a:cs typeface="Calibri" pitchFamily="34" charset="-120"/>
                        </a:rPr>
                        <a:t>J4</a:t>
                      </a:r>
                      <a:endParaRPr lang="en-US" sz="1300" dirty="0">
                        <a:latin typeface="Calibri" charset="0"/>
                        <a:ea typeface="Calibri" charset="0"/>
                        <a:cs typeface="Calibri" charset="0"/>
                      </a:endParaRPr>
                    </a:p>
                  </a:txBody>
                  <a:tcPr marL="91440" marR="91440" marT="0" marB="0" anchor="ctr">
                    <a:lnL w="9525" cap="flat" cmpd="sng" algn="ctr">
                      <a:solidFill>
                        <a:srgbClr val="23344F"/>
                      </a:solidFill>
                      <a:prstDash val="solid"/>
                      <a:round/>
                      <a:headEnd type="none" w="med" len="med"/>
                      <a:tailEnd type="none" w="med" len="med"/>
                    </a:lnL>
                    <a:lnR w="9525" cap="flat" cmpd="sng" algn="ctr">
                      <a:solidFill>
                        <a:srgbClr val="23344F"/>
                      </a:solidFill>
                      <a:prstDash val="solid"/>
                      <a:round/>
                      <a:headEnd type="none" w="med" len="med"/>
                      <a:tailEnd type="none" w="med" len="med"/>
                    </a:lnR>
                    <a:lnT w="9525" cap="flat" cmpd="sng" algn="ctr">
                      <a:solidFill>
                        <a:srgbClr val="23344F"/>
                      </a:solidFill>
                      <a:prstDash val="solid"/>
                      <a:round/>
                      <a:headEnd type="none" w="med" len="med"/>
                      <a:tailEnd type="none" w="med" len="med"/>
                    </a:lnT>
                    <a:lnB w="9525" cap="flat" cmpd="sng" algn="ctr">
                      <a:solidFill>
                        <a:srgbClr val="23344F"/>
                      </a:solidFill>
                      <a:prstDash val="solid"/>
                      <a:round/>
                      <a:headEnd type="none" w="med" len="med"/>
                      <a:tailEnd type="none" w="med" len="med"/>
                    </a:lnB>
                    <a:solidFill>
                      <a:srgbClr val="0F1B2D"/>
                    </a:solidFill>
                  </a:tcPr>
                </a:tc>
                <a:tc>
                  <a:txBody>
                    <a:bodyPr/>
                    <a:lstStyle/>
                    <a:p>
                      <a:pPr indent="0" marL="0">
                        <a:buNone/>
                      </a:pPr>
                      <a:r>
                        <a:rPr lang="en-US" sz="1300" dirty="0">
                          <a:solidFill>
                            <a:srgbClr val="AEBBD0"/>
                          </a:solidFill>
                          <a:latin typeface="Calibri" pitchFamily="34" charset="0"/>
                          <a:ea typeface="Calibri" pitchFamily="34" charset="-122"/>
                          <a:cs typeface="Calibri" pitchFamily="34" charset="-120"/>
                        </a:rPr>
                        <a:t>forearm roll</a:t>
                      </a:r>
                      <a:endParaRPr lang="en-US" sz="1300" dirty="0">
                        <a:latin typeface="Calibri" charset="0"/>
                        <a:ea typeface="Calibri" charset="0"/>
                        <a:cs typeface="Calibri" charset="0"/>
                      </a:endParaRPr>
                    </a:p>
                  </a:txBody>
                  <a:tcPr marL="91440" marR="91440" marT="0" marB="0" anchor="ctr">
                    <a:lnL w="9525" cap="flat" cmpd="sng" algn="ctr">
                      <a:solidFill>
                        <a:srgbClr val="23344F"/>
                      </a:solidFill>
                      <a:prstDash val="solid"/>
                      <a:round/>
                      <a:headEnd type="none" w="med" len="med"/>
                      <a:tailEnd type="none" w="med" len="med"/>
                    </a:lnL>
                    <a:lnR w="9525" cap="flat" cmpd="sng" algn="ctr">
                      <a:solidFill>
                        <a:srgbClr val="23344F"/>
                      </a:solidFill>
                      <a:prstDash val="solid"/>
                      <a:round/>
                      <a:headEnd type="none" w="med" len="med"/>
                      <a:tailEnd type="none" w="med" len="med"/>
                    </a:lnR>
                    <a:lnT w="9525" cap="flat" cmpd="sng" algn="ctr">
                      <a:solidFill>
                        <a:srgbClr val="23344F"/>
                      </a:solidFill>
                      <a:prstDash val="solid"/>
                      <a:round/>
                      <a:headEnd type="none" w="med" len="med"/>
                      <a:tailEnd type="none" w="med" len="med"/>
                    </a:lnT>
                    <a:lnB w="9525" cap="flat" cmpd="sng" algn="ctr">
                      <a:solidFill>
                        <a:srgbClr val="23344F"/>
                      </a:solidFill>
                      <a:prstDash val="solid"/>
                      <a:round/>
                      <a:headEnd type="none" w="med" len="med"/>
                      <a:tailEnd type="none" w="med" len="med"/>
                    </a:lnB>
                    <a:solidFill>
                      <a:srgbClr val="0F1B2D"/>
                    </a:solidFill>
                  </a:tcPr>
                </a:tc>
                <a:tc>
                  <a:txBody>
                    <a:bodyPr/>
                    <a:lstStyle/>
                    <a:p>
                      <a:pPr algn="r" indent="0" marL="0">
                        <a:buNone/>
                      </a:pPr>
                      <a:r>
                        <a:rPr lang="en-US" sz="1300" dirty="0">
                          <a:solidFill>
                            <a:srgbClr val="AEBBD0"/>
                          </a:solidFill>
                          <a:latin typeface="Calibri" pitchFamily="34" charset="0"/>
                          <a:ea typeface="Calibri" pitchFamily="34" charset="-122"/>
                          <a:cs typeface="Calibri" pitchFamily="34" charset="-120"/>
                        </a:rPr>
                        <a:t>−360 … 360</a:t>
                      </a:r>
                      <a:endParaRPr lang="en-US" sz="1300" dirty="0">
                        <a:latin typeface="Calibri" charset="0"/>
                        <a:ea typeface="Calibri" charset="0"/>
                        <a:cs typeface="Calibri" charset="0"/>
                      </a:endParaRPr>
                    </a:p>
                  </a:txBody>
                  <a:tcPr marL="91440" marR="91440" marT="0" marB="0" anchor="ctr">
                    <a:lnL w="9525" cap="flat" cmpd="sng" algn="ctr">
                      <a:solidFill>
                        <a:srgbClr val="23344F"/>
                      </a:solidFill>
                      <a:prstDash val="solid"/>
                      <a:round/>
                      <a:headEnd type="none" w="med" len="med"/>
                      <a:tailEnd type="none" w="med" len="med"/>
                    </a:lnL>
                    <a:lnR w="9525" cap="flat" cmpd="sng" algn="ctr">
                      <a:solidFill>
                        <a:srgbClr val="23344F"/>
                      </a:solidFill>
                      <a:prstDash val="solid"/>
                      <a:round/>
                      <a:headEnd type="none" w="med" len="med"/>
                      <a:tailEnd type="none" w="med" len="med"/>
                    </a:lnR>
                    <a:lnT w="9525" cap="flat" cmpd="sng" algn="ctr">
                      <a:solidFill>
                        <a:srgbClr val="23344F"/>
                      </a:solidFill>
                      <a:prstDash val="solid"/>
                      <a:round/>
                      <a:headEnd type="none" w="med" len="med"/>
                      <a:tailEnd type="none" w="med" len="med"/>
                    </a:lnT>
                    <a:lnB w="9525" cap="flat" cmpd="sng" algn="ctr">
                      <a:solidFill>
                        <a:srgbClr val="23344F"/>
                      </a:solidFill>
                      <a:prstDash val="solid"/>
                      <a:round/>
                      <a:headEnd type="none" w="med" len="med"/>
                      <a:tailEnd type="none" w="med" len="med"/>
                    </a:lnB>
                    <a:solidFill>
                      <a:srgbClr val="0F1B2D"/>
                    </a:solidFill>
                  </a:tcPr>
                </a:tc>
              </a:tr>
              <a:tr h="329184">
                <a:tc>
                  <a:txBody>
                    <a:bodyPr/>
                    <a:lstStyle/>
                    <a:p>
                      <a:pPr indent="0" marL="0">
                        <a:buNone/>
                      </a:pPr>
                      <a:r>
                        <a:rPr lang="en-US" sz="1300" dirty="0">
                          <a:solidFill>
                            <a:srgbClr val="AEBBD0"/>
                          </a:solidFill>
                          <a:latin typeface="Calibri" pitchFamily="34" charset="0"/>
                          <a:ea typeface="Calibri" pitchFamily="34" charset="-122"/>
                          <a:cs typeface="Calibri" pitchFamily="34" charset="-120"/>
                        </a:rPr>
                        <a:t>J5</a:t>
                      </a:r>
                      <a:endParaRPr lang="en-US" sz="1300" dirty="0">
                        <a:latin typeface="Calibri" charset="0"/>
                        <a:ea typeface="Calibri" charset="0"/>
                        <a:cs typeface="Calibri" charset="0"/>
                      </a:endParaRPr>
                    </a:p>
                  </a:txBody>
                  <a:tcPr marL="91440" marR="91440" marT="0" marB="0" anchor="ctr">
                    <a:lnL w="9525" cap="flat" cmpd="sng" algn="ctr">
                      <a:solidFill>
                        <a:srgbClr val="23344F"/>
                      </a:solidFill>
                      <a:prstDash val="solid"/>
                      <a:round/>
                      <a:headEnd type="none" w="med" len="med"/>
                      <a:tailEnd type="none" w="med" len="med"/>
                    </a:lnL>
                    <a:lnR w="9525" cap="flat" cmpd="sng" algn="ctr">
                      <a:solidFill>
                        <a:srgbClr val="23344F"/>
                      </a:solidFill>
                      <a:prstDash val="solid"/>
                      <a:round/>
                      <a:headEnd type="none" w="med" len="med"/>
                      <a:tailEnd type="none" w="med" len="med"/>
                    </a:lnR>
                    <a:lnT w="9525" cap="flat" cmpd="sng" algn="ctr">
                      <a:solidFill>
                        <a:srgbClr val="23344F"/>
                      </a:solidFill>
                      <a:prstDash val="solid"/>
                      <a:round/>
                      <a:headEnd type="none" w="med" len="med"/>
                      <a:tailEnd type="none" w="med" len="med"/>
                    </a:lnT>
                    <a:lnB w="9525" cap="flat" cmpd="sng" algn="ctr">
                      <a:solidFill>
                        <a:srgbClr val="23344F"/>
                      </a:solidFill>
                      <a:prstDash val="solid"/>
                      <a:round/>
                      <a:headEnd type="none" w="med" len="med"/>
                      <a:tailEnd type="none" w="med" len="med"/>
                    </a:lnB>
                    <a:solidFill>
                      <a:srgbClr val="0F1B2D"/>
                    </a:solidFill>
                  </a:tcPr>
                </a:tc>
                <a:tc>
                  <a:txBody>
                    <a:bodyPr/>
                    <a:lstStyle/>
                    <a:p>
                      <a:pPr indent="0" marL="0">
                        <a:buNone/>
                      </a:pPr>
                      <a:r>
                        <a:rPr lang="en-US" sz="1300" dirty="0">
                          <a:solidFill>
                            <a:srgbClr val="AEBBD0"/>
                          </a:solidFill>
                          <a:latin typeface="Calibri" pitchFamily="34" charset="0"/>
                          <a:ea typeface="Calibri" pitchFamily="34" charset="-122"/>
                          <a:cs typeface="Calibri" pitchFamily="34" charset="-120"/>
                        </a:rPr>
                        <a:t>wrist pitch</a:t>
                      </a:r>
                      <a:endParaRPr lang="en-US" sz="1300" dirty="0">
                        <a:latin typeface="Calibri" charset="0"/>
                        <a:ea typeface="Calibri" charset="0"/>
                        <a:cs typeface="Calibri" charset="0"/>
                      </a:endParaRPr>
                    </a:p>
                  </a:txBody>
                  <a:tcPr marL="91440" marR="91440" marT="0" marB="0" anchor="ctr">
                    <a:lnL w="9525" cap="flat" cmpd="sng" algn="ctr">
                      <a:solidFill>
                        <a:srgbClr val="23344F"/>
                      </a:solidFill>
                      <a:prstDash val="solid"/>
                      <a:round/>
                      <a:headEnd type="none" w="med" len="med"/>
                      <a:tailEnd type="none" w="med" len="med"/>
                    </a:lnL>
                    <a:lnR w="9525" cap="flat" cmpd="sng" algn="ctr">
                      <a:solidFill>
                        <a:srgbClr val="23344F"/>
                      </a:solidFill>
                      <a:prstDash val="solid"/>
                      <a:round/>
                      <a:headEnd type="none" w="med" len="med"/>
                      <a:tailEnd type="none" w="med" len="med"/>
                    </a:lnR>
                    <a:lnT w="9525" cap="flat" cmpd="sng" algn="ctr">
                      <a:solidFill>
                        <a:srgbClr val="23344F"/>
                      </a:solidFill>
                      <a:prstDash val="solid"/>
                      <a:round/>
                      <a:headEnd type="none" w="med" len="med"/>
                      <a:tailEnd type="none" w="med" len="med"/>
                    </a:lnT>
                    <a:lnB w="9525" cap="flat" cmpd="sng" algn="ctr">
                      <a:solidFill>
                        <a:srgbClr val="23344F"/>
                      </a:solidFill>
                      <a:prstDash val="solid"/>
                      <a:round/>
                      <a:headEnd type="none" w="med" len="med"/>
                      <a:tailEnd type="none" w="med" len="med"/>
                    </a:lnB>
                    <a:solidFill>
                      <a:srgbClr val="0F1B2D"/>
                    </a:solidFill>
                  </a:tcPr>
                </a:tc>
                <a:tc>
                  <a:txBody>
                    <a:bodyPr/>
                    <a:lstStyle/>
                    <a:p>
                      <a:pPr algn="r" indent="0" marL="0">
                        <a:buNone/>
                      </a:pPr>
                      <a:r>
                        <a:rPr lang="en-US" sz="1300" dirty="0">
                          <a:solidFill>
                            <a:srgbClr val="AEBBD0"/>
                          </a:solidFill>
                          <a:latin typeface="Calibri" pitchFamily="34" charset="0"/>
                          <a:ea typeface="Calibri" pitchFamily="34" charset="-122"/>
                          <a:cs typeface="Calibri" pitchFamily="34" charset="-120"/>
                        </a:rPr>
                        <a:t>−97 … 180</a:t>
                      </a:r>
                      <a:endParaRPr lang="en-US" sz="1300" dirty="0">
                        <a:latin typeface="Calibri" charset="0"/>
                        <a:ea typeface="Calibri" charset="0"/>
                        <a:cs typeface="Calibri" charset="0"/>
                      </a:endParaRPr>
                    </a:p>
                  </a:txBody>
                  <a:tcPr marL="91440" marR="91440" marT="0" marB="0" anchor="ctr">
                    <a:lnL w="9525" cap="flat" cmpd="sng" algn="ctr">
                      <a:solidFill>
                        <a:srgbClr val="23344F"/>
                      </a:solidFill>
                      <a:prstDash val="solid"/>
                      <a:round/>
                      <a:headEnd type="none" w="med" len="med"/>
                      <a:tailEnd type="none" w="med" len="med"/>
                    </a:lnL>
                    <a:lnR w="9525" cap="flat" cmpd="sng" algn="ctr">
                      <a:solidFill>
                        <a:srgbClr val="23344F"/>
                      </a:solidFill>
                      <a:prstDash val="solid"/>
                      <a:round/>
                      <a:headEnd type="none" w="med" len="med"/>
                      <a:tailEnd type="none" w="med" len="med"/>
                    </a:lnR>
                    <a:lnT w="9525" cap="flat" cmpd="sng" algn="ctr">
                      <a:solidFill>
                        <a:srgbClr val="23344F"/>
                      </a:solidFill>
                      <a:prstDash val="solid"/>
                      <a:round/>
                      <a:headEnd type="none" w="med" len="med"/>
                      <a:tailEnd type="none" w="med" len="med"/>
                    </a:lnT>
                    <a:lnB w="9525" cap="flat" cmpd="sng" algn="ctr">
                      <a:solidFill>
                        <a:srgbClr val="23344F"/>
                      </a:solidFill>
                      <a:prstDash val="solid"/>
                      <a:round/>
                      <a:headEnd type="none" w="med" len="med"/>
                      <a:tailEnd type="none" w="med" len="med"/>
                    </a:lnB>
                    <a:solidFill>
                      <a:srgbClr val="0F1B2D"/>
                    </a:solidFill>
                  </a:tcPr>
                </a:tc>
              </a:tr>
              <a:tr h="329184">
                <a:tc>
                  <a:txBody>
                    <a:bodyPr/>
                    <a:lstStyle/>
                    <a:p>
                      <a:pPr indent="0" marL="0">
                        <a:buNone/>
                      </a:pPr>
                      <a:r>
                        <a:rPr lang="en-US" sz="1300" dirty="0">
                          <a:solidFill>
                            <a:srgbClr val="AEBBD0"/>
                          </a:solidFill>
                          <a:latin typeface="Calibri" pitchFamily="34" charset="0"/>
                          <a:ea typeface="Calibri" pitchFamily="34" charset="-122"/>
                          <a:cs typeface="Calibri" pitchFamily="34" charset="-120"/>
                        </a:rPr>
                        <a:t>J6</a:t>
                      </a:r>
                      <a:endParaRPr lang="en-US" sz="1300" dirty="0">
                        <a:latin typeface="Calibri" charset="0"/>
                        <a:ea typeface="Calibri" charset="0"/>
                        <a:cs typeface="Calibri" charset="0"/>
                      </a:endParaRPr>
                    </a:p>
                  </a:txBody>
                  <a:tcPr marL="91440" marR="91440" marT="0" marB="0" anchor="ctr">
                    <a:lnL w="9525" cap="flat" cmpd="sng" algn="ctr">
                      <a:solidFill>
                        <a:srgbClr val="23344F"/>
                      </a:solidFill>
                      <a:prstDash val="solid"/>
                      <a:round/>
                      <a:headEnd type="none" w="med" len="med"/>
                      <a:tailEnd type="none" w="med" len="med"/>
                    </a:lnL>
                    <a:lnR w="9525" cap="flat" cmpd="sng" algn="ctr">
                      <a:solidFill>
                        <a:srgbClr val="23344F"/>
                      </a:solidFill>
                      <a:prstDash val="solid"/>
                      <a:round/>
                      <a:headEnd type="none" w="med" len="med"/>
                      <a:tailEnd type="none" w="med" len="med"/>
                    </a:lnR>
                    <a:lnT w="9525" cap="flat" cmpd="sng" algn="ctr">
                      <a:solidFill>
                        <a:srgbClr val="23344F"/>
                      </a:solidFill>
                      <a:prstDash val="solid"/>
                      <a:round/>
                      <a:headEnd type="none" w="med" len="med"/>
                      <a:tailEnd type="none" w="med" len="med"/>
                    </a:lnT>
                    <a:lnB w="9525" cap="flat" cmpd="sng" algn="ctr">
                      <a:solidFill>
                        <a:srgbClr val="23344F"/>
                      </a:solidFill>
                      <a:prstDash val="solid"/>
                      <a:round/>
                      <a:headEnd type="none" w="med" len="med"/>
                      <a:tailEnd type="none" w="med" len="med"/>
                    </a:lnB>
                    <a:solidFill>
                      <a:srgbClr val="0F1B2D"/>
                    </a:solidFill>
                  </a:tcPr>
                </a:tc>
                <a:tc>
                  <a:txBody>
                    <a:bodyPr/>
                    <a:lstStyle/>
                    <a:p>
                      <a:pPr indent="0" marL="0">
                        <a:buNone/>
                      </a:pPr>
                      <a:r>
                        <a:rPr lang="en-US" sz="1300" dirty="0">
                          <a:solidFill>
                            <a:srgbClr val="AEBBD0"/>
                          </a:solidFill>
                          <a:latin typeface="Calibri" pitchFamily="34" charset="0"/>
                          <a:ea typeface="Calibri" pitchFamily="34" charset="-122"/>
                          <a:cs typeface="Calibri" pitchFamily="34" charset="-120"/>
                        </a:rPr>
                        <a:t>flange roll</a:t>
                      </a:r>
                      <a:endParaRPr lang="en-US" sz="1300" dirty="0">
                        <a:latin typeface="Calibri" charset="0"/>
                        <a:ea typeface="Calibri" charset="0"/>
                        <a:cs typeface="Calibri" charset="0"/>
                      </a:endParaRPr>
                    </a:p>
                  </a:txBody>
                  <a:tcPr marL="91440" marR="91440" marT="0" marB="0" anchor="ctr">
                    <a:lnL w="9525" cap="flat" cmpd="sng" algn="ctr">
                      <a:solidFill>
                        <a:srgbClr val="23344F"/>
                      </a:solidFill>
                      <a:prstDash val="solid"/>
                      <a:round/>
                      <a:headEnd type="none" w="med" len="med"/>
                      <a:tailEnd type="none" w="med" len="med"/>
                    </a:lnL>
                    <a:lnR w="9525" cap="flat" cmpd="sng" algn="ctr">
                      <a:solidFill>
                        <a:srgbClr val="23344F"/>
                      </a:solidFill>
                      <a:prstDash val="solid"/>
                      <a:round/>
                      <a:headEnd type="none" w="med" len="med"/>
                      <a:tailEnd type="none" w="med" len="med"/>
                    </a:lnR>
                    <a:lnT w="9525" cap="flat" cmpd="sng" algn="ctr">
                      <a:solidFill>
                        <a:srgbClr val="23344F"/>
                      </a:solidFill>
                      <a:prstDash val="solid"/>
                      <a:round/>
                      <a:headEnd type="none" w="med" len="med"/>
                      <a:tailEnd type="none" w="med" len="med"/>
                    </a:lnT>
                    <a:lnB w="9525" cap="flat" cmpd="sng" algn="ctr">
                      <a:solidFill>
                        <a:srgbClr val="23344F"/>
                      </a:solidFill>
                      <a:prstDash val="solid"/>
                      <a:round/>
                      <a:headEnd type="none" w="med" len="med"/>
                      <a:tailEnd type="none" w="med" len="med"/>
                    </a:lnB>
                    <a:solidFill>
                      <a:srgbClr val="0F1B2D"/>
                    </a:solidFill>
                  </a:tcPr>
                </a:tc>
                <a:tc>
                  <a:txBody>
                    <a:bodyPr/>
                    <a:lstStyle/>
                    <a:p>
                      <a:pPr algn="r" indent="0" marL="0">
                        <a:buNone/>
                      </a:pPr>
                      <a:r>
                        <a:rPr lang="en-US" sz="1300" dirty="0">
                          <a:solidFill>
                            <a:srgbClr val="AEBBD0"/>
                          </a:solidFill>
                          <a:latin typeface="Calibri" pitchFamily="34" charset="0"/>
                          <a:ea typeface="Calibri" pitchFamily="34" charset="-122"/>
                          <a:cs typeface="Calibri" pitchFamily="34" charset="-120"/>
                        </a:rPr>
                        <a:t>−360 … 360</a:t>
                      </a:r>
                      <a:endParaRPr lang="en-US" sz="1300" dirty="0">
                        <a:latin typeface="Calibri" charset="0"/>
                        <a:ea typeface="Calibri" charset="0"/>
                        <a:cs typeface="Calibri" charset="0"/>
                      </a:endParaRPr>
                    </a:p>
                  </a:txBody>
                  <a:tcPr marL="91440" marR="91440" marT="0" marB="0" anchor="ctr">
                    <a:lnL w="9525" cap="flat" cmpd="sng" algn="ctr">
                      <a:solidFill>
                        <a:srgbClr val="23344F"/>
                      </a:solidFill>
                      <a:prstDash val="solid"/>
                      <a:round/>
                      <a:headEnd type="none" w="med" len="med"/>
                      <a:tailEnd type="none" w="med" len="med"/>
                    </a:lnL>
                    <a:lnR w="9525" cap="flat" cmpd="sng" algn="ctr">
                      <a:solidFill>
                        <a:srgbClr val="23344F"/>
                      </a:solidFill>
                      <a:prstDash val="solid"/>
                      <a:round/>
                      <a:headEnd type="none" w="med" len="med"/>
                      <a:tailEnd type="none" w="med" len="med"/>
                    </a:lnR>
                    <a:lnT w="9525" cap="flat" cmpd="sng" algn="ctr">
                      <a:solidFill>
                        <a:srgbClr val="23344F"/>
                      </a:solidFill>
                      <a:prstDash val="solid"/>
                      <a:round/>
                      <a:headEnd type="none" w="med" len="med"/>
                      <a:tailEnd type="none" w="med" len="med"/>
                    </a:lnT>
                    <a:lnB w="9525" cap="flat" cmpd="sng" algn="ctr">
                      <a:solidFill>
                        <a:srgbClr val="23344F"/>
                      </a:solidFill>
                      <a:prstDash val="solid"/>
                      <a:round/>
                      <a:headEnd type="none" w="med" len="med"/>
                      <a:tailEnd type="none" w="med" len="med"/>
                    </a:lnB>
                    <a:solidFill>
                      <a:srgbClr val="0F1B2D"/>
                    </a:solidFill>
                  </a:tcPr>
                </a:tc>
              </a:tr>
            </a:tbl>
          </a:graphicData>
        </a:graphic>
      </p:graphicFrame>
      <p:sp>
        <p:nvSpPr>
          <p:cNvPr id="9" name="r_f0"/>
          <p:cNvSpPr txBox="1"/>
          <p:nvPr/>
        </p:nvSpPr>
        <p:spPr>
          <a:xfrm>
            <a:off x="7178040" y="4160520"/>
            <a:ext cx="4465015" cy="502920"/>
          </a:xfrm>
          <a:prstGeom prst="rect">
            <a:avLst/>
          </a:prstGeom>
          <a:noFill/>
          <a:ln/>
        </p:spPr>
        <p:txBody>
          <a:bodyPr wrap="square" lIns="0" tIns="0" rIns="0" bIns="0" rtlCol="0" anchor="t"/>
          <a:lstStyle/>
          <a:p>
            <a:pPr indent="0" marL="0">
              <a:buNone/>
            </a:pPr>
            <a:r>
              <a:rPr lang="en-US" sz="1250" b="1" dirty="0">
                <a:solidFill>
                  <a:srgbClr val="EEF3FA"/>
                </a:solidFill>
                <a:latin typeface="Calibri" pitchFamily="34" charset="0"/>
                <a:ea typeface="Calibri" pitchFamily="34" charset="-122"/>
                <a:cs typeface="Calibri" pitchFamily="34" charset="-120"/>
              </a:rPr>
              <a:t>Joints resolved by name:</a:t>
            </a:r>
            <a:pPr indent="0" marL="0">
              <a:buNone/>
            </a:pPr>
            <a:r>
              <a:rPr lang="en-US" sz="1250" dirty="0">
                <a:solidFill>
                  <a:srgbClr val="AEBBD0"/>
                </a:solidFill>
                <a:latin typeface="Calibri" pitchFamily="34" charset="0"/>
                <a:ea typeface="Calibri" pitchFamily="34" charset="-122"/>
                <a:cs typeface="Calibri" pitchFamily="34" charset="-120"/>
              </a:rPr>
              <a:t> the URDF's fixed world_joint at index 0 would shift every index</a:t>
            </a:r>
            <a:endParaRPr lang="en-US" sz="1250" dirty="0"/>
          </a:p>
        </p:txBody>
      </p:sp>
      <p:sp>
        <p:nvSpPr>
          <p:cNvPr id="10" name="r_f1"/>
          <p:cNvSpPr txBox="1"/>
          <p:nvPr/>
        </p:nvSpPr>
        <p:spPr>
          <a:xfrm>
            <a:off x="7178040" y="4709160"/>
            <a:ext cx="4465015" cy="502920"/>
          </a:xfrm>
          <a:prstGeom prst="rect">
            <a:avLst/>
          </a:prstGeom>
          <a:noFill/>
          <a:ln/>
        </p:spPr>
        <p:txBody>
          <a:bodyPr wrap="square" lIns="0" tIns="0" rIns="0" bIns="0" rtlCol="0" anchor="t"/>
          <a:lstStyle/>
          <a:p>
            <a:pPr indent="0" marL="0">
              <a:buNone/>
            </a:pPr>
            <a:r>
              <a:rPr lang="en-US" sz="1250" b="1" dirty="0">
                <a:solidFill>
                  <a:srgbClr val="EEF3FA"/>
                </a:solidFill>
                <a:latin typeface="Calibri" pitchFamily="34" charset="0"/>
                <a:ea typeface="Calibri" pitchFamily="34" charset="-122"/>
                <a:cs typeface="Calibri" pitchFamily="34" charset="-120"/>
              </a:rPr>
              <a:t>Self-collision enabled:</a:t>
            </a:r>
            <a:pPr indent="0" marL="0">
              <a:buNone/>
            </a:pPr>
            <a:r>
              <a:rPr lang="en-US" sz="1250" dirty="0">
                <a:solidFill>
                  <a:srgbClr val="AEBBD0"/>
                </a:solidFill>
                <a:latin typeface="Calibri" pitchFamily="34" charset="0"/>
                <a:ea typeface="Calibri" pitchFamily="34" charset="-122"/>
                <a:cs typeface="Calibri" pitchFamily="34" charset="-120"/>
              </a:rPr>
              <a:t> URDF_USE_SELF_COLLISION + EXCLUDE_PARENT</a:t>
            </a:r>
            <a:endParaRPr lang="en-US" sz="1250" dirty="0"/>
          </a:p>
        </p:txBody>
      </p:sp>
      <p:sp>
        <p:nvSpPr>
          <p:cNvPr id="11" name="r_f2"/>
          <p:cNvSpPr txBox="1"/>
          <p:nvPr/>
        </p:nvSpPr>
        <p:spPr>
          <a:xfrm>
            <a:off x="7178040" y="5257800"/>
            <a:ext cx="4465015" cy="502920"/>
          </a:xfrm>
          <a:prstGeom prst="rect">
            <a:avLst/>
          </a:prstGeom>
          <a:noFill/>
          <a:ln/>
        </p:spPr>
        <p:txBody>
          <a:bodyPr wrap="square" lIns="0" tIns="0" rIns="0" bIns="0" rtlCol="0" anchor="t"/>
          <a:lstStyle/>
          <a:p>
            <a:pPr indent="0" marL="0">
              <a:buNone/>
            </a:pPr>
            <a:r>
              <a:rPr lang="en-US" sz="1250" b="1" dirty="0">
                <a:solidFill>
                  <a:srgbClr val="EEF3FA"/>
                </a:solidFill>
                <a:latin typeface="Calibri" pitchFamily="34" charset="0"/>
                <a:ea typeface="Calibri" pitchFamily="34" charset="-122"/>
                <a:cs typeface="Calibri" pitchFamily="34" charset="-120"/>
              </a:rPr>
              <a:t>End effector:</a:t>
            </a:r>
            <a:pPr indent="0" marL="0">
              <a:buNone/>
            </a:pPr>
            <a:r>
              <a:rPr lang="en-US" sz="1250" dirty="0">
                <a:solidFill>
                  <a:srgbClr val="AEBBD0"/>
                </a:solidFill>
                <a:latin typeface="Calibri" pitchFamily="34" charset="0"/>
                <a:ea typeface="Calibri" pitchFamily="34" charset="-122"/>
                <a:cs typeface="Calibri" pitchFamily="34" charset="-120"/>
              </a:rPr>
              <a:t> link 6 frame, pose = position + quaternion</a:t>
            </a:r>
            <a:endParaRPr lang="en-US" sz="1250" dirty="0"/>
          </a:p>
        </p:txBody>
      </p:sp>
      <p:sp>
        <p:nvSpPr>
          <p:cNvPr id="25" name="Slide Number Placeholder 0"/>
          <p:cNvSpPr>
            <a:spLocks noGrp="1"/>
          </p:cNvSpPr>
          <p:nvPr>
            <p:ph type="sldNum" sz="quarter" idx="4294967295"/>
          </p:nvPr>
        </p:nvSpPr>
        <p:spPr>
          <a:xfrm>
            <a:off x="11094415" y="6446520"/>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7F8FA8"/>
                </a:solidFill>
              </a:defRPr>
            </a:lvl1pPr>
          </a:lstStyle>
          <a:p>
            <a:pPr algn="r"/>
            <a:fld id="{F7021451-1387-4CA6-816F-3879F97B5CBC}" type="slidenum">
              <a:rPr b="0" lang="en-US"/>
              <a:t>6</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13" fill="hold">
                            <p:stCondLst>
                              <p:cond delay="0"/>
                            </p:stCondLst>
                            <p:childTnLst>
                              <p:par>
                                <p:cTn id="4" presetID="10" presetClass="entr" presetSubtype="0" fill="hold" grpId="0" nodeType="afterEffect">
                                  <p:stCondLst>
                                    <p:cond delay="0"/>
                                  </p:stCondLst>
                                  <p:childTnLst>
                                    <p:set>
                                      <p:cBhvr>
                                        <p:cTn id="5" dur="1" fill="hold">
                                          <p:stCondLst>
                                            <p:cond delay="0"/>
                                          </p:stCondLst>
                                        </p:cTn>
                                        <p:tgtEl>
                                          <p:spTgt spid="5"/>
                                        </p:tgtEl>
                                        <p:attrNameLst>
                                          <p:attrName>style.visibility</p:attrName>
                                        </p:attrNameLst>
                                      </p:cBhvr>
                                      <p:to>
                                        <p:strVal val="visible"/>
                                      </p:to>
                                    </p:set>
                                    <p:animEffect transition="in" filter="fade">
                                      <p:cBhvr>
                                        <p:cTn id="6" dur="420"/>
                                        <p:tgtEl>
                                          <p:spTgt spid="5"/>
                                        </p:tgtEl>
                                      </p:cBhvr>
                                    </p:animEffect>
                                  </p:childTnLst>
                                </p:cTn>
                              </p:par>
                              <p:par>
                                <p:cTn id="7" presetID="10" presetClass="entr" presetSubtype="0" fill="hold" nodeType="withEffect">
                                  <p:stCondLst>
                                    <p:cond delay="0"/>
                                  </p:stCondLst>
                                  <p:childTnLst>
                                    <p:set>
                                      <p:cBhvr>
                                        <p:cTn id="8" dur="1" fill="hold">
                                          <p:stCondLst>
                                            <p:cond delay="0"/>
                                          </p:stCondLst>
                                        </p:cTn>
                                        <p:tgtEl>
                                          <p:spTgt spid="3"/>
                                        </p:tgtEl>
                                        <p:attrNameLst>
                                          <p:attrName>style.visibility</p:attrName>
                                        </p:attrNameLst>
                                      </p:cBhvr>
                                      <p:to>
                                        <p:strVal val="visible"/>
                                      </p:to>
                                    </p:set>
                                    <p:animEffect transition="in" filter="fade">
                                      <p:cBhvr>
                                        <p:cTn id="9" dur="420"/>
                                        <p:tgtEl>
                                          <p:spTgt spid="3"/>
                                        </p:tgtEl>
                                      </p:cBhvr>
                                    </p:animEffect>
                                  </p:childTnLst>
                                </p:cTn>
                              </p:par>
                              <p:par>
                                <p:cTn id="10" presetID="10" presetClass="entr" presetSubtype="0" fill="hold" grpId="0" nodeType="with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420"/>
                                        <p:tgtEl>
                                          <p:spTgt spid="7"/>
                                        </p:tgtEl>
                                      </p:cBhvr>
                                    </p:animEffect>
                                  </p:childTnLst>
                                </p:cTn>
                              </p:par>
                            </p:childTnLst>
                          </p:cTn>
                        </p:par>
                        <p:par>
                          <p:cTn id="17" fill="hold">
                            <p:stCondLst>
                              <p:cond delay="0"/>
                            </p:stCondLst>
                            <p:childTnLst>
                              <p:par>
                                <p:cTn id="14" presetID="10" presetClass="entr" presetSubtype="0" fill="hold" grpId="0" nodeType="afterEffect">
                                  <p:stCondLst>
                                    <p:cond delay="0"/>
                                  </p:stCondLst>
                                  <p:childTnLst>
                                    <p:set>
                                      <p:cBhvr>
                                        <p:cTn id="15" dur="1" fill="hold">
                                          <p:stCondLst>
                                            <p:cond delay="0"/>
                                          </p:stCondLst>
                                        </p:cTn>
                                        <p:tgtEl>
                                          <p:spTgt spid="7"/>
                                        </p:tgtEl>
                                        <p:attrNameLst>
                                          <p:attrName>style.visibility</p:attrName>
                                        </p:attrNameLst>
                                      </p:cBhvr>
                                      <p:to>
                                        <p:strVal val="visible"/>
                                      </p:to>
                                    </p:set>
                                    <p:animEffect transition="in" filter="fade">
                                      <p:cBhvr>
                                        <p:cTn id="16" dur="420"/>
                                        <p:tgtEl>
                                          <p:spTgt spid="7"/>
                                        </p:tgtEl>
                                      </p:cBhvr>
                                    </p:animEffect>
                                  </p:childTnLst>
                                </p:cTn>
                              </p:par>
                            </p:childTnLst>
                          </p:cTn>
                        </p:par>
                        <p:par>
                          <p:cTn id="21" fill="hold">
                            <p:stCondLst>
                              <p:cond delay="260"/>
                            </p:stCondLst>
                            <p:childTnLst>
                              <p:par>
                                <p:cTn id="18" presetID="10" presetClass="entr" presetSubtype="0" fill="hold" grpId="0" nodeType="after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420"/>
                                        <p:tgtEl>
                                          <p:spTgt spid="9"/>
                                        </p:tgtEl>
                                      </p:cBhvr>
                                    </p:animEffect>
                                  </p:childTnLst>
                                </p:cTn>
                              </p:par>
                            </p:childTnLst>
                          </p:cTn>
                        </p:par>
                        <p:par>
                          <p:cTn id="25" fill="hold">
                            <p:stCondLst>
                              <p:cond delay="520"/>
                            </p:stCondLst>
                            <p:childTnLst>
                              <p:par>
                                <p:cTn id="22" presetID="10" presetClass="entr" presetSubtype="0" fill="hold" grpId="0" nodeType="after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20"/>
                                        <p:tgtEl>
                                          <p:spTgt spid="10"/>
                                        </p:tgtEl>
                                      </p:cBhvr>
                                    </p:animEffect>
                                  </p:childTnLst>
                                </p:cTn>
                              </p:par>
                            </p:childTnLst>
                          </p:cTn>
                        </p:par>
                        <p:par>
                          <p:cTn id="29" fill="hold">
                            <p:stCondLst>
                              <p:cond delay="780"/>
                            </p:stCondLst>
                            <p:childTnLst>
                              <p:par>
                                <p:cTn id="26" presetID="10" presetClass="entr" presetSubtype="0" fill="hold" grpId="0" nodeType="afterEffect">
                                  <p:stCondLst>
                                    <p:cond delay="0"/>
                                  </p:stCondLst>
                                  <p:childTnLst>
                                    <p:set>
                                      <p:cBhvr>
                                        <p:cTn id="27" dur="1" fill="hold">
                                          <p:stCondLst>
                                            <p:cond delay="0"/>
                                          </p:stCondLst>
                                        </p:cTn>
                                        <p:tgtEl>
                                          <p:spTgt spid="11"/>
                                        </p:tgtEl>
                                        <p:attrNameLst>
                                          <p:attrName>style.visibility</p:attrName>
                                        </p:attrNameLst>
                                      </p:cBhvr>
                                      <p:to>
                                        <p:strVal val="visible"/>
                                      </p:to>
                                    </p:set>
                                    <p:animEffect transition="in" filter="fade">
                                      <p:cBhvr>
                                        <p:cTn id="28" dur="42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animBg="1"/>
      <p:bldGraphic spid="7" grpId="0">
        <p:bldAsOne/>
      </p:bldGraphic>
      <p:bldP spid="9" grpId="0" animBg="1"/>
      <p:bldP spid="10" grpId="0" animBg="1"/>
      <p:bldP spid="11"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1" type="body" hasCustomPrompt="1"/>
          </p:nvPr>
        </p:nvSpPr>
        <p:spPr>
          <a:xfrm>
            <a:off x="731520" y="310896"/>
            <a:ext cx="8686800" cy="329184"/>
          </a:xfrm>
          <a:prstGeom prst="rect">
            <a:avLst/>
          </a:prstGeom>
          <a:noFill/>
          <a:ln/>
        </p:spPr>
        <p:txBody>
          <a:bodyPr wrap="square" lIns="0" tIns="0" rIns="0" bIns="0" rtlCol="0" anchor="ctr"/>
          <a:lstStyle/>
          <a:p>
            <a:pPr algn="l" indent="0" marL="0">
              <a:buNone/>
            </a:pPr>
            <a:r>
              <a:rPr lang="en-US" sz="1200" b="1" spc="300" kern="0" dirty="0">
                <a:solidFill>
                  <a:srgbClr val="AEBBD0"/>
                </a:solidFill>
              </a:rPr>
              <a:t>LEVEL 1 · DATA</a:t>
            </a:r>
            <a:endParaRPr lang="en-US" sz="1200" dirty="0"/>
          </a:p>
        </p:txBody>
      </p:sp>
      <p:sp>
        <p:nvSpPr>
          <p:cNvPr id="3" name="Text 0"/>
          <p:cNvSpPr/>
          <p:nvPr>
            <p:ph idx="102" type="title" hasCustomPrompt="1"/>
          </p:nvPr>
        </p:nvSpPr>
        <p:spPr>
          <a:xfrm>
            <a:off x="548640" y="658368"/>
            <a:ext cx="11094415" cy="731520"/>
          </a:xfrm>
          <a:prstGeom prst="rect">
            <a:avLst/>
          </a:prstGeom>
          <a:noFill/>
          <a:ln/>
        </p:spPr>
        <p:txBody>
          <a:bodyPr wrap="square" lIns="0" tIns="0" rIns="0" bIns="0" rtlCol="0" anchor="ctr"/>
          <a:lstStyle/>
          <a:p>
            <a:pPr algn="l" indent="0" marL="0">
              <a:buNone/>
            </a:pPr>
            <a:r>
              <a:rPr lang="en-US" sz="3200" b="1" dirty="0">
                <a:solidFill>
                  <a:srgbClr val="EEF3FA"/>
                </a:solidFill>
              </a:rPr>
              <a:t>200,000 labelled samples, generated in simulation</a:t>
            </a:r>
            <a:endParaRPr lang="en-US" sz="3200" dirty="0"/>
          </a:p>
        </p:txBody>
      </p:sp>
      <p:sp>
        <p:nvSpPr>
          <p:cNvPr id="5" name="d_n#v"/>
          <p:cNvSpPr txBox="1"/>
          <p:nvPr/>
        </p:nvSpPr>
        <p:spPr>
          <a:xfrm>
            <a:off x="548640" y="1783080"/>
            <a:ext cx="3840480" cy="502920"/>
          </a:xfrm>
          <a:prstGeom prst="rect">
            <a:avLst/>
          </a:prstGeom>
          <a:noFill/>
          <a:ln/>
        </p:spPr>
        <p:txBody>
          <a:bodyPr wrap="square" lIns="0" tIns="0" rIns="0" bIns="0" rtlCol="0" anchor="t"/>
          <a:lstStyle/>
          <a:p>
            <a:pPr indent="0" marL="0">
              <a:buNone/>
            </a:pPr>
            <a:r>
              <a:rPr lang="en-US" sz="3000" b="1" dirty="0">
                <a:solidFill>
                  <a:srgbClr val="EEF3FA"/>
                </a:solidFill>
                <a:latin typeface="Calibri" pitchFamily="34" charset="0"/>
                <a:ea typeface="Calibri" pitchFamily="34" charset="-122"/>
                <a:cs typeface="Calibri" pitchFamily="34" charset="-120"/>
              </a:rPr>
              <a:t>200,000</a:t>
            </a:r>
            <a:endParaRPr lang="en-US" sz="3000" dirty="0"/>
          </a:p>
        </p:txBody>
      </p:sp>
      <p:sp>
        <p:nvSpPr>
          <p:cNvPr id="6" name="d_n#l"/>
          <p:cNvSpPr txBox="1"/>
          <p:nvPr/>
        </p:nvSpPr>
        <p:spPr>
          <a:xfrm>
            <a:off x="548640" y="2295144"/>
            <a:ext cx="3840480" cy="457200"/>
          </a:xfrm>
          <a:prstGeom prst="rect">
            <a:avLst/>
          </a:prstGeom>
          <a:noFill/>
          <a:ln/>
        </p:spPr>
        <p:txBody>
          <a:bodyPr wrap="square" lIns="0" tIns="0" rIns="0" bIns="0" rtlCol="0" anchor="t"/>
          <a:lstStyle/>
          <a:p>
            <a:pPr indent="0" marL="0">
              <a:buNone/>
            </a:pPr>
            <a:r>
              <a:rPr lang="en-US" sz="1200" dirty="0">
                <a:solidFill>
                  <a:srgbClr val="AEBBD0"/>
                </a:solidFill>
                <a:latin typeface="Calibri" pitchFamily="34" charset="0"/>
                <a:ea typeface="Calibri" pitchFamily="34" charset="-122"/>
                <a:cs typeface="Calibri" pitchFamily="34" charset="-120"/>
              </a:rPr>
              <a:t>samples (main dataset, generator seed 0)</a:t>
            </a:r>
            <a:endParaRPr lang="en-US" sz="1200" dirty="0"/>
          </a:p>
        </p:txBody>
      </p:sp>
      <p:sp>
        <p:nvSpPr>
          <p:cNvPr id="7" name="d_c#v"/>
          <p:cNvSpPr txBox="1"/>
          <p:nvPr/>
        </p:nvSpPr>
        <p:spPr>
          <a:xfrm>
            <a:off x="548640" y="2788920"/>
            <a:ext cx="3840480" cy="502920"/>
          </a:xfrm>
          <a:prstGeom prst="rect">
            <a:avLst/>
          </a:prstGeom>
          <a:noFill/>
          <a:ln/>
        </p:spPr>
        <p:txBody>
          <a:bodyPr wrap="square" lIns="0" tIns="0" rIns="0" bIns="0" rtlCol="0" anchor="t"/>
          <a:lstStyle/>
          <a:p>
            <a:pPr indent="0" marL="0">
              <a:buNone/>
            </a:pPr>
            <a:r>
              <a:rPr lang="en-US" sz="3000" b="1" dirty="0">
                <a:solidFill>
                  <a:srgbClr val="FF9C9C"/>
                </a:solidFill>
                <a:latin typeface="Calibri" pitchFamily="34" charset="0"/>
                <a:ea typeface="Calibri" pitchFamily="34" charset="-122"/>
                <a:cs typeface="Calibri" pitchFamily="34" charset="-120"/>
              </a:rPr>
              <a:t>16.2 %</a:t>
            </a:r>
            <a:endParaRPr lang="en-US" sz="3000" dirty="0"/>
          </a:p>
        </p:txBody>
      </p:sp>
      <p:sp>
        <p:nvSpPr>
          <p:cNvPr id="8" name="d_c#l"/>
          <p:cNvSpPr txBox="1"/>
          <p:nvPr/>
        </p:nvSpPr>
        <p:spPr>
          <a:xfrm>
            <a:off x="548640" y="3300984"/>
            <a:ext cx="3840480" cy="457200"/>
          </a:xfrm>
          <a:prstGeom prst="rect">
            <a:avLst/>
          </a:prstGeom>
          <a:noFill/>
          <a:ln/>
        </p:spPr>
        <p:txBody>
          <a:bodyPr wrap="square" lIns="0" tIns="0" rIns="0" bIns="0" rtlCol="0" anchor="t"/>
          <a:lstStyle/>
          <a:p>
            <a:pPr indent="0" marL="0">
              <a:buNone/>
            </a:pPr>
            <a:r>
              <a:rPr lang="en-US" sz="1200" dirty="0">
                <a:solidFill>
                  <a:srgbClr val="AEBBD0"/>
                </a:solidFill>
                <a:latin typeface="Calibri" pitchFamily="34" charset="0"/>
                <a:ea typeface="Calibri" pitchFamily="34" charset="-122"/>
                <a:cs typeface="Calibri" pitchFamily="34" charset="-120"/>
              </a:rPr>
              <a:t>self-colliding (32,392 rows)</a:t>
            </a:r>
            <a:endParaRPr lang="en-US" sz="1200" dirty="0"/>
          </a:p>
        </p:txBody>
      </p:sp>
      <p:sp>
        <p:nvSpPr>
          <p:cNvPr id="9" name="d_s#v"/>
          <p:cNvSpPr txBox="1"/>
          <p:nvPr/>
        </p:nvSpPr>
        <p:spPr>
          <a:xfrm>
            <a:off x="548640" y="3794760"/>
            <a:ext cx="3840480" cy="502920"/>
          </a:xfrm>
          <a:prstGeom prst="rect">
            <a:avLst/>
          </a:prstGeom>
          <a:noFill/>
          <a:ln/>
        </p:spPr>
        <p:txBody>
          <a:bodyPr wrap="square" lIns="0" tIns="0" rIns="0" bIns="0" rtlCol="0" anchor="t"/>
          <a:lstStyle/>
          <a:p>
            <a:pPr indent="0" marL="0">
              <a:buNone/>
            </a:pPr>
            <a:r>
              <a:rPr lang="en-US" sz="3000" b="1" dirty="0">
                <a:solidFill>
                  <a:srgbClr val="EEF3FA"/>
                </a:solidFill>
                <a:latin typeface="Calibri" pitchFamily="34" charset="0"/>
                <a:ea typeface="Calibri" pitchFamily="34" charset="-122"/>
                <a:cs typeface="Calibri" pitchFamily="34" charset="-120"/>
              </a:rPr>
              <a:t>70 / 30</a:t>
            </a:r>
            <a:endParaRPr lang="en-US" sz="3000" dirty="0"/>
          </a:p>
        </p:txBody>
      </p:sp>
      <p:sp>
        <p:nvSpPr>
          <p:cNvPr id="10" name="d_s#l"/>
          <p:cNvSpPr txBox="1"/>
          <p:nvPr/>
        </p:nvSpPr>
        <p:spPr>
          <a:xfrm>
            <a:off x="548640" y="4306824"/>
            <a:ext cx="3840480" cy="457200"/>
          </a:xfrm>
          <a:prstGeom prst="rect">
            <a:avLst/>
          </a:prstGeom>
          <a:noFill/>
          <a:ln/>
        </p:spPr>
        <p:txBody>
          <a:bodyPr wrap="square" lIns="0" tIns="0" rIns="0" bIns="0" rtlCol="0" anchor="t"/>
          <a:lstStyle/>
          <a:p>
            <a:pPr indent="0" marL="0">
              <a:buNone/>
            </a:pPr>
            <a:r>
              <a:rPr lang="en-US" sz="1200" dirty="0">
                <a:solidFill>
                  <a:srgbClr val="AEBBD0"/>
                </a:solidFill>
                <a:latin typeface="Calibri" pitchFamily="34" charset="0"/>
                <a:ea typeface="Calibri" pitchFamily="34" charset="-122"/>
                <a:cs typeface="Calibri" pitchFamily="34" charset="-120"/>
              </a:rPr>
              <a:t>uniform / near-limit sampling</a:t>
            </a:r>
            <a:endParaRPr lang="en-US" sz="1200" dirty="0"/>
          </a:p>
        </p:txBody>
      </p:sp>
      <p:sp>
        <p:nvSpPr>
          <p:cNvPr id="11" name="d_t#v"/>
          <p:cNvSpPr txBox="1"/>
          <p:nvPr/>
        </p:nvSpPr>
        <p:spPr>
          <a:xfrm>
            <a:off x="548640" y="4800600"/>
            <a:ext cx="3840480" cy="502920"/>
          </a:xfrm>
          <a:prstGeom prst="rect">
            <a:avLst/>
          </a:prstGeom>
          <a:noFill/>
          <a:ln/>
        </p:spPr>
        <p:txBody>
          <a:bodyPr wrap="square" lIns="0" tIns="0" rIns="0" bIns="0" rtlCol="0" anchor="t"/>
          <a:lstStyle/>
          <a:p>
            <a:pPr indent="0" marL="0">
              <a:buNone/>
            </a:pPr>
            <a:r>
              <a:rPr lang="en-US" sz="3000" b="1" dirty="0">
                <a:solidFill>
                  <a:srgbClr val="EEF3FA"/>
                </a:solidFill>
                <a:latin typeface="Calibri" pitchFamily="34" charset="0"/>
                <a:ea typeface="Calibri" pitchFamily="34" charset="-122"/>
                <a:cs typeface="Calibri" pitchFamily="34" charset="-120"/>
              </a:rPr>
              <a:t>25 s</a:t>
            </a:r>
            <a:endParaRPr lang="en-US" sz="3000" dirty="0"/>
          </a:p>
        </p:txBody>
      </p:sp>
      <p:sp>
        <p:nvSpPr>
          <p:cNvPr id="12" name="d_t#l"/>
          <p:cNvSpPr txBox="1"/>
          <p:nvPr/>
        </p:nvSpPr>
        <p:spPr>
          <a:xfrm>
            <a:off x="548640" y="5312664"/>
            <a:ext cx="3840480" cy="457200"/>
          </a:xfrm>
          <a:prstGeom prst="rect">
            <a:avLst/>
          </a:prstGeom>
          <a:noFill/>
          <a:ln/>
        </p:spPr>
        <p:txBody>
          <a:bodyPr wrap="square" lIns="0" tIns="0" rIns="0" bIns="0" rtlCol="0" anchor="t"/>
          <a:lstStyle/>
          <a:p>
            <a:pPr indent="0" marL="0">
              <a:buNone/>
            </a:pPr>
            <a:r>
              <a:rPr lang="en-US" sz="1200" dirty="0">
                <a:solidFill>
                  <a:srgbClr val="AEBBD0"/>
                </a:solidFill>
                <a:latin typeface="Calibri" pitchFamily="34" charset="0"/>
                <a:ea typeface="Calibri" pitchFamily="34" charset="-122"/>
                <a:cs typeface="Calibri" pitchFamily="34" charset="-120"/>
              </a:rPr>
              <a:t>to generate all 200,000 (team run)</a:t>
            </a:r>
            <a:endParaRPr lang="en-US" sz="1200" dirty="0"/>
          </a:p>
        </p:txBody>
      </p:sp>
      <p:sp>
        <p:nvSpPr>
          <p:cNvPr id="13" name="video_dataset_generation#frame"/>
          <p:cNvSpPr/>
          <p:nvPr/>
        </p:nvSpPr>
        <p:spPr>
          <a:xfrm>
            <a:off x="4681728" y="1664208"/>
            <a:ext cx="6988759" cy="3955180"/>
          </a:xfrm>
          <a:prstGeom prst="roundRect">
            <a:avLst>
              <a:gd name="adj" fmla="val 925"/>
            </a:avLst>
          </a:prstGeom>
          <a:solidFill>
            <a:srgbClr val="0A1527"/>
          </a:solidFill>
          <a:ln w="12700">
            <a:solidFill>
              <a:srgbClr val="23344F"/>
            </a:solidFill>
            <a:prstDash val="solid"/>
          </a:ln>
        </p:spPr>
      </p:sp>
      <p:pic>
        <p:nvPicPr>
          <p:cNvPr id="3" name="video_dataset_generation#media">
            <a:hlinkClick r:id="" action="ppaction://media"/>
          </p:cNvPr>
          <p:cNvPicPr>
            <a:picLocks noChangeAspect="1"/>
          </p:cNvPicPr>
          <p:nvPr>
            <a:videoFile r:link="rId1"/>
            <p:extLst>
              <p:ext uri="{DAA4B4D4-6D71-4841-9C94-3DE7FCFB9230}">
                <p14:media xmlns:p14="http://schemas.microsoft.com/office/powerpoint/2010/main" r:embed="rId2"/>
              </p:ext>
            </p:extLst>
          </p:nvPr>
        </p:nvPicPr>
        <p:blipFill>
          <a:blip r:embed="rId3"/>
          <a:stretch>
            <a:fillRect/>
          </a:stretch>
        </p:blipFill>
        <p:spPr>
          <a:xfrm>
            <a:off x="4709160" y="1691640"/>
            <a:ext cx="6933895" cy="3900316"/>
          </a:xfrm>
          <a:prstGeom prst="rect">
            <a:avLst/>
          </a:prstGeom>
        </p:spPr>
      </p:pic>
      <p:sp>
        <p:nvSpPr>
          <p:cNvPr id="15" name="video_dataset_generation#cap"/>
          <p:cNvSpPr txBox="1"/>
          <p:nvPr/>
        </p:nvSpPr>
        <p:spPr>
          <a:xfrm>
            <a:off x="4709160" y="5683396"/>
            <a:ext cx="6933895" cy="274320"/>
          </a:xfrm>
          <a:prstGeom prst="rect">
            <a:avLst/>
          </a:prstGeom>
          <a:noFill/>
          <a:ln/>
        </p:spPr>
        <p:txBody>
          <a:bodyPr wrap="square" lIns="0" tIns="0" rIns="0" bIns="0" rtlCol="0" anchor="t"/>
          <a:lstStyle/>
          <a:p>
            <a:pPr indent="0" marL="0">
              <a:buNone/>
            </a:pPr>
            <a:r>
              <a:rPr lang="en-US" sz="1050" dirty="0">
                <a:solidFill>
                  <a:srgbClr val="7F8FA8"/>
                </a:solidFill>
                <a:latin typeface="Calibri" pitchFamily="34" charset="0"/>
                <a:ea typeface="Calibri" pitchFamily="34" charset="-122"/>
                <a:cs typeface="Calibri" pitchFamily="34" charset="-120"/>
              </a:rPr>
              <a:t>Simulation 4 · real dataset rows: sample → FK pose → contact check → row; then 7,000 end-effector positions</a:t>
            </a:r>
            <a:endParaRPr lang="en-US" sz="1050" dirty="0"/>
          </a:p>
        </p:txBody>
      </p:sp>
      <p:sp>
        <p:nvSpPr>
          <p:cNvPr id="25" name="Slide Number Placeholder 0"/>
          <p:cNvSpPr>
            <a:spLocks noGrp="1"/>
          </p:cNvSpPr>
          <p:nvPr>
            <p:ph type="sldNum" sz="quarter" idx="4294967295"/>
          </p:nvPr>
        </p:nvSpPr>
        <p:spPr>
          <a:xfrm>
            <a:off x="11094415" y="6446520"/>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7F8FA8"/>
                </a:solidFill>
              </a:defRPr>
            </a:lvl1pPr>
          </a:lstStyle>
          <a:p>
            <a:pPr algn="r"/>
            <a:fld id="{F7021451-1387-4CA6-816F-3879F97B5CBC}" type="slidenum">
              <a:rPr b="0" lang="en-US"/>
              <a:t>7</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10" fill="hold">
                            <p:stCondLst>
                              <p:cond delay="0"/>
                            </p:stCondLst>
                            <p:childTnLst>
                              <p:par>
                                <p:cTn id="4" presetID="10" presetClass="entr" presetSubtype="0" fill="hold" grpId="0" nodeType="afterEffect">
                                  <p:stCondLst>
                                    <p:cond delay="0"/>
                                  </p:stCondLst>
                                  <p:childTnLst>
                                    <p:set>
                                      <p:cBhvr>
                                        <p:cTn id="5" dur="1" fill="hold">
                                          <p:stCondLst>
                                            <p:cond delay="0"/>
                                          </p:stCondLst>
                                        </p:cTn>
                                        <p:tgtEl>
                                          <p:spTgt spid="5"/>
                                        </p:tgtEl>
                                        <p:attrNameLst>
                                          <p:attrName>style.visibility</p:attrName>
                                        </p:attrNameLst>
                                      </p:cBhvr>
                                      <p:to>
                                        <p:strVal val="visible"/>
                                      </p:to>
                                    </p:set>
                                    <p:animEffect transition="in" filter="fade">
                                      <p:cBhvr>
                                        <p:cTn id="6" dur="420"/>
                                        <p:tgtEl>
                                          <p:spTgt spid="5"/>
                                        </p:tgtEl>
                                      </p:cBhvr>
                                    </p:animEffect>
                                  </p:childTnLst>
                                </p:cTn>
                              </p:par>
                              <p:par>
                                <p:cTn id="7" presetID="10"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animEffect transition="in" filter="fade">
                                      <p:cBhvr>
                                        <p:cTn id="9" dur="420"/>
                                        <p:tgtEl>
                                          <p:spTgt spid="6"/>
                                        </p:tgtEl>
                                      </p:cBhvr>
                                    </p:animEffect>
                                  </p:childTnLst>
                                </p:cTn>
                              </p:par>
                            </p:childTnLst>
                          </p:cTn>
                        </p:par>
                        <p:par>
                          <p:cTn id="17" fill="hold">
                            <p:stCondLst>
                              <p:cond delay="0"/>
                            </p:stCondLst>
                            <p:childTnLst>
                              <p:par>
                                <p:cTn id="11" presetID="10" presetClass="entr" presetSubtype="0" fill="hold" grpId="0" nodeType="after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2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20"/>
                                        <p:tgtEl>
                                          <p:spTgt spid="8"/>
                                        </p:tgtEl>
                                      </p:cBhvr>
                                    </p:animEffect>
                                  </p:childTnLst>
                                </p:cTn>
                              </p:par>
                            </p:childTnLst>
                          </p:cTn>
                        </p:par>
                        <p:par>
                          <p:cTn id="24" fill="hold">
                            <p:stCondLst>
                              <p:cond delay="260"/>
                            </p:stCondLst>
                            <p:childTnLst>
                              <p:par>
                                <p:cTn id="18" presetID="10" presetClass="entr" presetSubtype="0" fill="hold" grpId="0" nodeType="after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420"/>
                                        <p:tgtEl>
                                          <p:spTgt spid="9"/>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420"/>
                                        <p:tgtEl>
                                          <p:spTgt spid="10"/>
                                        </p:tgtEl>
                                      </p:cBhvr>
                                    </p:animEffect>
                                  </p:childTnLst>
                                </p:cTn>
                              </p:par>
                            </p:childTnLst>
                          </p:cTn>
                        </p:par>
                        <p:par>
                          <p:cTn id="31" fill="hold">
                            <p:stCondLst>
                              <p:cond delay="520"/>
                            </p:stCondLst>
                            <p:childTnLst>
                              <p:par>
                                <p:cTn id="25" presetID="10" presetClass="entr" presetSubtype="0" fill="hold" grpId="0" nodeType="after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2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20"/>
                                        <p:tgtEl>
                                          <p:spTgt spid="12"/>
                                        </p:tgtEl>
                                      </p:cBhvr>
                                    </p:animEffect>
                                  </p:childTnLst>
                                </p:cTn>
                              </p:par>
                            </p:childTnLst>
                          </p:cTn>
                        </p:par>
                        <p:par>
                          <p:cTn id="41" fill="hold">
                            <p:stCondLst>
                              <p:cond delay="780"/>
                            </p:stCondLst>
                            <p:childTnLst>
                              <p:par>
                                <p:cTn id="32" presetID="10" presetClass="entr" presetSubtype="0" fill="hold" grpId="0" nodeType="after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fade">
                                      <p:cBhvr>
                                        <p:cTn id="34" dur="420"/>
                                        <p:tgtEl>
                                          <p:spTgt spid="13"/>
                                        </p:tgtEl>
                                      </p:cBhvr>
                                    </p:animEffect>
                                  </p:childTnLst>
                                </p:cTn>
                              </p:par>
                              <p:par>
                                <p:cTn id="35" presetID="10" presetClass="entr" presetSubtype="0" fill="hold" nodeType="withEffect">
                                  <p:stCondLst>
                                    <p:cond delay="0"/>
                                  </p:stCondLst>
                                  <p:childTnLst>
                                    <p:set>
                                      <p:cBhvr>
                                        <p:cTn id="36" dur="1" fill="hold">
                                          <p:stCondLst>
                                            <p:cond delay="0"/>
                                          </p:stCondLst>
                                        </p:cTn>
                                        <p:tgtEl>
                                          <p:spTgt spid="3"/>
                                        </p:tgtEl>
                                        <p:attrNameLst>
                                          <p:attrName>style.visibility</p:attrName>
                                        </p:attrNameLst>
                                      </p:cBhvr>
                                      <p:to>
                                        <p:strVal val="visible"/>
                                      </p:to>
                                    </p:set>
                                    <p:animEffect transition="in" filter="fade">
                                      <p:cBhvr>
                                        <p:cTn id="37" dur="420"/>
                                        <p:tgtEl>
                                          <p:spTgt spid="3"/>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42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P spid="8" grpId="0" animBg="1"/>
      <p:bldP spid="9" grpId="0" animBg="1"/>
      <p:bldP spid="10" grpId="0" animBg="1"/>
      <p:bldP spid="11" grpId="0" animBg="1"/>
      <p:bldP spid="12" grpId="0" animBg="1"/>
      <p:bldP spid="13" grpId="0"/>
      <p:bldP spid="15"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1" type="body" hasCustomPrompt="1"/>
          </p:nvPr>
        </p:nvSpPr>
        <p:spPr>
          <a:xfrm>
            <a:off x="731520" y="310896"/>
            <a:ext cx="8686800" cy="329184"/>
          </a:xfrm>
          <a:prstGeom prst="rect">
            <a:avLst/>
          </a:prstGeom>
          <a:noFill/>
          <a:ln/>
        </p:spPr>
        <p:txBody>
          <a:bodyPr wrap="square" lIns="0" tIns="0" rIns="0" bIns="0" rtlCol="0" anchor="ctr"/>
          <a:lstStyle/>
          <a:p>
            <a:pPr algn="l" indent="0" marL="0">
              <a:buNone/>
            </a:pPr>
            <a:r>
              <a:rPr lang="en-US" sz="1200" b="1" spc="300" kern="0" dirty="0">
                <a:solidFill>
                  <a:srgbClr val="AEBBD0"/>
                </a:solidFill>
              </a:rPr>
              <a:t>LEVEL 1 · REPRESENTATION</a:t>
            </a:r>
            <a:endParaRPr lang="en-US" sz="1200" dirty="0"/>
          </a:p>
        </p:txBody>
      </p:sp>
      <p:sp>
        <p:nvSpPr>
          <p:cNvPr id="3" name="Text 0"/>
          <p:cNvSpPr/>
          <p:nvPr>
            <p:ph idx="102" type="title" hasCustomPrompt="1"/>
          </p:nvPr>
        </p:nvSpPr>
        <p:spPr>
          <a:xfrm>
            <a:off x="548640" y="658368"/>
            <a:ext cx="11094415" cy="731520"/>
          </a:xfrm>
          <a:prstGeom prst="rect">
            <a:avLst/>
          </a:prstGeom>
          <a:noFill/>
          <a:ln/>
        </p:spPr>
        <p:txBody>
          <a:bodyPr wrap="square" lIns="0" tIns="0" rIns="0" bIns="0" rtlCol="0" anchor="ctr"/>
          <a:lstStyle/>
          <a:p>
            <a:pPr algn="l" indent="0" marL="0">
              <a:buNone/>
            </a:pPr>
            <a:r>
              <a:rPr lang="en-US" sz="3200" b="1" dirty="0">
                <a:solidFill>
                  <a:srgbClr val="EEF3FA"/>
                </a:solidFill>
              </a:rPr>
              <a:t>What the network sees and what it predicts</a:t>
            </a:r>
            <a:endParaRPr lang="en-US" sz="3200" dirty="0"/>
          </a:p>
        </p:txBody>
      </p:sp>
      <p:sp>
        <p:nvSpPr>
          <p:cNvPr id="5" name="x_h"/>
          <p:cNvSpPr txBox="1"/>
          <p:nvPr/>
        </p:nvSpPr>
        <p:spPr>
          <a:xfrm>
            <a:off x="548640" y="1691640"/>
            <a:ext cx="5486400" cy="320040"/>
          </a:xfrm>
          <a:prstGeom prst="rect">
            <a:avLst/>
          </a:prstGeom>
          <a:noFill/>
          <a:ln/>
        </p:spPr>
        <p:txBody>
          <a:bodyPr wrap="square" lIns="0" tIns="0" rIns="0" bIns="0" rtlCol="0" anchor="t"/>
          <a:lstStyle/>
          <a:p>
            <a:pPr indent="0" marL="0">
              <a:buNone/>
            </a:pPr>
            <a:r>
              <a:rPr lang="en-US" sz="1600" b="1" dirty="0">
                <a:solidFill>
                  <a:srgbClr val="EEF3FA"/>
                </a:solidFill>
                <a:latin typeface="Calibri" pitchFamily="34" charset="0"/>
                <a:ea typeface="Calibri" pitchFamily="34" charset="-122"/>
                <a:cs typeface="Calibri" pitchFamily="34" charset="-120"/>
              </a:rPr>
              <a:t>Input X · 13 numbers</a:t>
            </a:r>
            <a:endParaRPr lang="en-US" sz="1600" dirty="0"/>
          </a:p>
        </p:txBody>
      </p:sp>
      <p:sp>
        <p:nvSpPr>
          <p:cNvPr id="6" name="x_p#t"/>
          <p:cNvSpPr txBox="1"/>
          <p:nvPr/>
        </p:nvSpPr>
        <p:spPr>
          <a:xfrm>
            <a:off x="548640" y="2057400"/>
            <a:ext cx="1810512" cy="256032"/>
          </a:xfrm>
          <a:prstGeom prst="rect">
            <a:avLst/>
          </a:prstGeom>
          <a:noFill/>
          <a:ln/>
        </p:spPr>
        <p:txBody>
          <a:bodyPr wrap="square" lIns="0" tIns="0" rIns="0" bIns="0" rtlCol="0" anchor="t"/>
          <a:lstStyle/>
          <a:p>
            <a:pPr indent="0" marL="0">
              <a:buNone/>
            </a:pPr>
            <a:r>
              <a:rPr lang="en-US" sz="1100" b="1" dirty="0">
                <a:solidFill>
                  <a:srgbClr val="4FD6F2"/>
                </a:solidFill>
                <a:latin typeface="Calibri" pitchFamily="34" charset="0"/>
                <a:ea typeface="Calibri" pitchFamily="34" charset="-122"/>
                <a:cs typeface="Calibri" pitchFamily="34" charset="-120"/>
              </a:rPr>
              <a:t>position</a:t>
            </a:r>
            <a:endParaRPr lang="en-US" sz="1100" dirty="0"/>
          </a:p>
        </p:txBody>
      </p:sp>
      <p:sp>
        <p:nvSpPr>
          <p:cNvPr id="7" name="x_p#b0"/>
          <p:cNvSpPr/>
          <p:nvPr/>
        </p:nvSpPr>
        <p:spPr>
          <a:xfrm>
            <a:off x="548640" y="2350008"/>
            <a:ext cx="457200" cy="457200"/>
          </a:xfrm>
          <a:prstGeom prst="roundRect">
            <a:avLst>
              <a:gd name="adj" fmla="val 16000"/>
            </a:avLst>
          </a:prstGeom>
          <a:solidFill>
            <a:srgbClr val="14233A"/>
          </a:solidFill>
          <a:ln w="15875">
            <a:solidFill>
              <a:srgbClr val="4FD6F2"/>
            </a:solidFill>
            <a:prstDash val="solid"/>
          </a:ln>
        </p:spPr>
      </p:sp>
      <p:sp>
        <p:nvSpPr>
          <p:cNvPr id="8" name="x_p#l0"/>
          <p:cNvSpPr txBox="1"/>
          <p:nvPr/>
        </p:nvSpPr>
        <p:spPr>
          <a:xfrm>
            <a:off x="548640" y="2350008"/>
            <a:ext cx="457200" cy="457200"/>
          </a:xfrm>
          <a:prstGeom prst="rect">
            <a:avLst/>
          </a:prstGeom>
          <a:noFill/>
          <a:ln/>
        </p:spPr>
        <p:txBody>
          <a:bodyPr wrap="square" lIns="0" tIns="0" rIns="0" bIns="0" rtlCol="0" anchor="ctr"/>
          <a:lstStyle/>
          <a:p>
            <a:pPr algn="ctr" indent="0" marL="0">
              <a:buNone/>
            </a:pPr>
            <a:r>
              <a:rPr lang="en-US" sz="1150" dirty="0">
                <a:solidFill>
                  <a:srgbClr val="EEF3FA"/>
                </a:solidFill>
                <a:latin typeface="Calibri" pitchFamily="34" charset="0"/>
                <a:ea typeface="Calibri" pitchFamily="34" charset="-122"/>
                <a:cs typeface="Calibri" pitchFamily="34" charset="-120"/>
              </a:rPr>
              <a:t>x</a:t>
            </a:r>
            <a:endParaRPr lang="en-US" sz="1150" dirty="0"/>
          </a:p>
        </p:txBody>
      </p:sp>
      <p:sp>
        <p:nvSpPr>
          <p:cNvPr id="9" name="x_p#b1"/>
          <p:cNvSpPr/>
          <p:nvPr/>
        </p:nvSpPr>
        <p:spPr>
          <a:xfrm>
            <a:off x="1060704" y="2350008"/>
            <a:ext cx="457200" cy="457200"/>
          </a:xfrm>
          <a:prstGeom prst="roundRect">
            <a:avLst>
              <a:gd name="adj" fmla="val 16000"/>
            </a:avLst>
          </a:prstGeom>
          <a:solidFill>
            <a:srgbClr val="14233A"/>
          </a:solidFill>
          <a:ln w="15875">
            <a:solidFill>
              <a:srgbClr val="4FD6F2"/>
            </a:solidFill>
            <a:prstDash val="solid"/>
          </a:ln>
        </p:spPr>
      </p:sp>
      <p:sp>
        <p:nvSpPr>
          <p:cNvPr id="10" name="x_p#l1"/>
          <p:cNvSpPr txBox="1"/>
          <p:nvPr/>
        </p:nvSpPr>
        <p:spPr>
          <a:xfrm>
            <a:off x="1060704" y="2350008"/>
            <a:ext cx="457200" cy="457200"/>
          </a:xfrm>
          <a:prstGeom prst="rect">
            <a:avLst/>
          </a:prstGeom>
          <a:noFill/>
          <a:ln/>
        </p:spPr>
        <p:txBody>
          <a:bodyPr wrap="square" lIns="0" tIns="0" rIns="0" bIns="0" rtlCol="0" anchor="ctr"/>
          <a:lstStyle/>
          <a:p>
            <a:pPr algn="ctr" indent="0" marL="0">
              <a:buNone/>
            </a:pPr>
            <a:r>
              <a:rPr lang="en-US" sz="1150" dirty="0">
                <a:solidFill>
                  <a:srgbClr val="EEF3FA"/>
                </a:solidFill>
                <a:latin typeface="Calibri" pitchFamily="34" charset="0"/>
                <a:ea typeface="Calibri" pitchFamily="34" charset="-122"/>
                <a:cs typeface="Calibri" pitchFamily="34" charset="-120"/>
              </a:rPr>
              <a:t>y</a:t>
            </a:r>
            <a:endParaRPr lang="en-US" sz="1150" dirty="0"/>
          </a:p>
        </p:txBody>
      </p:sp>
      <p:sp>
        <p:nvSpPr>
          <p:cNvPr id="11" name="x_p#b2"/>
          <p:cNvSpPr/>
          <p:nvPr/>
        </p:nvSpPr>
        <p:spPr>
          <a:xfrm>
            <a:off x="1572768" y="2350008"/>
            <a:ext cx="457200" cy="457200"/>
          </a:xfrm>
          <a:prstGeom prst="roundRect">
            <a:avLst>
              <a:gd name="adj" fmla="val 16000"/>
            </a:avLst>
          </a:prstGeom>
          <a:solidFill>
            <a:srgbClr val="14233A"/>
          </a:solidFill>
          <a:ln w="15875">
            <a:solidFill>
              <a:srgbClr val="4FD6F2"/>
            </a:solidFill>
            <a:prstDash val="solid"/>
          </a:ln>
        </p:spPr>
      </p:sp>
      <p:sp>
        <p:nvSpPr>
          <p:cNvPr id="12" name="x_p#l2"/>
          <p:cNvSpPr txBox="1"/>
          <p:nvPr/>
        </p:nvSpPr>
        <p:spPr>
          <a:xfrm>
            <a:off x="1572768" y="2350008"/>
            <a:ext cx="457200" cy="457200"/>
          </a:xfrm>
          <a:prstGeom prst="rect">
            <a:avLst/>
          </a:prstGeom>
          <a:noFill/>
          <a:ln/>
        </p:spPr>
        <p:txBody>
          <a:bodyPr wrap="square" lIns="0" tIns="0" rIns="0" bIns="0" rtlCol="0" anchor="ctr"/>
          <a:lstStyle/>
          <a:p>
            <a:pPr algn="ctr" indent="0" marL="0">
              <a:buNone/>
            </a:pPr>
            <a:r>
              <a:rPr lang="en-US" sz="1150" dirty="0">
                <a:solidFill>
                  <a:srgbClr val="EEF3FA"/>
                </a:solidFill>
                <a:latin typeface="Calibri" pitchFamily="34" charset="0"/>
                <a:ea typeface="Calibri" pitchFamily="34" charset="-122"/>
                <a:cs typeface="Calibri" pitchFamily="34" charset="-120"/>
              </a:rPr>
              <a:t>z</a:t>
            </a:r>
            <a:endParaRPr lang="en-US" sz="1150" dirty="0"/>
          </a:p>
        </p:txBody>
      </p:sp>
      <p:sp>
        <p:nvSpPr>
          <p:cNvPr id="13" name="x_o#t"/>
          <p:cNvSpPr txBox="1"/>
          <p:nvPr/>
        </p:nvSpPr>
        <p:spPr>
          <a:xfrm>
            <a:off x="2286000" y="2057400"/>
            <a:ext cx="2322576" cy="256032"/>
          </a:xfrm>
          <a:prstGeom prst="rect">
            <a:avLst/>
          </a:prstGeom>
          <a:noFill/>
          <a:ln/>
        </p:spPr>
        <p:txBody>
          <a:bodyPr wrap="square" lIns="0" tIns="0" rIns="0" bIns="0" rtlCol="0" anchor="t"/>
          <a:lstStyle/>
          <a:p>
            <a:pPr indent="0" marL="0">
              <a:buNone/>
            </a:pPr>
            <a:r>
              <a:rPr lang="en-US" sz="1100" b="1" dirty="0">
                <a:solidFill>
                  <a:srgbClr val="4FD6F2"/>
                </a:solidFill>
                <a:latin typeface="Calibri" pitchFamily="34" charset="0"/>
                <a:ea typeface="Calibri" pitchFamily="34" charset="-122"/>
                <a:cs typeface="Calibri" pitchFamily="34" charset="-120"/>
              </a:rPr>
              <a:t>orientation (quaternion)</a:t>
            </a:r>
            <a:endParaRPr lang="en-US" sz="1100" dirty="0"/>
          </a:p>
        </p:txBody>
      </p:sp>
      <p:sp>
        <p:nvSpPr>
          <p:cNvPr id="14" name="x_o#b0"/>
          <p:cNvSpPr/>
          <p:nvPr/>
        </p:nvSpPr>
        <p:spPr>
          <a:xfrm>
            <a:off x="2286000" y="2350008"/>
            <a:ext cx="457200" cy="457200"/>
          </a:xfrm>
          <a:prstGeom prst="roundRect">
            <a:avLst>
              <a:gd name="adj" fmla="val 16000"/>
            </a:avLst>
          </a:prstGeom>
          <a:solidFill>
            <a:srgbClr val="14233A"/>
          </a:solidFill>
          <a:ln w="15875">
            <a:solidFill>
              <a:srgbClr val="4FD6F2"/>
            </a:solidFill>
            <a:prstDash val="solid"/>
          </a:ln>
        </p:spPr>
      </p:sp>
      <p:sp>
        <p:nvSpPr>
          <p:cNvPr id="15" name="x_o#l0"/>
          <p:cNvSpPr txBox="1"/>
          <p:nvPr/>
        </p:nvSpPr>
        <p:spPr>
          <a:xfrm>
            <a:off x="2286000" y="2350008"/>
            <a:ext cx="457200" cy="457200"/>
          </a:xfrm>
          <a:prstGeom prst="rect">
            <a:avLst/>
          </a:prstGeom>
          <a:noFill/>
          <a:ln/>
        </p:spPr>
        <p:txBody>
          <a:bodyPr wrap="square" lIns="0" tIns="0" rIns="0" bIns="0" rtlCol="0" anchor="ctr"/>
          <a:lstStyle/>
          <a:p>
            <a:pPr algn="ctr" indent="0" marL="0">
              <a:buNone/>
            </a:pPr>
            <a:r>
              <a:rPr lang="en-US" sz="1150" dirty="0">
                <a:solidFill>
                  <a:srgbClr val="EEF3FA"/>
                </a:solidFill>
                <a:latin typeface="Calibri" pitchFamily="34" charset="0"/>
                <a:ea typeface="Calibri" pitchFamily="34" charset="-122"/>
                <a:cs typeface="Calibri" pitchFamily="34" charset="-120"/>
              </a:rPr>
              <a:t>qx</a:t>
            </a:r>
            <a:endParaRPr lang="en-US" sz="1150" dirty="0"/>
          </a:p>
        </p:txBody>
      </p:sp>
      <p:sp>
        <p:nvSpPr>
          <p:cNvPr id="16" name="x_o#b1"/>
          <p:cNvSpPr/>
          <p:nvPr/>
        </p:nvSpPr>
        <p:spPr>
          <a:xfrm>
            <a:off x="2798064" y="2350008"/>
            <a:ext cx="457200" cy="457200"/>
          </a:xfrm>
          <a:prstGeom prst="roundRect">
            <a:avLst>
              <a:gd name="adj" fmla="val 16000"/>
            </a:avLst>
          </a:prstGeom>
          <a:solidFill>
            <a:srgbClr val="14233A"/>
          </a:solidFill>
          <a:ln w="15875">
            <a:solidFill>
              <a:srgbClr val="4FD6F2"/>
            </a:solidFill>
            <a:prstDash val="solid"/>
          </a:ln>
        </p:spPr>
      </p:sp>
      <p:sp>
        <p:nvSpPr>
          <p:cNvPr id="17" name="x_o#l1"/>
          <p:cNvSpPr txBox="1"/>
          <p:nvPr/>
        </p:nvSpPr>
        <p:spPr>
          <a:xfrm>
            <a:off x="2798064" y="2350008"/>
            <a:ext cx="457200" cy="457200"/>
          </a:xfrm>
          <a:prstGeom prst="rect">
            <a:avLst/>
          </a:prstGeom>
          <a:noFill/>
          <a:ln/>
        </p:spPr>
        <p:txBody>
          <a:bodyPr wrap="square" lIns="0" tIns="0" rIns="0" bIns="0" rtlCol="0" anchor="ctr"/>
          <a:lstStyle/>
          <a:p>
            <a:pPr algn="ctr" indent="0" marL="0">
              <a:buNone/>
            </a:pPr>
            <a:r>
              <a:rPr lang="en-US" sz="1150" dirty="0">
                <a:solidFill>
                  <a:srgbClr val="EEF3FA"/>
                </a:solidFill>
                <a:latin typeface="Calibri" pitchFamily="34" charset="0"/>
                <a:ea typeface="Calibri" pitchFamily="34" charset="-122"/>
                <a:cs typeface="Calibri" pitchFamily="34" charset="-120"/>
              </a:rPr>
              <a:t>qy</a:t>
            </a:r>
            <a:endParaRPr lang="en-US" sz="1150" dirty="0"/>
          </a:p>
        </p:txBody>
      </p:sp>
      <p:sp>
        <p:nvSpPr>
          <p:cNvPr id="18" name="x_o#b2"/>
          <p:cNvSpPr/>
          <p:nvPr/>
        </p:nvSpPr>
        <p:spPr>
          <a:xfrm>
            <a:off x="3310128" y="2350008"/>
            <a:ext cx="457200" cy="457200"/>
          </a:xfrm>
          <a:prstGeom prst="roundRect">
            <a:avLst>
              <a:gd name="adj" fmla="val 16000"/>
            </a:avLst>
          </a:prstGeom>
          <a:solidFill>
            <a:srgbClr val="14233A"/>
          </a:solidFill>
          <a:ln w="15875">
            <a:solidFill>
              <a:srgbClr val="4FD6F2"/>
            </a:solidFill>
            <a:prstDash val="solid"/>
          </a:ln>
        </p:spPr>
      </p:sp>
      <p:sp>
        <p:nvSpPr>
          <p:cNvPr id="19" name="x_o#l2"/>
          <p:cNvSpPr txBox="1"/>
          <p:nvPr/>
        </p:nvSpPr>
        <p:spPr>
          <a:xfrm>
            <a:off x="3310128" y="2350008"/>
            <a:ext cx="457200" cy="457200"/>
          </a:xfrm>
          <a:prstGeom prst="rect">
            <a:avLst/>
          </a:prstGeom>
          <a:noFill/>
          <a:ln/>
        </p:spPr>
        <p:txBody>
          <a:bodyPr wrap="square" lIns="0" tIns="0" rIns="0" bIns="0" rtlCol="0" anchor="ctr"/>
          <a:lstStyle/>
          <a:p>
            <a:pPr algn="ctr" indent="0" marL="0">
              <a:buNone/>
            </a:pPr>
            <a:r>
              <a:rPr lang="en-US" sz="1150" dirty="0">
                <a:solidFill>
                  <a:srgbClr val="EEF3FA"/>
                </a:solidFill>
                <a:latin typeface="Calibri" pitchFamily="34" charset="0"/>
                <a:ea typeface="Calibri" pitchFamily="34" charset="-122"/>
                <a:cs typeface="Calibri" pitchFamily="34" charset="-120"/>
              </a:rPr>
              <a:t>qz</a:t>
            </a:r>
            <a:endParaRPr lang="en-US" sz="1150" dirty="0"/>
          </a:p>
        </p:txBody>
      </p:sp>
      <p:sp>
        <p:nvSpPr>
          <p:cNvPr id="20" name="x_o#b3"/>
          <p:cNvSpPr/>
          <p:nvPr/>
        </p:nvSpPr>
        <p:spPr>
          <a:xfrm>
            <a:off x="3822192" y="2350008"/>
            <a:ext cx="457200" cy="457200"/>
          </a:xfrm>
          <a:prstGeom prst="roundRect">
            <a:avLst>
              <a:gd name="adj" fmla="val 16000"/>
            </a:avLst>
          </a:prstGeom>
          <a:solidFill>
            <a:srgbClr val="14233A"/>
          </a:solidFill>
          <a:ln w="15875">
            <a:solidFill>
              <a:srgbClr val="4FD6F2"/>
            </a:solidFill>
            <a:prstDash val="solid"/>
          </a:ln>
        </p:spPr>
      </p:sp>
      <p:sp>
        <p:nvSpPr>
          <p:cNvPr id="21" name="x_o#l3"/>
          <p:cNvSpPr txBox="1"/>
          <p:nvPr/>
        </p:nvSpPr>
        <p:spPr>
          <a:xfrm>
            <a:off x="3822192" y="2350008"/>
            <a:ext cx="457200" cy="457200"/>
          </a:xfrm>
          <a:prstGeom prst="rect">
            <a:avLst/>
          </a:prstGeom>
          <a:noFill/>
          <a:ln/>
        </p:spPr>
        <p:txBody>
          <a:bodyPr wrap="square" lIns="0" tIns="0" rIns="0" bIns="0" rtlCol="0" anchor="ctr"/>
          <a:lstStyle/>
          <a:p>
            <a:pPr algn="ctr" indent="0" marL="0">
              <a:buNone/>
            </a:pPr>
            <a:r>
              <a:rPr lang="en-US" sz="1150" dirty="0">
                <a:solidFill>
                  <a:srgbClr val="EEF3FA"/>
                </a:solidFill>
                <a:latin typeface="Calibri" pitchFamily="34" charset="0"/>
                <a:ea typeface="Calibri" pitchFamily="34" charset="-122"/>
                <a:cs typeface="Calibri" pitchFamily="34" charset="-120"/>
              </a:rPr>
              <a:t>qw</a:t>
            </a:r>
            <a:endParaRPr lang="en-US" sz="1150" dirty="0"/>
          </a:p>
        </p:txBody>
      </p:sp>
      <p:sp>
        <p:nvSpPr>
          <p:cNvPr id="22" name="x_s#t"/>
          <p:cNvSpPr txBox="1"/>
          <p:nvPr/>
        </p:nvSpPr>
        <p:spPr>
          <a:xfrm>
            <a:off x="4535424" y="2057400"/>
            <a:ext cx="3346704" cy="256032"/>
          </a:xfrm>
          <a:prstGeom prst="rect">
            <a:avLst/>
          </a:prstGeom>
          <a:noFill/>
          <a:ln/>
        </p:spPr>
        <p:txBody>
          <a:bodyPr wrap="square" lIns="0" tIns="0" rIns="0" bIns="0" rtlCol="0" anchor="t"/>
          <a:lstStyle/>
          <a:p>
            <a:pPr indent="0" marL="0">
              <a:buNone/>
            </a:pPr>
            <a:r>
              <a:rPr lang="en-US" sz="1100" b="1" dirty="0">
                <a:solidFill>
                  <a:srgbClr val="FAB219"/>
                </a:solidFill>
                <a:latin typeface="Calibri" pitchFamily="34" charset="0"/>
                <a:ea typeface="Calibri" pitchFamily="34" charset="-122"/>
                <a:cs typeface="Calibri" pitchFamily="34" charset="-120"/>
              </a:rPr>
              <a:t>seed: current joint angles</a:t>
            </a:r>
            <a:endParaRPr lang="en-US" sz="1100" dirty="0"/>
          </a:p>
        </p:txBody>
      </p:sp>
      <p:sp>
        <p:nvSpPr>
          <p:cNvPr id="23" name="x_s#b0"/>
          <p:cNvSpPr/>
          <p:nvPr/>
        </p:nvSpPr>
        <p:spPr>
          <a:xfrm>
            <a:off x="4535424" y="2350008"/>
            <a:ext cx="457200" cy="457200"/>
          </a:xfrm>
          <a:prstGeom prst="roundRect">
            <a:avLst>
              <a:gd name="adj" fmla="val 16000"/>
            </a:avLst>
          </a:prstGeom>
          <a:solidFill>
            <a:srgbClr val="14233A"/>
          </a:solidFill>
          <a:ln w="15875">
            <a:solidFill>
              <a:srgbClr val="FAB219"/>
            </a:solidFill>
            <a:prstDash val="solid"/>
          </a:ln>
        </p:spPr>
      </p:sp>
      <p:sp>
        <p:nvSpPr>
          <p:cNvPr id="24" name="x_s#l0"/>
          <p:cNvSpPr txBox="1"/>
          <p:nvPr/>
        </p:nvSpPr>
        <p:spPr>
          <a:xfrm>
            <a:off x="4535424" y="2350008"/>
            <a:ext cx="457200" cy="457200"/>
          </a:xfrm>
          <a:prstGeom prst="rect">
            <a:avLst/>
          </a:prstGeom>
          <a:noFill/>
          <a:ln/>
        </p:spPr>
        <p:txBody>
          <a:bodyPr wrap="square" lIns="0" tIns="0" rIns="0" bIns="0" rtlCol="0" anchor="ctr"/>
          <a:lstStyle/>
          <a:p>
            <a:pPr algn="ctr" indent="0" marL="0">
              <a:buNone/>
            </a:pPr>
            <a:r>
              <a:rPr lang="en-US" sz="1150" dirty="0">
                <a:solidFill>
                  <a:srgbClr val="EEF3FA"/>
                </a:solidFill>
                <a:latin typeface="Calibri" pitchFamily="34" charset="0"/>
                <a:ea typeface="Calibri" pitchFamily="34" charset="-122"/>
                <a:cs typeface="Calibri" pitchFamily="34" charset="-120"/>
              </a:rPr>
              <a:t>s1</a:t>
            </a:r>
            <a:endParaRPr lang="en-US" sz="1150" dirty="0"/>
          </a:p>
        </p:txBody>
      </p:sp>
      <p:sp>
        <p:nvSpPr>
          <p:cNvPr id="25" name="x_s#b1"/>
          <p:cNvSpPr/>
          <p:nvPr/>
        </p:nvSpPr>
        <p:spPr>
          <a:xfrm>
            <a:off x="5047488" y="2350008"/>
            <a:ext cx="457200" cy="457200"/>
          </a:xfrm>
          <a:prstGeom prst="roundRect">
            <a:avLst>
              <a:gd name="adj" fmla="val 16000"/>
            </a:avLst>
          </a:prstGeom>
          <a:solidFill>
            <a:srgbClr val="14233A"/>
          </a:solidFill>
          <a:ln w="15875">
            <a:solidFill>
              <a:srgbClr val="FAB219"/>
            </a:solidFill>
            <a:prstDash val="solid"/>
          </a:ln>
        </p:spPr>
      </p:sp>
      <p:sp>
        <p:nvSpPr>
          <p:cNvPr id="26" name="x_s#l1"/>
          <p:cNvSpPr txBox="1"/>
          <p:nvPr/>
        </p:nvSpPr>
        <p:spPr>
          <a:xfrm>
            <a:off x="5047488" y="2350008"/>
            <a:ext cx="457200" cy="457200"/>
          </a:xfrm>
          <a:prstGeom prst="rect">
            <a:avLst/>
          </a:prstGeom>
          <a:noFill/>
          <a:ln/>
        </p:spPr>
        <p:txBody>
          <a:bodyPr wrap="square" lIns="0" tIns="0" rIns="0" bIns="0" rtlCol="0" anchor="ctr"/>
          <a:lstStyle/>
          <a:p>
            <a:pPr algn="ctr" indent="0" marL="0">
              <a:buNone/>
            </a:pPr>
            <a:r>
              <a:rPr lang="en-US" sz="1150" dirty="0">
                <a:solidFill>
                  <a:srgbClr val="EEF3FA"/>
                </a:solidFill>
                <a:latin typeface="Calibri" pitchFamily="34" charset="0"/>
                <a:ea typeface="Calibri" pitchFamily="34" charset="-122"/>
                <a:cs typeface="Calibri" pitchFamily="34" charset="-120"/>
              </a:rPr>
              <a:t>s2</a:t>
            </a:r>
            <a:endParaRPr lang="en-US" sz="1150" dirty="0"/>
          </a:p>
        </p:txBody>
      </p:sp>
      <p:sp>
        <p:nvSpPr>
          <p:cNvPr id="27" name="x_s#b2"/>
          <p:cNvSpPr/>
          <p:nvPr/>
        </p:nvSpPr>
        <p:spPr>
          <a:xfrm>
            <a:off x="5559552" y="2350008"/>
            <a:ext cx="457200" cy="457200"/>
          </a:xfrm>
          <a:prstGeom prst="roundRect">
            <a:avLst>
              <a:gd name="adj" fmla="val 16000"/>
            </a:avLst>
          </a:prstGeom>
          <a:solidFill>
            <a:srgbClr val="14233A"/>
          </a:solidFill>
          <a:ln w="15875">
            <a:solidFill>
              <a:srgbClr val="FAB219"/>
            </a:solidFill>
            <a:prstDash val="solid"/>
          </a:ln>
        </p:spPr>
      </p:sp>
      <p:sp>
        <p:nvSpPr>
          <p:cNvPr id="28" name="x_s#l2"/>
          <p:cNvSpPr txBox="1"/>
          <p:nvPr/>
        </p:nvSpPr>
        <p:spPr>
          <a:xfrm>
            <a:off x="5559552" y="2350008"/>
            <a:ext cx="457200" cy="457200"/>
          </a:xfrm>
          <a:prstGeom prst="rect">
            <a:avLst/>
          </a:prstGeom>
          <a:noFill/>
          <a:ln/>
        </p:spPr>
        <p:txBody>
          <a:bodyPr wrap="square" lIns="0" tIns="0" rIns="0" bIns="0" rtlCol="0" anchor="ctr"/>
          <a:lstStyle/>
          <a:p>
            <a:pPr algn="ctr" indent="0" marL="0">
              <a:buNone/>
            </a:pPr>
            <a:r>
              <a:rPr lang="en-US" sz="1150" dirty="0">
                <a:solidFill>
                  <a:srgbClr val="EEF3FA"/>
                </a:solidFill>
                <a:latin typeface="Calibri" pitchFamily="34" charset="0"/>
                <a:ea typeface="Calibri" pitchFamily="34" charset="-122"/>
                <a:cs typeface="Calibri" pitchFamily="34" charset="-120"/>
              </a:rPr>
              <a:t>s3</a:t>
            </a:r>
            <a:endParaRPr lang="en-US" sz="1150" dirty="0"/>
          </a:p>
        </p:txBody>
      </p:sp>
      <p:sp>
        <p:nvSpPr>
          <p:cNvPr id="29" name="x_s#b3"/>
          <p:cNvSpPr/>
          <p:nvPr/>
        </p:nvSpPr>
        <p:spPr>
          <a:xfrm>
            <a:off x="6071616" y="2350008"/>
            <a:ext cx="457200" cy="457200"/>
          </a:xfrm>
          <a:prstGeom prst="roundRect">
            <a:avLst>
              <a:gd name="adj" fmla="val 16000"/>
            </a:avLst>
          </a:prstGeom>
          <a:solidFill>
            <a:srgbClr val="14233A"/>
          </a:solidFill>
          <a:ln w="15875">
            <a:solidFill>
              <a:srgbClr val="FAB219"/>
            </a:solidFill>
            <a:prstDash val="solid"/>
          </a:ln>
        </p:spPr>
      </p:sp>
      <p:sp>
        <p:nvSpPr>
          <p:cNvPr id="30" name="x_s#l3"/>
          <p:cNvSpPr txBox="1"/>
          <p:nvPr/>
        </p:nvSpPr>
        <p:spPr>
          <a:xfrm>
            <a:off x="6071616" y="2350008"/>
            <a:ext cx="457200" cy="457200"/>
          </a:xfrm>
          <a:prstGeom prst="rect">
            <a:avLst/>
          </a:prstGeom>
          <a:noFill/>
          <a:ln/>
        </p:spPr>
        <p:txBody>
          <a:bodyPr wrap="square" lIns="0" tIns="0" rIns="0" bIns="0" rtlCol="0" anchor="ctr"/>
          <a:lstStyle/>
          <a:p>
            <a:pPr algn="ctr" indent="0" marL="0">
              <a:buNone/>
            </a:pPr>
            <a:r>
              <a:rPr lang="en-US" sz="1150" dirty="0">
                <a:solidFill>
                  <a:srgbClr val="EEF3FA"/>
                </a:solidFill>
                <a:latin typeface="Calibri" pitchFamily="34" charset="0"/>
                <a:ea typeface="Calibri" pitchFamily="34" charset="-122"/>
                <a:cs typeface="Calibri" pitchFamily="34" charset="-120"/>
              </a:rPr>
              <a:t>s4</a:t>
            </a:r>
            <a:endParaRPr lang="en-US" sz="1150" dirty="0"/>
          </a:p>
        </p:txBody>
      </p:sp>
      <p:sp>
        <p:nvSpPr>
          <p:cNvPr id="31" name="x_s#b4"/>
          <p:cNvSpPr/>
          <p:nvPr/>
        </p:nvSpPr>
        <p:spPr>
          <a:xfrm>
            <a:off x="6583680" y="2350008"/>
            <a:ext cx="457200" cy="457200"/>
          </a:xfrm>
          <a:prstGeom prst="roundRect">
            <a:avLst>
              <a:gd name="adj" fmla="val 16000"/>
            </a:avLst>
          </a:prstGeom>
          <a:solidFill>
            <a:srgbClr val="14233A"/>
          </a:solidFill>
          <a:ln w="15875">
            <a:solidFill>
              <a:srgbClr val="FAB219"/>
            </a:solidFill>
            <a:prstDash val="solid"/>
          </a:ln>
        </p:spPr>
      </p:sp>
      <p:sp>
        <p:nvSpPr>
          <p:cNvPr id="32" name="x_s#l4"/>
          <p:cNvSpPr txBox="1"/>
          <p:nvPr/>
        </p:nvSpPr>
        <p:spPr>
          <a:xfrm>
            <a:off x="6583680" y="2350008"/>
            <a:ext cx="457200" cy="457200"/>
          </a:xfrm>
          <a:prstGeom prst="rect">
            <a:avLst/>
          </a:prstGeom>
          <a:noFill/>
          <a:ln/>
        </p:spPr>
        <p:txBody>
          <a:bodyPr wrap="square" lIns="0" tIns="0" rIns="0" bIns="0" rtlCol="0" anchor="ctr"/>
          <a:lstStyle/>
          <a:p>
            <a:pPr algn="ctr" indent="0" marL="0">
              <a:buNone/>
            </a:pPr>
            <a:r>
              <a:rPr lang="en-US" sz="1150" dirty="0">
                <a:solidFill>
                  <a:srgbClr val="EEF3FA"/>
                </a:solidFill>
                <a:latin typeface="Calibri" pitchFamily="34" charset="0"/>
                <a:ea typeface="Calibri" pitchFamily="34" charset="-122"/>
                <a:cs typeface="Calibri" pitchFamily="34" charset="-120"/>
              </a:rPr>
              <a:t>s5</a:t>
            </a:r>
            <a:endParaRPr lang="en-US" sz="1150" dirty="0"/>
          </a:p>
        </p:txBody>
      </p:sp>
      <p:sp>
        <p:nvSpPr>
          <p:cNvPr id="33" name="x_s#b5"/>
          <p:cNvSpPr/>
          <p:nvPr/>
        </p:nvSpPr>
        <p:spPr>
          <a:xfrm>
            <a:off x="7095744" y="2350008"/>
            <a:ext cx="457200" cy="457200"/>
          </a:xfrm>
          <a:prstGeom prst="roundRect">
            <a:avLst>
              <a:gd name="adj" fmla="val 16000"/>
            </a:avLst>
          </a:prstGeom>
          <a:solidFill>
            <a:srgbClr val="14233A"/>
          </a:solidFill>
          <a:ln w="15875">
            <a:solidFill>
              <a:srgbClr val="FAB219"/>
            </a:solidFill>
            <a:prstDash val="solid"/>
          </a:ln>
        </p:spPr>
      </p:sp>
      <p:sp>
        <p:nvSpPr>
          <p:cNvPr id="34" name="x_s#l5"/>
          <p:cNvSpPr txBox="1"/>
          <p:nvPr/>
        </p:nvSpPr>
        <p:spPr>
          <a:xfrm>
            <a:off x="7095744" y="2350008"/>
            <a:ext cx="457200" cy="457200"/>
          </a:xfrm>
          <a:prstGeom prst="rect">
            <a:avLst/>
          </a:prstGeom>
          <a:noFill/>
          <a:ln/>
        </p:spPr>
        <p:txBody>
          <a:bodyPr wrap="square" lIns="0" tIns="0" rIns="0" bIns="0" rtlCol="0" anchor="ctr"/>
          <a:lstStyle/>
          <a:p>
            <a:pPr algn="ctr" indent="0" marL="0">
              <a:buNone/>
            </a:pPr>
            <a:r>
              <a:rPr lang="en-US" sz="1150" dirty="0">
                <a:solidFill>
                  <a:srgbClr val="EEF3FA"/>
                </a:solidFill>
                <a:latin typeface="Calibri" pitchFamily="34" charset="0"/>
                <a:ea typeface="Calibri" pitchFamily="34" charset="-122"/>
                <a:cs typeface="Calibri" pitchFamily="34" charset="-120"/>
              </a:rPr>
              <a:t>s6</a:t>
            </a:r>
            <a:endParaRPr lang="en-US" sz="1150" dirty="0"/>
          </a:p>
        </p:txBody>
      </p:sp>
      <p:sp>
        <p:nvSpPr>
          <p:cNvPr id="35" name="y_h"/>
          <p:cNvSpPr txBox="1"/>
          <p:nvPr/>
        </p:nvSpPr>
        <p:spPr>
          <a:xfrm>
            <a:off x="548640" y="3154680"/>
            <a:ext cx="5486400" cy="320040"/>
          </a:xfrm>
          <a:prstGeom prst="rect">
            <a:avLst/>
          </a:prstGeom>
          <a:noFill/>
          <a:ln/>
        </p:spPr>
        <p:txBody>
          <a:bodyPr wrap="square" lIns="0" tIns="0" rIns="0" bIns="0" rtlCol="0" anchor="t"/>
          <a:lstStyle/>
          <a:p>
            <a:pPr indent="0" marL="0">
              <a:buNone/>
            </a:pPr>
            <a:r>
              <a:rPr lang="en-US" sz="1600" b="1" dirty="0">
                <a:solidFill>
                  <a:srgbClr val="EEF3FA"/>
                </a:solidFill>
                <a:latin typeface="Calibri" pitchFamily="34" charset="0"/>
                <a:ea typeface="Calibri" pitchFamily="34" charset="-122"/>
                <a:cs typeface="Calibri" pitchFamily="34" charset="-120"/>
              </a:rPr>
              <a:t>Output y · 12 numbers</a:t>
            </a:r>
            <a:endParaRPr lang="en-US" sz="1600" dirty="0"/>
          </a:p>
        </p:txBody>
      </p:sp>
      <p:sp>
        <p:nvSpPr>
          <p:cNvPr id="36" name="y_s#t"/>
          <p:cNvSpPr txBox="1"/>
          <p:nvPr/>
        </p:nvSpPr>
        <p:spPr>
          <a:xfrm>
            <a:off x="548640" y="3520440"/>
            <a:ext cx="3346704" cy="256032"/>
          </a:xfrm>
          <a:prstGeom prst="rect">
            <a:avLst/>
          </a:prstGeom>
          <a:noFill/>
          <a:ln/>
        </p:spPr>
        <p:txBody>
          <a:bodyPr wrap="square" lIns="0" tIns="0" rIns="0" bIns="0" rtlCol="0" anchor="t"/>
          <a:lstStyle/>
          <a:p>
            <a:pPr indent="0" marL="0">
              <a:buNone/>
            </a:pPr>
            <a:r>
              <a:rPr lang="en-US" sz="1100" b="1" dirty="0">
                <a:solidFill>
                  <a:srgbClr val="199E70"/>
                </a:solidFill>
                <a:latin typeface="Calibri" pitchFamily="34" charset="0"/>
                <a:ea typeface="Calibri" pitchFamily="34" charset="-122"/>
                <a:cs typeface="Calibri" pitchFamily="34" charset="-120"/>
              </a:rPr>
              <a:t>sine of each joint angle</a:t>
            </a:r>
            <a:endParaRPr lang="en-US" sz="1100" dirty="0"/>
          </a:p>
        </p:txBody>
      </p:sp>
      <p:sp>
        <p:nvSpPr>
          <p:cNvPr id="37" name="y_s#b0"/>
          <p:cNvSpPr/>
          <p:nvPr/>
        </p:nvSpPr>
        <p:spPr>
          <a:xfrm>
            <a:off x="548640" y="3813048"/>
            <a:ext cx="457200" cy="457200"/>
          </a:xfrm>
          <a:prstGeom prst="roundRect">
            <a:avLst>
              <a:gd name="adj" fmla="val 16000"/>
            </a:avLst>
          </a:prstGeom>
          <a:solidFill>
            <a:srgbClr val="14233A"/>
          </a:solidFill>
          <a:ln w="15875">
            <a:solidFill>
              <a:srgbClr val="199E70"/>
            </a:solidFill>
            <a:prstDash val="solid"/>
          </a:ln>
        </p:spPr>
      </p:sp>
      <p:sp>
        <p:nvSpPr>
          <p:cNvPr id="38" name="y_s#l0"/>
          <p:cNvSpPr txBox="1"/>
          <p:nvPr/>
        </p:nvSpPr>
        <p:spPr>
          <a:xfrm>
            <a:off x="548640" y="3813048"/>
            <a:ext cx="457200" cy="457200"/>
          </a:xfrm>
          <a:prstGeom prst="rect">
            <a:avLst/>
          </a:prstGeom>
          <a:noFill/>
          <a:ln/>
        </p:spPr>
        <p:txBody>
          <a:bodyPr wrap="square" lIns="0" tIns="0" rIns="0" bIns="0" rtlCol="0" anchor="ctr"/>
          <a:lstStyle/>
          <a:p>
            <a:pPr algn="ctr" indent="0" marL="0">
              <a:buNone/>
            </a:pPr>
            <a:r>
              <a:rPr lang="en-US" sz="1150" dirty="0">
                <a:solidFill>
                  <a:srgbClr val="EEF3FA"/>
                </a:solidFill>
                <a:latin typeface="Calibri" pitchFamily="34" charset="0"/>
                <a:ea typeface="Calibri" pitchFamily="34" charset="-122"/>
                <a:cs typeface="Calibri" pitchFamily="34" charset="-120"/>
              </a:rPr>
              <a:t>sin1</a:t>
            </a:r>
            <a:endParaRPr lang="en-US" sz="1150" dirty="0"/>
          </a:p>
        </p:txBody>
      </p:sp>
      <p:sp>
        <p:nvSpPr>
          <p:cNvPr id="39" name="y_s#b1"/>
          <p:cNvSpPr/>
          <p:nvPr/>
        </p:nvSpPr>
        <p:spPr>
          <a:xfrm>
            <a:off x="1060704" y="3813048"/>
            <a:ext cx="457200" cy="457200"/>
          </a:xfrm>
          <a:prstGeom prst="roundRect">
            <a:avLst>
              <a:gd name="adj" fmla="val 16000"/>
            </a:avLst>
          </a:prstGeom>
          <a:solidFill>
            <a:srgbClr val="14233A"/>
          </a:solidFill>
          <a:ln w="15875">
            <a:solidFill>
              <a:srgbClr val="199E70"/>
            </a:solidFill>
            <a:prstDash val="solid"/>
          </a:ln>
        </p:spPr>
      </p:sp>
      <p:sp>
        <p:nvSpPr>
          <p:cNvPr id="40" name="y_s#l1"/>
          <p:cNvSpPr txBox="1"/>
          <p:nvPr/>
        </p:nvSpPr>
        <p:spPr>
          <a:xfrm>
            <a:off x="1060704" y="3813048"/>
            <a:ext cx="457200" cy="457200"/>
          </a:xfrm>
          <a:prstGeom prst="rect">
            <a:avLst/>
          </a:prstGeom>
          <a:noFill/>
          <a:ln/>
        </p:spPr>
        <p:txBody>
          <a:bodyPr wrap="square" lIns="0" tIns="0" rIns="0" bIns="0" rtlCol="0" anchor="ctr"/>
          <a:lstStyle/>
          <a:p>
            <a:pPr algn="ctr" indent="0" marL="0">
              <a:buNone/>
            </a:pPr>
            <a:r>
              <a:rPr lang="en-US" sz="1150" dirty="0">
                <a:solidFill>
                  <a:srgbClr val="EEF3FA"/>
                </a:solidFill>
                <a:latin typeface="Calibri" pitchFamily="34" charset="0"/>
                <a:ea typeface="Calibri" pitchFamily="34" charset="-122"/>
                <a:cs typeface="Calibri" pitchFamily="34" charset="-120"/>
              </a:rPr>
              <a:t>sin2</a:t>
            </a:r>
            <a:endParaRPr lang="en-US" sz="1150" dirty="0"/>
          </a:p>
        </p:txBody>
      </p:sp>
      <p:sp>
        <p:nvSpPr>
          <p:cNvPr id="41" name="y_s#b2"/>
          <p:cNvSpPr/>
          <p:nvPr/>
        </p:nvSpPr>
        <p:spPr>
          <a:xfrm>
            <a:off x="1572768" y="3813048"/>
            <a:ext cx="457200" cy="457200"/>
          </a:xfrm>
          <a:prstGeom prst="roundRect">
            <a:avLst>
              <a:gd name="adj" fmla="val 16000"/>
            </a:avLst>
          </a:prstGeom>
          <a:solidFill>
            <a:srgbClr val="14233A"/>
          </a:solidFill>
          <a:ln w="15875">
            <a:solidFill>
              <a:srgbClr val="199E70"/>
            </a:solidFill>
            <a:prstDash val="solid"/>
          </a:ln>
        </p:spPr>
      </p:sp>
      <p:sp>
        <p:nvSpPr>
          <p:cNvPr id="42" name="y_s#l2"/>
          <p:cNvSpPr txBox="1"/>
          <p:nvPr/>
        </p:nvSpPr>
        <p:spPr>
          <a:xfrm>
            <a:off x="1572768" y="3813048"/>
            <a:ext cx="457200" cy="457200"/>
          </a:xfrm>
          <a:prstGeom prst="rect">
            <a:avLst/>
          </a:prstGeom>
          <a:noFill/>
          <a:ln/>
        </p:spPr>
        <p:txBody>
          <a:bodyPr wrap="square" lIns="0" tIns="0" rIns="0" bIns="0" rtlCol="0" anchor="ctr"/>
          <a:lstStyle/>
          <a:p>
            <a:pPr algn="ctr" indent="0" marL="0">
              <a:buNone/>
            </a:pPr>
            <a:r>
              <a:rPr lang="en-US" sz="1150" dirty="0">
                <a:solidFill>
                  <a:srgbClr val="EEF3FA"/>
                </a:solidFill>
                <a:latin typeface="Calibri" pitchFamily="34" charset="0"/>
                <a:ea typeface="Calibri" pitchFamily="34" charset="-122"/>
                <a:cs typeface="Calibri" pitchFamily="34" charset="-120"/>
              </a:rPr>
              <a:t>sin3</a:t>
            </a:r>
            <a:endParaRPr lang="en-US" sz="1150" dirty="0"/>
          </a:p>
        </p:txBody>
      </p:sp>
      <p:sp>
        <p:nvSpPr>
          <p:cNvPr id="43" name="y_s#b3"/>
          <p:cNvSpPr/>
          <p:nvPr/>
        </p:nvSpPr>
        <p:spPr>
          <a:xfrm>
            <a:off x="2084832" y="3813048"/>
            <a:ext cx="457200" cy="457200"/>
          </a:xfrm>
          <a:prstGeom prst="roundRect">
            <a:avLst>
              <a:gd name="adj" fmla="val 16000"/>
            </a:avLst>
          </a:prstGeom>
          <a:solidFill>
            <a:srgbClr val="14233A"/>
          </a:solidFill>
          <a:ln w="15875">
            <a:solidFill>
              <a:srgbClr val="199E70"/>
            </a:solidFill>
            <a:prstDash val="solid"/>
          </a:ln>
        </p:spPr>
      </p:sp>
      <p:sp>
        <p:nvSpPr>
          <p:cNvPr id="44" name="y_s#l3"/>
          <p:cNvSpPr txBox="1"/>
          <p:nvPr/>
        </p:nvSpPr>
        <p:spPr>
          <a:xfrm>
            <a:off x="2084832" y="3813048"/>
            <a:ext cx="457200" cy="457200"/>
          </a:xfrm>
          <a:prstGeom prst="rect">
            <a:avLst/>
          </a:prstGeom>
          <a:noFill/>
          <a:ln/>
        </p:spPr>
        <p:txBody>
          <a:bodyPr wrap="square" lIns="0" tIns="0" rIns="0" bIns="0" rtlCol="0" anchor="ctr"/>
          <a:lstStyle/>
          <a:p>
            <a:pPr algn="ctr" indent="0" marL="0">
              <a:buNone/>
            </a:pPr>
            <a:r>
              <a:rPr lang="en-US" sz="1150" dirty="0">
                <a:solidFill>
                  <a:srgbClr val="EEF3FA"/>
                </a:solidFill>
                <a:latin typeface="Calibri" pitchFamily="34" charset="0"/>
                <a:ea typeface="Calibri" pitchFamily="34" charset="-122"/>
                <a:cs typeface="Calibri" pitchFamily="34" charset="-120"/>
              </a:rPr>
              <a:t>sin4</a:t>
            </a:r>
            <a:endParaRPr lang="en-US" sz="1150" dirty="0"/>
          </a:p>
        </p:txBody>
      </p:sp>
      <p:sp>
        <p:nvSpPr>
          <p:cNvPr id="45" name="y_s#b4"/>
          <p:cNvSpPr/>
          <p:nvPr/>
        </p:nvSpPr>
        <p:spPr>
          <a:xfrm>
            <a:off x="2596896" y="3813048"/>
            <a:ext cx="457200" cy="457200"/>
          </a:xfrm>
          <a:prstGeom prst="roundRect">
            <a:avLst>
              <a:gd name="adj" fmla="val 16000"/>
            </a:avLst>
          </a:prstGeom>
          <a:solidFill>
            <a:srgbClr val="14233A"/>
          </a:solidFill>
          <a:ln w="15875">
            <a:solidFill>
              <a:srgbClr val="199E70"/>
            </a:solidFill>
            <a:prstDash val="solid"/>
          </a:ln>
        </p:spPr>
      </p:sp>
      <p:sp>
        <p:nvSpPr>
          <p:cNvPr id="46" name="y_s#l4"/>
          <p:cNvSpPr txBox="1"/>
          <p:nvPr/>
        </p:nvSpPr>
        <p:spPr>
          <a:xfrm>
            <a:off x="2596896" y="3813048"/>
            <a:ext cx="457200" cy="457200"/>
          </a:xfrm>
          <a:prstGeom prst="rect">
            <a:avLst/>
          </a:prstGeom>
          <a:noFill/>
          <a:ln/>
        </p:spPr>
        <p:txBody>
          <a:bodyPr wrap="square" lIns="0" tIns="0" rIns="0" bIns="0" rtlCol="0" anchor="ctr"/>
          <a:lstStyle/>
          <a:p>
            <a:pPr algn="ctr" indent="0" marL="0">
              <a:buNone/>
            </a:pPr>
            <a:r>
              <a:rPr lang="en-US" sz="1150" dirty="0">
                <a:solidFill>
                  <a:srgbClr val="EEF3FA"/>
                </a:solidFill>
                <a:latin typeface="Calibri" pitchFamily="34" charset="0"/>
                <a:ea typeface="Calibri" pitchFamily="34" charset="-122"/>
                <a:cs typeface="Calibri" pitchFamily="34" charset="-120"/>
              </a:rPr>
              <a:t>sin5</a:t>
            </a:r>
            <a:endParaRPr lang="en-US" sz="1150" dirty="0"/>
          </a:p>
        </p:txBody>
      </p:sp>
      <p:sp>
        <p:nvSpPr>
          <p:cNvPr id="47" name="y_s#b5"/>
          <p:cNvSpPr/>
          <p:nvPr/>
        </p:nvSpPr>
        <p:spPr>
          <a:xfrm>
            <a:off x="3108960" y="3813048"/>
            <a:ext cx="457200" cy="457200"/>
          </a:xfrm>
          <a:prstGeom prst="roundRect">
            <a:avLst>
              <a:gd name="adj" fmla="val 16000"/>
            </a:avLst>
          </a:prstGeom>
          <a:solidFill>
            <a:srgbClr val="14233A"/>
          </a:solidFill>
          <a:ln w="15875">
            <a:solidFill>
              <a:srgbClr val="199E70"/>
            </a:solidFill>
            <a:prstDash val="solid"/>
          </a:ln>
        </p:spPr>
      </p:sp>
      <p:sp>
        <p:nvSpPr>
          <p:cNvPr id="48" name="y_s#l5"/>
          <p:cNvSpPr txBox="1"/>
          <p:nvPr/>
        </p:nvSpPr>
        <p:spPr>
          <a:xfrm>
            <a:off x="3108960" y="3813048"/>
            <a:ext cx="457200" cy="457200"/>
          </a:xfrm>
          <a:prstGeom prst="rect">
            <a:avLst/>
          </a:prstGeom>
          <a:noFill/>
          <a:ln/>
        </p:spPr>
        <p:txBody>
          <a:bodyPr wrap="square" lIns="0" tIns="0" rIns="0" bIns="0" rtlCol="0" anchor="ctr"/>
          <a:lstStyle/>
          <a:p>
            <a:pPr algn="ctr" indent="0" marL="0">
              <a:buNone/>
            </a:pPr>
            <a:r>
              <a:rPr lang="en-US" sz="1150" dirty="0">
                <a:solidFill>
                  <a:srgbClr val="EEF3FA"/>
                </a:solidFill>
                <a:latin typeface="Calibri" pitchFamily="34" charset="0"/>
                <a:ea typeface="Calibri" pitchFamily="34" charset="-122"/>
                <a:cs typeface="Calibri" pitchFamily="34" charset="-120"/>
              </a:rPr>
              <a:t>sin6</a:t>
            </a:r>
            <a:endParaRPr lang="en-US" sz="1150" dirty="0"/>
          </a:p>
        </p:txBody>
      </p:sp>
      <p:sp>
        <p:nvSpPr>
          <p:cNvPr id="49" name="y_c#t"/>
          <p:cNvSpPr txBox="1"/>
          <p:nvPr/>
        </p:nvSpPr>
        <p:spPr>
          <a:xfrm>
            <a:off x="3895344" y="3520440"/>
            <a:ext cx="3346704" cy="256032"/>
          </a:xfrm>
          <a:prstGeom prst="rect">
            <a:avLst/>
          </a:prstGeom>
          <a:noFill/>
          <a:ln/>
        </p:spPr>
        <p:txBody>
          <a:bodyPr wrap="square" lIns="0" tIns="0" rIns="0" bIns="0" rtlCol="0" anchor="t"/>
          <a:lstStyle/>
          <a:p>
            <a:pPr indent="0" marL="0">
              <a:buNone/>
            </a:pPr>
            <a:r>
              <a:rPr lang="en-US" sz="1100" b="1" dirty="0">
                <a:solidFill>
                  <a:srgbClr val="199E70"/>
                </a:solidFill>
                <a:latin typeface="Calibri" pitchFamily="34" charset="0"/>
                <a:ea typeface="Calibri" pitchFamily="34" charset="-122"/>
                <a:cs typeface="Calibri" pitchFamily="34" charset="-120"/>
              </a:rPr>
              <a:t>cosine of each joint angle</a:t>
            </a:r>
            <a:endParaRPr lang="en-US" sz="1100" dirty="0"/>
          </a:p>
        </p:txBody>
      </p:sp>
      <p:sp>
        <p:nvSpPr>
          <p:cNvPr id="50" name="y_c#b0"/>
          <p:cNvSpPr/>
          <p:nvPr/>
        </p:nvSpPr>
        <p:spPr>
          <a:xfrm>
            <a:off x="3895344" y="3813048"/>
            <a:ext cx="457200" cy="457200"/>
          </a:xfrm>
          <a:prstGeom prst="roundRect">
            <a:avLst>
              <a:gd name="adj" fmla="val 16000"/>
            </a:avLst>
          </a:prstGeom>
          <a:solidFill>
            <a:srgbClr val="14233A"/>
          </a:solidFill>
          <a:ln w="15875">
            <a:solidFill>
              <a:srgbClr val="199E70"/>
            </a:solidFill>
            <a:prstDash val="solid"/>
          </a:ln>
        </p:spPr>
      </p:sp>
      <p:sp>
        <p:nvSpPr>
          <p:cNvPr id="51" name="y_c#l0"/>
          <p:cNvSpPr txBox="1"/>
          <p:nvPr/>
        </p:nvSpPr>
        <p:spPr>
          <a:xfrm>
            <a:off x="3895344" y="3813048"/>
            <a:ext cx="457200" cy="457200"/>
          </a:xfrm>
          <a:prstGeom prst="rect">
            <a:avLst/>
          </a:prstGeom>
          <a:noFill/>
          <a:ln/>
        </p:spPr>
        <p:txBody>
          <a:bodyPr wrap="square" lIns="0" tIns="0" rIns="0" bIns="0" rtlCol="0" anchor="ctr"/>
          <a:lstStyle/>
          <a:p>
            <a:pPr algn="ctr" indent="0" marL="0">
              <a:buNone/>
            </a:pPr>
            <a:r>
              <a:rPr lang="en-US" sz="1150" dirty="0">
                <a:solidFill>
                  <a:srgbClr val="EEF3FA"/>
                </a:solidFill>
                <a:latin typeface="Calibri" pitchFamily="34" charset="0"/>
                <a:ea typeface="Calibri" pitchFamily="34" charset="-122"/>
                <a:cs typeface="Calibri" pitchFamily="34" charset="-120"/>
              </a:rPr>
              <a:t>cos1</a:t>
            </a:r>
            <a:endParaRPr lang="en-US" sz="1150" dirty="0"/>
          </a:p>
        </p:txBody>
      </p:sp>
      <p:sp>
        <p:nvSpPr>
          <p:cNvPr id="52" name="y_c#b1"/>
          <p:cNvSpPr/>
          <p:nvPr/>
        </p:nvSpPr>
        <p:spPr>
          <a:xfrm>
            <a:off x="4407408" y="3813048"/>
            <a:ext cx="457200" cy="457200"/>
          </a:xfrm>
          <a:prstGeom prst="roundRect">
            <a:avLst>
              <a:gd name="adj" fmla="val 16000"/>
            </a:avLst>
          </a:prstGeom>
          <a:solidFill>
            <a:srgbClr val="14233A"/>
          </a:solidFill>
          <a:ln w="15875">
            <a:solidFill>
              <a:srgbClr val="199E70"/>
            </a:solidFill>
            <a:prstDash val="solid"/>
          </a:ln>
        </p:spPr>
      </p:sp>
      <p:sp>
        <p:nvSpPr>
          <p:cNvPr id="53" name="y_c#l1"/>
          <p:cNvSpPr txBox="1"/>
          <p:nvPr/>
        </p:nvSpPr>
        <p:spPr>
          <a:xfrm>
            <a:off x="4407408" y="3813048"/>
            <a:ext cx="457200" cy="457200"/>
          </a:xfrm>
          <a:prstGeom prst="rect">
            <a:avLst/>
          </a:prstGeom>
          <a:noFill/>
          <a:ln/>
        </p:spPr>
        <p:txBody>
          <a:bodyPr wrap="square" lIns="0" tIns="0" rIns="0" bIns="0" rtlCol="0" anchor="ctr"/>
          <a:lstStyle/>
          <a:p>
            <a:pPr algn="ctr" indent="0" marL="0">
              <a:buNone/>
            </a:pPr>
            <a:r>
              <a:rPr lang="en-US" sz="1150" dirty="0">
                <a:solidFill>
                  <a:srgbClr val="EEF3FA"/>
                </a:solidFill>
                <a:latin typeface="Calibri" pitchFamily="34" charset="0"/>
                <a:ea typeface="Calibri" pitchFamily="34" charset="-122"/>
                <a:cs typeface="Calibri" pitchFamily="34" charset="-120"/>
              </a:rPr>
              <a:t>cos2</a:t>
            </a:r>
            <a:endParaRPr lang="en-US" sz="1150" dirty="0"/>
          </a:p>
        </p:txBody>
      </p:sp>
      <p:sp>
        <p:nvSpPr>
          <p:cNvPr id="54" name="y_c#b2"/>
          <p:cNvSpPr/>
          <p:nvPr/>
        </p:nvSpPr>
        <p:spPr>
          <a:xfrm>
            <a:off x="4919472" y="3813048"/>
            <a:ext cx="457200" cy="457200"/>
          </a:xfrm>
          <a:prstGeom prst="roundRect">
            <a:avLst>
              <a:gd name="adj" fmla="val 16000"/>
            </a:avLst>
          </a:prstGeom>
          <a:solidFill>
            <a:srgbClr val="14233A"/>
          </a:solidFill>
          <a:ln w="15875">
            <a:solidFill>
              <a:srgbClr val="199E70"/>
            </a:solidFill>
            <a:prstDash val="solid"/>
          </a:ln>
        </p:spPr>
      </p:sp>
      <p:sp>
        <p:nvSpPr>
          <p:cNvPr id="55" name="y_c#l2"/>
          <p:cNvSpPr txBox="1"/>
          <p:nvPr/>
        </p:nvSpPr>
        <p:spPr>
          <a:xfrm>
            <a:off x="4919472" y="3813048"/>
            <a:ext cx="457200" cy="457200"/>
          </a:xfrm>
          <a:prstGeom prst="rect">
            <a:avLst/>
          </a:prstGeom>
          <a:noFill/>
          <a:ln/>
        </p:spPr>
        <p:txBody>
          <a:bodyPr wrap="square" lIns="0" tIns="0" rIns="0" bIns="0" rtlCol="0" anchor="ctr"/>
          <a:lstStyle/>
          <a:p>
            <a:pPr algn="ctr" indent="0" marL="0">
              <a:buNone/>
            </a:pPr>
            <a:r>
              <a:rPr lang="en-US" sz="1150" dirty="0">
                <a:solidFill>
                  <a:srgbClr val="EEF3FA"/>
                </a:solidFill>
                <a:latin typeface="Calibri" pitchFamily="34" charset="0"/>
                <a:ea typeface="Calibri" pitchFamily="34" charset="-122"/>
                <a:cs typeface="Calibri" pitchFamily="34" charset="-120"/>
              </a:rPr>
              <a:t>cos3</a:t>
            </a:r>
            <a:endParaRPr lang="en-US" sz="1150" dirty="0"/>
          </a:p>
        </p:txBody>
      </p:sp>
      <p:sp>
        <p:nvSpPr>
          <p:cNvPr id="56" name="y_c#b3"/>
          <p:cNvSpPr/>
          <p:nvPr/>
        </p:nvSpPr>
        <p:spPr>
          <a:xfrm>
            <a:off x="5431536" y="3813048"/>
            <a:ext cx="457200" cy="457200"/>
          </a:xfrm>
          <a:prstGeom prst="roundRect">
            <a:avLst>
              <a:gd name="adj" fmla="val 16000"/>
            </a:avLst>
          </a:prstGeom>
          <a:solidFill>
            <a:srgbClr val="14233A"/>
          </a:solidFill>
          <a:ln w="15875">
            <a:solidFill>
              <a:srgbClr val="199E70"/>
            </a:solidFill>
            <a:prstDash val="solid"/>
          </a:ln>
        </p:spPr>
      </p:sp>
      <p:sp>
        <p:nvSpPr>
          <p:cNvPr id="57" name="y_c#l3"/>
          <p:cNvSpPr txBox="1"/>
          <p:nvPr/>
        </p:nvSpPr>
        <p:spPr>
          <a:xfrm>
            <a:off x="5431536" y="3813048"/>
            <a:ext cx="457200" cy="457200"/>
          </a:xfrm>
          <a:prstGeom prst="rect">
            <a:avLst/>
          </a:prstGeom>
          <a:noFill/>
          <a:ln/>
        </p:spPr>
        <p:txBody>
          <a:bodyPr wrap="square" lIns="0" tIns="0" rIns="0" bIns="0" rtlCol="0" anchor="ctr"/>
          <a:lstStyle/>
          <a:p>
            <a:pPr algn="ctr" indent="0" marL="0">
              <a:buNone/>
            </a:pPr>
            <a:r>
              <a:rPr lang="en-US" sz="1150" dirty="0">
                <a:solidFill>
                  <a:srgbClr val="EEF3FA"/>
                </a:solidFill>
                <a:latin typeface="Calibri" pitchFamily="34" charset="0"/>
                <a:ea typeface="Calibri" pitchFamily="34" charset="-122"/>
                <a:cs typeface="Calibri" pitchFamily="34" charset="-120"/>
              </a:rPr>
              <a:t>cos4</a:t>
            </a:r>
            <a:endParaRPr lang="en-US" sz="1150" dirty="0"/>
          </a:p>
        </p:txBody>
      </p:sp>
      <p:sp>
        <p:nvSpPr>
          <p:cNvPr id="58" name="y_c#b4"/>
          <p:cNvSpPr/>
          <p:nvPr/>
        </p:nvSpPr>
        <p:spPr>
          <a:xfrm>
            <a:off x="5943600" y="3813048"/>
            <a:ext cx="457200" cy="457200"/>
          </a:xfrm>
          <a:prstGeom prst="roundRect">
            <a:avLst>
              <a:gd name="adj" fmla="val 16000"/>
            </a:avLst>
          </a:prstGeom>
          <a:solidFill>
            <a:srgbClr val="14233A"/>
          </a:solidFill>
          <a:ln w="15875">
            <a:solidFill>
              <a:srgbClr val="199E70"/>
            </a:solidFill>
            <a:prstDash val="solid"/>
          </a:ln>
        </p:spPr>
      </p:sp>
      <p:sp>
        <p:nvSpPr>
          <p:cNvPr id="59" name="y_c#l4"/>
          <p:cNvSpPr txBox="1"/>
          <p:nvPr/>
        </p:nvSpPr>
        <p:spPr>
          <a:xfrm>
            <a:off x="5943600" y="3813048"/>
            <a:ext cx="457200" cy="457200"/>
          </a:xfrm>
          <a:prstGeom prst="rect">
            <a:avLst/>
          </a:prstGeom>
          <a:noFill/>
          <a:ln/>
        </p:spPr>
        <p:txBody>
          <a:bodyPr wrap="square" lIns="0" tIns="0" rIns="0" bIns="0" rtlCol="0" anchor="ctr"/>
          <a:lstStyle/>
          <a:p>
            <a:pPr algn="ctr" indent="0" marL="0">
              <a:buNone/>
            </a:pPr>
            <a:r>
              <a:rPr lang="en-US" sz="1150" dirty="0">
                <a:solidFill>
                  <a:srgbClr val="EEF3FA"/>
                </a:solidFill>
                <a:latin typeface="Calibri" pitchFamily="34" charset="0"/>
                <a:ea typeface="Calibri" pitchFamily="34" charset="-122"/>
                <a:cs typeface="Calibri" pitchFamily="34" charset="-120"/>
              </a:rPr>
              <a:t>cos5</a:t>
            </a:r>
            <a:endParaRPr lang="en-US" sz="1150" dirty="0"/>
          </a:p>
        </p:txBody>
      </p:sp>
      <p:sp>
        <p:nvSpPr>
          <p:cNvPr id="60" name="y_c#b5"/>
          <p:cNvSpPr/>
          <p:nvPr/>
        </p:nvSpPr>
        <p:spPr>
          <a:xfrm>
            <a:off x="6455664" y="3813048"/>
            <a:ext cx="457200" cy="457200"/>
          </a:xfrm>
          <a:prstGeom prst="roundRect">
            <a:avLst>
              <a:gd name="adj" fmla="val 16000"/>
            </a:avLst>
          </a:prstGeom>
          <a:solidFill>
            <a:srgbClr val="14233A"/>
          </a:solidFill>
          <a:ln w="15875">
            <a:solidFill>
              <a:srgbClr val="199E70"/>
            </a:solidFill>
            <a:prstDash val="solid"/>
          </a:ln>
        </p:spPr>
      </p:sp>
      <p:sp>
        <p:nvSpPr>
          <p:cNvPr id="61" name="y_c#l5"/>
          <p:cNvSpPr txBox="1"/>
          <p:nvPr/>
        </p:nvSpPr>
        <p:spPr>
          <a:xfrm>
            <a:off x="6455664" y="3813048"/>
            <a:ext cx="457200" cy="457200"/>
          </a:xfrm>
          <a:prstGeom prst="rect">
            <a:avLst/>
          </a:prstGeom>
          <a:noFill/>
          <a:ln/>
        </p:spPr>
        <p:txBody>
          <a:bodyPr wrap="square" lIns="0" tIns="0" rIns="0" bIns="0" rtlCol="0" anchor="ctr"/>
          <a:lstStyle/>
          <a:p>
            <a:pPr algn="ctr" indent="0" marL="0">
              <a:buNone/>
            </a:pPr>
            <a:r>
              <a:rPr lang="en-US" sz="1150" dirty="0">
                <a:solidFill>
                  <a:srgbClr val="EEF3FA"/>
                </a:solidFill>
                <a:latin typeface="Calibri" pitchFamily="34" charset="0"/>
                <a:ea typeface="Calibri" pitchFamily="34" charset="-122"/>
                <a:cs typeface="Calibri" pitchFamily="34" charset="-120"/>
              </a:rPr>
              <a:t>cos6</a:t>
            </a:r>
            <a:endParaRPr lang="en-US" sz="1150" dirty="0"/>
          </a:p>
        </p:txBody>
      </p:sp>
      <p:sp>
        <p:nvSpPr>
          <p:cNvPr id="62" name="x_dec#box"/>
          <p:cNvSpPr/>
          <p:nvPr/>
        </p:nvSpPr>
        <p:spPr>
          <a:xfrm>
            <a:off x="548640" y="4709160"/>
            <a:ext cx="7040880" cy="1325880"/>
          </a:xfrm>
          <a:prstGeom prst="roundRect">
            <a:avLst>
              <a:gd name="adj" fmla="val 6897"/>
            </a:avLst>
          </a:prstGeom>
          <a:solidFill>
            <a:srgbClr val="0F1B2D"/>
          </a:solidFill>
          <a:ln w="12700">
            <a:solidFill>
              <a:srgbClr val="23344F"/>
            </a:solidFill>
            <a:prstDash val="solid"/>
          </a:ln>
        </p:spPr>
      </p:sp>
      <p:sp>
        <p:nvSpPr>
          <p:cNvPr id="63" name="x_dec#h"/>
          <p:cNvSpPr txBox="1"/>
          <p:nvPr/>
        </p:nvSpPr>
        <p:spPr>
          <a:xfrm>
            <a:off x="749808" y="4892040"/>
            <a:ext cx="6638544" cy="384048"/>
          </a:xfrm>
          <a:prstGeom prst="rect">
            <a:avLst/>
          </a:prstGeom>
          <a:noFill/>
          <a:ln/>
        </p:spPr>
        <p:txBody>
          <a:bodyPr wrap="square" lIns="0" tIns="0" rIns="0" bIns="0" rtlCol="0" anchor="t"/>
          <a:lstStyle/>
          <a:p>
            <a:pPr indent="0" marL="0">
              <a:buNone/>
            </a:pPr>
            <a:r>
              <a:rPr lang="en-US" sz="1500" b="1" dirty="0">
                <a:solidFill>
                  <a:srgbClr val="EEF3FA"/>
                </a:solidFill>
                <a:latin typeface="Calibri" pitchFamily="34" charset="0"/>
                <a:ea typeface="Calibri" pitchFamily="34" charset="-122"/>
                <a:cs typeface="Calibri" pitchFamily="34" charset="-120"/>
              </a:rPr>
              <a:t>Decode: q = atan2(sin, cos), then shift by ±360° into the joint limits</a:t>
            </a:r>
            <a:endParaRPr lang="en-US" sz="1500" dirty="0"/>
          </a:p>
        </p:txBody>
      </p:sp>
      <p:sp>
        <p:nvSpPr>
          <p:cNvPr id="64" name="x_dec#b"/>
          <p:cNvSpPr txBox="1"/>
          <p:nvPr/>
        </p:nvSpPr>
        <p:spPr>
          <a:xfrm>
            <a:off x="749808" y="5257800"/>
            <a:ext cx="6638544" cy="667512"/>
          </a:xfrm>
          <a:prstGeom prst="rect">
            <a:avLst/>
          </a:prstGeom>
          <a:noFill/>
          <a:ln/>
        </p:spPr>
        <p:txBody>
          <a:bodyPr wrap="square" lIns="0" tIns="0" rIns="0" bIns="0" rtlCol="0" anchor="t"/>
          <a:lstStyle/>
          <a:p>
            <a:pPr indent="0" marL="0">
              <a:spcAft>
                <a:spcPts val="400"/>
              </a:spcAft>
              <a:buNone/>
            </a:pPr>
            <a:r>
              <a:rPr lang="en-US" sz="1250" dirty="0">
                <a:solidFill>
                  <a:srgbClr val="AEBBD0"/>
                </a:solidFill>
                <a:latin typeface="Calibri" pitchFamily="34" charset="0"/>
                <a:ea typeface="Calibri" pitchFamily="34" charset="-122"/>
                <a:cs typeface="Calibri" pitchFamily="34" charset="-120"/>
              </a:rPr>
              <a:t>Seed in training: true joints + N(0, 0.3 rad). IK rows: collision-free only. Same pose, legal joint value (xArm6 joint 3 spans −225…+11°).</a:t>
            </a:r>
            <a:endParaRPr lang="en-US" sz="1250" dirty="0"/>
          </a:p>
        </p:txBody>
      </p:sp>
      <p:pic>
        <p:nvPicPr>
          <p:cNvPr id="65" name="x_circle" descr="/tmp/claude-0/nik_work/deck/circle.png">    </p:cNvPr>
          <p:cNvPicPr>
            <a:picLocks noChangeAspect="1"/>
          </p:cNvPicPr>
          <p:nvPr/>
        </p:nvPicPr>
        <p:blipFill>
          <a:blip r:embed="rId1"/>
          <a:stretch>
            <a:fillRect/>
          </a:stretch>
        </p:blipFill>
        <p:spPr>
          <a:xfrm>
            <a:off x="8001000" y="1691640"/>
            <a:ext cx="3639312" cy="2681598"/>
          </a:xfrm>
          <a:prstGeom prst="rect">
            <a:avLst/>
          </a:prstGeom>
        </p:spPr>
      </p:pic>
      <p:sp>
        <p:nvSpPr>
          <p:cNvPr id="66" name="Text 62"/>
          <p:cNvSpPr txBox="1"/>
          <p:nvPr/>
        </p:nvSpPr>
        <p:spPr>
          <a:xfrm>
            <a:off x="8001000" y="4462272"/>
            <a:ext cx="3639312" cy="548640"/>
          </a:xfrm>
          <a:prstGeom prst="rect">
            <a:avLst/>
          </a:prstGeom>
          <a:noFill/>
          <a:ln/>
        </p:spPr>
        <p:txBody>
          <a:bodyPr wrap="square" lIns="0" tIns="0" rIns="0" bIns="0" rtlCol="0" anchor="t"/>
          <a:lstStyle/>
          <a:p>
            <a:pPr indent="0" marL="0">
              <a:buNone/>
            </a:pPr>
            <a:r>
              <a:rPr lang="en-US" sz="1100" dirty="0">
                <a:solidFill>
                  <a:srgbClr val="7F8FA8"/>
                </a:solidFill>
                <a:latin typeface="Calibri" pitchFamily="34" charset="0"/>
                <a:ea typeface="Calibri" pitchFamily="34" charset="-122"/>
                <a:cs typeface="Calibri" pitchFamily="34" charset="-120"/>
              </a:rPr>
              <a:t>From Simulation 5: as the angle crosses 180°, the written number jumps but (sin, cos) moves smoothly.</a:t>
            </a:r>
            <a:endParaRPr lang="en-US" sz="1100" dirty="0"/>
          </a:p>
        </p:txBody>
      </p:sp>
      <p:sp>
        <p:nvSpPr>
          <p:cNvPr id="25" name="Slide Number Placeholder 0"/>
          <p:cNvSpPr>
            <a:spLocks noGrp="1"/>
          </p:cNvSpPr>
          <p:nvPr>
            <p:ph type="sldNum" sz="quarter" idx="4294967295"/>
          </p:nvPr>
        </p:nvSpPr>
        <p:spPr>
          <a:xfrm>
            <a:off x="11094415" y="6446520"/>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7F8FA8"/>
                </a:solidFill>
              </a:defRPr>
            </a:lvl1pPr>
          </a:lstStyle>
          <a:p>
            <a:pPr algn="r"/>
            <a:fld id="{F7021451-1387-4CA6-816F-3879F97B5CBC}" type="slidenum">
              <a:rPr b="0" lang="en-US"/>
              <a:t>8</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7" fill="hold">
                            <p:stCondLst>
                              <p:cond delay="0"/>
                            </p:stCondLst>
                            <p:childTnLst>
                              <p:par>
                                <p:cTn id="4" presetID="10" presetClass="entr" presetSubtype="0" fill="hold" grpId="0" nodeType="afterEffect">
                                  <p:stCondLst>
                                    <p:cond delay="0"/>
                                  </p:stCondLst>
                                  <p:childTnLst>
                                    <p:set>
                                      <p:cBhvr>
                                        <p:cTn id="5" dur="1" fill="hold">
                                          <p:stCondLst>
                                            <p:cond delay="0"/>
                                          </p:stCondLst>
                                        </p:cTn>
                                        <p:tgtEl>
                                          <p:spTgt spid="5"/>
                                        </p:tgtEl>
                                        <p:attrNameLst>
                                          <p:attrName>style.visibility</p:attrName>
                                        </p:attrNameLst>
                                      </p:cBhvr>
                                      <p:to>
                                        <p:strVal val="visible"/>
                                      </p:to>
                                    </p:set>
                                    <p:animEffect transition="in" filter="fade">
                                      <p:cBhvr>
                                        <p:cTn id="6" dur="420"/>
                                        <p:tgtEl>
                                          <p:spTgt spid="5"/>
                                        </p:tgtEl>
                                      </p:cBhvr>
                                    </p:animEffect>
                                  </p:childTnLst>
                                </p:cTn>
                              </p:par>
                            </p:childTnLst>
                          </p:cTn>
                        </p:par>
                        <p:par>
                          <p:cTn id="29" fill="hold">
                            <p:stCondLst>
                              <p:cond delay="0"/>
                            </p:stCondLst>
                            <p:childTnLst>
                              <p:par>
                                <p:cTn id="8" presetID="10" presetClass="entr" presetSubtype="0" fill="hold" grpId="0" nodeType="after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2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20"/>
                                        <p:tgtEl>
                                          <p:spTgt spid="7"/>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2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20"/>
                                        <p:tgtEl>
                                          <p:spTgt spid="9"/>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420"/>
                                        <p:tgtEl>
                                          <p:spTgt spid="10"/>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420"/>
                                        <p:tgtEl>
                                          <p:spTgt spid="11"/>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420"/>
                                        <p:tgtEl>
                                          <p:spTgt spid="12"/>
                                        </p:tgtEl>
                                      </p:cBhvr>
                                    </p:animEffect>
                                  </p:childTnLst>
                                </p:cTn>
                              </p:par>
                            </p:childTnLst>
                          </p:cTn>
                        </p:par>
                        <p:par>
                          <p:cTn id="57" fill="hold">
                            <p:stCondLst>
                              <p:cond delay="260"/>
                            </p:stCondLst>
                            <p:childTnLst>
                              <p:par>
                                <p:cTn id="30" presetID="10" presetClass="entr" presetSubtype="0" fill="hold" grpId="0" nodeType="after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fade">
                                      <p:cBhvr>
                                        <p:cTn id="32" dur="420"/>
                                        <p:tgtEl>
                                          <p:spTgt spid="13"/>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4"/>
                                        </p:tgtEl>
                                        <p:attrNameLst>
                                          <p:attrName>style.visibility</p:attrName>
                                        </p:attrNameLst>
                                      </p:cBhvr>
                                      <p:to>
                                        <p:strVal val="visible"/>
                                      </p:to>
                                    </p:set>
                                    <p:animEffect transition="in" filter="fade">
                                      <p:cBhvr>
                                        <p:cTn id="35" dur="420"/>
                                        <p:tgtEl>
                                          <p:spTgt spid="14"/>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5"/>
                                        </p:tgtEl>
                                        <p:attrNameLst>
                                          <p:attrName>style.visibility</p:attrName>
                                        </p:attrNameLst>
                                      </p:cBhvr>
                                      <p:to>
                                        <p:strVal val="visible"/>
                                      </p:to>
                                    </p:set>
                                    <p:animEffect transition="in" filter="fade">
                                      <p:cBhvr>
                                        <p:cTn id="38" dur="420"/>
                                        <p:tgtEl>
                                          <p:spTgt spid="15"/>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fade">
                                      <p:cBhvr>
                                        <p:cTn id="41" dur="42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420"/>
                                        <p:tgtEl>
                                          <p:spTgt spid="17"/>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fade">
                                      <p:cBhvr>
                                        <p:cTn id="47" dur="420"/>
                                        <p:tgtEl>
                                          <p:spTgt spid="18"/>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9"/>
                                        </p:tgtEl>
                                        <p:attrNameLst>
                                          <p:attrName>style.visibility</p:attrName>
                                        </p:attrNameLst>
                                      </p:cBhvr>
                                      <p:to>
                                        <p:strVal val="visible"/>
                                      </p:to>
                                    </p:set>
                                    <p:animEffect transition="in" filter="fade">
                                      <p:cBhvr>
                                        <p:cTn id="50" dur="420"/>
                                        <p:tgtEl>
                                          <p:spTgt spid="19"/>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20"/>
                                        </p:tgtEl>
                                        <p:attrNameLst>
                                          <p:attrName>style.visibility</p:attrName>
                                        </p:attrNameLst>
                                      </p:cBhvr>
                                      <p:to>
                                        <p:strVal val="visible"/>
                                      </p:to>
                                    </p:set>
                                    <p:animEffect transition="in" filter="fade">
                                      <p:cBhvr>
                                        <p:cTn id="53" dur="420"/>
                                        <p:tgtEl>
                                          <p:spTgt spid="20"/>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21"/>
                                        </p:tgtEl>
                                        <p:attrNameLst>
                                          <p:attrName>style.visibility</p:attrName>
                                        </p:attrNameLst>
                                      </p:cBhvr>
                                      <p:to>
                                        <p:strVal val="visible"/>
                                      </p:to>
                                    </p:set>
                                    <p:animEffect transition="in" filter="fade">
                                      <p:cBhvr>
                                        <p:cTn id="56" dur="420"/>
                                        <p:tgtEl>
                                          <p:spTgt spid="21"/>
                                        </p:tgtEl>
                                      </p:cBhvr>
                                    </p:animEffect>
                                  </p:childTnLst>
                                </p:cTn>
                              </p:par>
                            </p:childTnLst>
                          </p:cTn>
                        </p:par>
                        <p:par>
                          <p:cTn id="97" fill="hold">
                            <p:stCondLst>
                              <p:cond delay="520"/>
                            </p:stCondLst>
                            <p:childTnLst>
                              <p:par>
                                <p:cTn id="58" presetID="10" presetClass="entr" presetSubtype="0" fill="hold" grpId="0" nodeType="afterEffect">
                                  <p:stCondLst>
                                    <p:cond delay="0"/>
                                  </p:stCondLst>
                                  <p:childTnLst>
                                    <p:set>
                                      <p:cBhvr>
                                        <p:cTn id="59" dur="1" fill="hold">
                                          <p:stCondLst>
                                            <p:cond delay="0"/>
                                          </p:stCondLst>
                                        </p:cTn>
                                        <p:tgtEl>
                                          <p:spTgt spid="22"/>
                                        </p:tgtEl>
                                        <p:attrNameLst>
                                          <p:attrName>style.visibility</p:attrName>
                                        </p:attrNameLst>
                                      </p:cBhvr>
                                      <p:to>
                                        <p:strVal val="visible"/>
                                      </p:to>
                                    </p:set>
                                    <p:animEffect transition="in" filter="fade">
                                      <p:cBhvr>
                                        <p:cTn id="60" dur="420"/>
                                        <p:tgtEl>
                                          <p:spTgt spid="22"/>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23"/>
                                        </p:tgtEl>
                                        <p:attrNameLst>
                                          <p:attrName>style.visibility</p:attrName>
                                        </p:attrNameLst>
                                      </p:cBhvr>
                                      <p:to>
                                        <p:strVal val="visible"/>
                                      </p:to>
                                    </p:set>
                                    <p:animEffect transition="in" filter="fade">
                                      <p:cBhvr>
                                        <p:cTn id="63" dur="420"/>
                                        <p:tgtEl>
                                          <p:spTgt spid="23"/>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4"/>
                                        </p:tgtEl>
                                        <p:attrNameLst>
                                          <p:attrName>style.visibility</p:attrName>
                                        </p:attrNameLst>
                                      </p:cBhvr>
                                      <p:to>
                                        <p:strVal val="visible"/>
                                      </p:to>
                                    </p:set>
                                    <p:animEffect transition="in" filter="fade">
                                      <p:cBhvr>
                                        <p:cTn id="66" dur="420"/>
                                        <p:tgtEl>
                                          <p:spTgt spid="24"/>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25"/>
                                        </p:tgtEl>
                                        <p:attrNameLst>
                                          <p:attrName>style.visibility</p:attrName>
                                        </p:attrNameLst>
                                      </p:cBhvr>
                                      <p:to>
                                        <p:strVal val="visible"/>
                                      </p:to>
                                    </p:set>
                                    <p:animEffect transition="in" filter="fade">
                                      <p:cBhvr>
                                        <p:cTn id="69" dur="420"/>
                                        <p:tgtEl>
                                          <p:spTgt spid="25"/>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26"/>
                                        </p:tgtEl>
                                        <p:attrNameLst>
                                          <p:attrName>style.visibility</p:attrName>
                                        </p:attrNameLst>
                                      </p:cBhvr>
                                      <p:to>
                                        <p:strVal val="visible"/>
                                      </p:to>
                                    </p:set>
                                    <p:animEffect transition="in" filter="fade">
                                      <p:cBhvr>
                                        <p:cTn id="72" dur="420"/>
                                        <p:tgtEl>
                                          <p:spTgt spid="26"/>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27"/>
                                        </p:tgtEl>
                                        <p:attrNameLst>
                                          <p:attrName>style.visibility</p:attrName>
                                        </p:attrNameLst>
                                      </p:cBhvr>
                                      <p:to>
                                        <p:strVal val="visible"/>
                                      </p:to>
                                    </p:set>
                                    <p:animEffect transition="in" filter="fade">
                                      <p:cBhvr>
                                        <p:cTn id="75" dur="420"/>
                                        <p:tgtEl>
                                          <p:spTgt spid="27"/>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28"/>
                                        </p:tgtEl>
                                        <p:attrNameLst>
                                          <p:attrName>style.visibility</p:attrName>
                                        </p:attrNameLst>
                                      </p:cBhvr>
                                      <p:to>
                                        <p:strVal val="visible"/>
                                      </p:to>
                                    </p:set>
                                    <p:animEffect transition="in" filter="fade">
                                      <p:cBhvr>
                                        <p:cTn id="78" dur="420"/>
                                        <p:tgtEl>
                                          <p:spTgt spid="28"/>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29"/>
                                        </p:tgtEl>
                                        <p:attrNameLst>
                                          <p:attrName>style.visibility</p:attrName>
                                        </p:attrNameLst>
                                      </p:cBhvr>
                                      <p:to>
                                        <p:strVal val="visible"/>
                                      </p:to>
                                    </p:set>
                                    <p:animEffect transition="in" filter="fade">
                                      <p:cBhvr>
                                        <p:cTn id="81" dur="420"/>
                                        <p:tgtEl>
                                          <p:spTgt spid="29"/>
                                        </p:tgtEl>
                                      </p:cBhvr>
                                    </p:animEffect>
                                  </p:childTnLst>
                                </p:cTn>
                              </p:par>
                              <p:par>
                                <p:cTn id="82" presetID="10" presetClass="entr" presetSubtype="0" fill="hold" grpId="0" nodeType="withEffect">
                                  <p:stCondLst>
                                    <p:cond delay="0"/>
                                  </p:stCondLst>
                                  <p:childTnLst>
                                    <p:set>
                                      <p:cBhvr>
                                        <p:cTn id="83" dur="1" fill="hold">
                                          <p:stCondLst>
                                            <p:cond delay="0"/>
                                          </p:stCondLst>
                                        </p:cTn>
                                        <p:tgtEl>
                                          <p:spTgt spid="30"/>
                                        </p:tgtEl>
                                        <p:attrNameLst>
                                          <p:attrName>style.visibility</p:attrName>
                                        </p:attrNameLst>
                                      </p:cBhvr>
                                      <p:to>
                                        <p:strVal val="visible"/>
                                      </p:to>
                                    </p:set>
                                    <p:animEffect transition="in" filter="fade">
                                      <p:cBhvr>
                                        <p:cTn id="84" dur="420"/>
                                        <p:tgtEl>
                                          <p:spTgt spid="30"/>
                                        </p:tgtEl>
                                      </p:cBhvr>
                                    </p:animEffect>
                                  </p:childTnLst>
                                </p:cTn>
                              </p:par>
                              <p:par>
                                <p:cTn id="85" presetID="10" presetClass="entr" presetSubtype="0" fill="hold" grpId="0" nodeType="withEffect">
                                  <p:stCondLst>
                                    <p:cond delay="0"/>
                                  </p:stCondLst>
                                  <p:childTnLst>
                                    <p:set>
                                      <p:cBhvr>
                                        <p:cTn id="86" dur="1" fill="hold">
                                          <p:stCondLst>
                                            <p:cond delay="0"/>
                                          </p:stCondLst>
                                        </p:cTn>
                                        <p:tgtEl>
                                          <p:spTgt spid="31"/>
                                        </p:tgtEl>
                                        <p:attrNameLst>
                                          <p:attrName>style.visibility</p:attrName>
                                        </p:attrNameLst>
                                      </p:cBhvr>
                                      <p:to>
                                        <p:strVal val="visible"/>
                                      </p:to>
                                    </p:set>
                                    <p:animEffect transition="in" filter="fade">
                                      <p:cBhvr>
                                        <p:cTn id="87" dur="420"/>
                                        <p:tgtEl>
                                          <p:spTgt spid="31"/>
                                        </p:tgtEl>
                                      </p:cBhvr>
                                    </p:animEffect>
                                  </p:childTnLst>
                                </p:cTn>
                              </p:par>
                              <p:par>
                                <p:cTn id="88" presetID="10" presetClass="entr" presetSubtype="0" fill="hold" grpId="0" nodeType="withEffect">
                                  <p:stCondLst>
                                    <p:cond delay="0"/>
                                  </p:stCondLst>
                                  <p:childTnLst>
                                    <p:set>
                                      <p:cBhvr>
                                        <p:cTn id="89" dur="1" fill="hold">
                                          <p:stCondLst>
                                            <p:cond delay="0"/>
                                          </p:stCondLst>
                                        </p:cTn>
                                        <p:tgtEl>
                                          <p:spTgt spid="32"/>
                                        </p:tgtEl>
                                        <p:attrNameLst>
                                          <p:attrName>style.visibility</p:attrName>
                                        </p:attrNameLst>
                                      </p:cBhvr>
                                      <p:to>
                                        <p:strVal val="visible"/>
                                      </p:to>
                                    </p:set>
                                    <p:animEffect transition="in" filter="fade">
                                      <p:cBhvr>
                                        <p:cTn id="90" dur="420"/>
                                        <p:tgtEl>
                                          <p:spTgt spid="32"/>
                                        </p:tgtEl>
                                      </p:cBhvr>
                                    </p:animEffect>
                                  </p:childTnLst>
                                </p:cTn>
                              </p:par>
                              <p:par>
                                <p:cTn id="91" presetID="10" presetClass="entr" presetSubtype="0" fill="hold" grpId="0" nodeType="withEffect">
                                  <p:stCondLst>
                                    <p:cond delay="0"/>
                                  </p:stCondLst>
                                  <p:childTnLst>
                                    <p:set>
                                      <p:cBhvr>
                                        <p:cTn id="92" dur="1" fill="hold">
                                          <p:stCondLst>
                                            <p:cond delay="0"/>
                                          </p:stCondLst>
                                        </p:cTn>
                                        <p:tgtEl>
                                          <p:spTgt spid="33"/>
                                        </p:tgtEl>
                                        <p:attrNameLst>
                                          <p:attrName>style.visibility</p:attrName>
                                        </p:attrNameLst>
                                      </p:cBhvr>
                                      <p:to>
                                        <p:strVal val="visible"/>
                                      </p:to>
                                    </p:set>
                                    <p:animEffect transition="in" filter="fade">
                                      <p:cBhvr>
                                        <p:cTn id="93" dur="420"/>
                                        <p:tgtEl>
                                          <p:spTgt spid="33"/>
                                        </p:tgtEl>
                                      </p:cBhvr>
                                    </p:animEffect>
                                  </p:childTnLst>
                                </p:cTn>
                              </p:par>
                              <p:par>
                                <p:cTn id="94" presetID="10" presetClass="entr" presetSubtype="0" fill="hold" grpId="0" nodeType="withEffect">
                                  <p:stCondLst>
                                    <p:cond delay="0"/>
                                  </p:stCondLst>
                                  <p:childTnLst>
                                    <p:set>
                                      <p:cBhvr>
                                        <p:cTn id="95" dur="1" fill="hold">
                                          <p:stCondLst>
                                            <p:cond delay="0"/>
                                          </p:stCondLst>
                                        </p:cTn>
                                        <p:tgtEl>
                                          <p:spTgt spid="34"/>
                                        </p:tgtEl>
                                        <p:attrNameLst>
                                          <p:attrName>style.visibility</p:attrName>
                                        </p:attrNameLst>
                                      </p:cBhvr>
                                      <p:to>
                                        <p:strVal val="visible"/>
                                      </p:to>
                                    </p:set>
                                    <p:animEffect transition="in" filter="fade">
                                      <p:cBhvr>
                                        <p:cTn id="96" dur="420"/>
                                        <p:tgtEl>
                                          <p:spTgt spid="34"/>
                                        </p:tgtEl>
                                      </p:cBhvr>
                                    </p:animEffect>
                                  </p:childTnLst>
                                </p:cTn>
                              </p:par>
                            </p:childTnLst>
                          </p:cTn>
                        </p:par>
                        <p:par>
                          <p:cTn id="101" fill="hold">
                            <p:stCondLst>
                              <p:cond delay="780"/>
                            </p:stCondLst>
                            <p:childTnLst>
                              <p:par>
                                <p:cTn id="98" presetID="10" presetClass="entr" presetSubtype="0" fill="hold" grpId="0" nodeType="afterEffect">
                                  <p:stCondLst>
                                    <p:cond delay="0"/>
                                  </p:stCondLst>
                                  <p:childTnLst>
                                    <p:set>
                                      <p:cBhvr>
                                        <p:cTn id="99" dur="1" fill="hold">
                                          <p:stCondLst>
                                            <p:cond delay="0"/>
                                          </p:stCondLst>
                                        </p:cTn>
                                        <p:tgtEl>
                                          <p:spTgt spid="35"/>
                                        </p:tgtEl>
                                        <p:attrNameLst>
                                          <p:attrName>style.visibility</p:attrName>
                                        </p:attrNameLst>
                                      </p:cBhvr>
                                      <p:to>
                                        <p:strVal val="visible"/>
                                      </p:to>
                                    </p:set>
                                    <p:animEffect transition="in" filter="fade">
                                      <p:cBhvr>
                                        <p:cTn id="100" dur="420"/>
                                        <p:tgtEl>
                                          <p:spTgt spid="35"/>
                                        </p:tgtEl>
                                      </p:cBhvr>
                                    </p:animEffect>
                                  </p:childTnLst>
                                </p:cTn>
                              </p:par>
                            </p:childTnLst>
                          </p:cTn>
                        </p:par>
                        <p:par>
                          <p:cTn id="141" fill="hold">
                            <p:stCondLst>
                              <p:cond delay="1040"/>
                            </p:stCondLst>
                            <p:childTnLst>
                              <p:par>
                                <p:cTn id="102" presetID="10" presetClass="entr" presetSubtype="0" fill="hold" grpId="0" nodeType="afterEffect">
                                  <p:stCondLst>
                                    <p:cond delay="0"/>
                                  </p:stCondLst>
                                  <p:childTnLst>
                                    <p:set>
                                      <p:cBhvr>
                                        <p:cTn id="103" dur="1" fill="hold">
                                          <p:stCondLst>
                                            <p:cond delay="0"/>
                                          </p:stCondLst>
                                        </p:cTn>
                                        <p:tgtEl>
                                          <p:spTgt spid="36"/>
                                        </p:tgtEl>
                                        <p:attrNameLst>
                                          <p:attrName>style.visibility</p:attrName>
                                        </p:attrNameLst>
                                      </p:cBhvr>
                                      <p:to>
                                        <p:strVal val="visible"/>
                                      </p:to>
                                    </p:set>
                                    <p:animEffect transition="in" filter="fade">
                                      <p:cBhvr>
                                        <p:cTn id="104" dur="420"/>
                                        <p:tgtEl>
                                          <p:spTgt spid="36"/>
                                        </p:tgtEl>
                                      </p:cBhvr>
                                    </p:animEffect>
                                  </p:childTnLst>
                                </p:cTn>
                              </p:par>
                              <p:par>
                                <p:cTn id="105" presetID="10" presetClass="entr" presetSubtype="0" fill="hold" grpId="0" nodeType="withEffect">
                                  <p:stCondLst>
                                    <p:cond delay="0"/>
                                  </p:stCondLst>
                                  <p:childTnLst>
                                    <p:set>
                                      <p:cBhvr>
                                        <p:cTn id="106" dur="1" fill="hold">
                                          <p:stCondLst>
                                            <p:cond delay="0"/>
                                          </p:stCondLst>
                                        </p:cTn>
                                        <p:tgtEl>
                                          <p:spTgt spid="37"/>
                                        </p:tgtEl>
                                        <p:attrNameLst>
                                          <p:attrName>style.visibility</p:attrName>
                                        </p:attrNameLst>
                                      </p:cBhvr>
                                      <p:to>
                                        <p:strVal val="visible"/>
                                      </p:to>
                                    </p:set>
                                    <p:animEffect transition="in" filter="fade">
                                      <p:cBhvr>
                                        <p:cTn id="107" dur="420"/>
                                        <p:tgtEl>
                                          <p:spTgt spid="37"/>
                                        </p:tgtEl>
                                      </p:cBhvr>
                                    </p:animEffect>
                                  </p:childTnLst>
                                </p:cTn>
                              </p:par>
                              <p:par>
                                <p:cTn id="108" presetID="10" presetClass="entr" presetSubtype="0" fill="hold" grpId="0" nodeType="withEffect">
                                  <p:stCondLst>
                                    <p:cond delay="0"/>
                                  </p:stCondLst>
                                  <p:childTnLst>
                                    <p:set>
                                      <p:cBhvr>
                                        <p:cTn id="109" dur="1" fill="hold">
                                          <p:stCondLst>
                                            <p:cond delay="0"/>
                                          </p:stCondLst>
                                        </p:cTn>
                                        <p:tgtEl>
                                          <p:spTgt spid="38"/>
                                        </p:tgtEl>
                                        <p:attrNameLst>
                                          <p:attrName>style.visibility</p:attrName>
                                        </p:attrNameLst>
                                      </p:cBhvr>
                                      <p:to>
                                        <p:strVal val="visible"/>
                                      </p:to>
                                    </p:set>
                                    <p:animEffect transition="in" filter="fade">
                                      <p:cBhvr>
                                        <p:cTn id="110" dur="420"/>
                                        <p:tgtEl>
                                          <p:spTgt spid="38"/>
                                        </p:tgtEl>
                                      </p:cBhvr>
                                    </p:animEffect>
                                  </p:childTnLst>
                                </p:cTn>
                              </p:par>
                              <p:par>
                                <p:cTn id="111" presetID="10" presetClass="entr" presetSubtype="0" fill="hold" grpId="0" nodeType="withEffect">
                                  <p:stCondLst>
                                    <p:cond delay="0"/>
                                  </p:stCondLst>
                                  <p:childTnLst>
                                    <p:set>
                                      <p:cBhvr>
                                        <p:cTn id="112" dur="1" fill="hold">
                                          <p:stCondLst>
                                            <p:cond delay="0"/>
                                          </p:stCondLst>
                                        </p:cTn>
                                        <p:tgtEl>
                                          <p:spTgt spid="39"/>
                                        </p:tgtEl>
                                        <p:attrNameLst>
                                          <p:attrName>style.visibility</p:attrName>
                                        </p:attrNameLst>
                                      </p:cBhvr>
                                      <p:to>
                                        <p:strVal val="visible"/>
                                      </p:to>
                                    </p:set>
                                    <p:animEffect transition="in" filter="fade">
                                      <p:cBhvr>
                                        <p:cTn id="113" dur="420"/>
                                        <p:tgtEl>
                                          <p:spTgt spid="39"/>
                                        </p:tgtEl>
                                      </p:cBhvr>
                                    </p:animEffect>
                                  </p:childTnLst>
                                </p:cTn>
                              </p:par>
                              <p:par>
                                <p:cTn id="114" presetID="10" presetClass="entr" presetSubtype="0" fill="hold" grpId="0" nodeType="withEffect">
                                  <p:stCondLst>
                                    <p:cond delay="0"/>
                                  </p:stCondLst>
                                  <p:childTnLst>
                                    <p:set>
                                      <p:cBhvr>
                                        <p:cTn id="115" dur="1" fill="hold">
                                          <p:stCondLst>
                                            <p:cond delay="0"/>
                                          </p:stCondLst>
                                        </p:cTn>
                                        <p:tgtEl>
                                          <p:spTgt spid="40"/>
                                        </p:tgtEl>
                                        <p:attrNameLst>
                                          <p:attrName>style.visibility</p:attrName>
                                        </p:attrNameLst>
                                      </p:cBhvr>
                                      <p:to>
                                        <p:strVal val="visible"/>
                                      </p:to>
                                    </p:set>
                                    <p:animEffect transition="in" filter="fade">
                                      <p:cBhvr>
                                        <p:cTn id="116" dur="420"/>
                                        <p:tgtEl>
                                          <p:spTgt spid="40"/>
                                        </p:tgtEl>
                                      </p:cBhvr>
                                    </p:animEffect>
                                  </p:childTnLst>
                                </p:cTn>
                              </p:par>
                              <p:par>
                                <p:cTn id="117" presetID="10" presetClass="entr" presetSubtype="0" fill="hold" grpId="0" nodeType="withEffect">
                                  <p:stCondLst>
                                    <p:cond delay="0"/>
                                  </p:stCondLst>
                                  <p:childTnLst>
                                    <p:set>
                                      <p:cBhvr>
                                        <p:cTn id="118" dur="1" fill="hold">
                                          <p:stCondLst>
                                            <p:cond delay="0"/>
                                          </p:stCondLst>
                                        </p:cTn>
                                        <p:tgtEl>
                                          <p:spTgt spid="41"/>
                                        </p:tgtEl>
                                        <p:attrNameLst>
                                          <p:attrName>style.visibility</p:attrName>
                                        </p:attrNameLst>
                                      </p:cBhvr>
                                      <p:to>
                                        <p:strVal val="visible"/>
                                      </p:to>
                                    </p:set>
                                    <p:animEffect transition="in" filter="fade">
                                      <p:cBhvr>
                                        <p:cTn id="119" dur="420"/>
                                        <p:tgtEl>
                                          <p:spTgt spid="41"/>
                                        </p:tgtEl>
                                      </p:cBhvr>
                                    </p:animEffect>
                                  </p:childTnLst>
                                </p:cTn>
                              </p:par>
                              <p:par>
                                <p:cTn id="120" presetID="10" presetClass="entr" presetSubtype="0" fill="hold" grpId="0" nodeType="withEffect">
                                  <p:stCondLst>
                                    <p:cond delay="0"/>
                                  </p:stCondLst>
                                  <p:childTnLst>
                                    <p:set>
                                      <p:cBhvr>
                                        <p:cTn id="121" dur="1" fill="hold">
                                          <p:stCondLst>
                                            <p:cond delay="0"/>
                                          </p:stCondLst>
                                        </p:cTn>
                                        <p:tgtEl>
                                          <p:spTgt spid="42"/>
                                        </p:tgtEl>
                                        <p:attrNameLst>
                                          <p:attrName>style.visibility</p:attrName>
                                        </p:attrNameLst>
                                      </p:cBhvr>
                                      <p:to>
                                        <p:strVal val="visible"/>
                                      </p:to>
                                    </p:set>
                                    <p:animEffect transition="in" filter="fade">
                                      <p:cBhvr>
                                        <p:cTn id="122" dur="420"/>
                                        <p:tgtEl>
                                          <p:spTgt spid="42"/>
                                        </p:tgtEl>
                                      </p:cBhvr>
                                    </p:animEffect>
                                  </p:childTnLst>
                                </p:cTn>
                              </p:par>
                              <p:par>
                                <p:cTn id="123" presetID="10" presetClass="entr" presetSubtype="0" fill="hold" grpId="0" nodeType="withEffect">
                                  <p:stCondLst>
                                    <p:cond delay="0"/>
                                  </p:stCondLst>
                                  <p:childTnLst>
                                    <p:set>
                                      <p:cBhvr>
                                        <p:cTn id="124" dur="1" fill="hold">
                                          <p:stCondLst>
                                            <p:cond delay="0"/>
                                          </p:stCondLst>
                                        </p:cTn>
                                        <p:tgtEl>
                                          <p:spTgt spid="43"/>
                                        </p:tgtEl>
                                        <p:attrNameLst>
                                          <p:attrName>style.visibility</p:attrName>
                                        </p:attrNameLst>
                                      </p:cBhvr>
                                      <p:to>
                                        <p:strVal val="visible"/>
                                      </p:to>
                                    </p:set>
                                    <p:animEffect transition="in" filter="fade">
                                      <p:cBhvr>
                                        <p:cTn id="125" dur="420"/>
                                        <p:tgtEl>
                                          <p:spTgt spid="43"/>
                                        </p:tgtEl>
                                      </p:cBhvr>
                                    </p:animEffect>
                                  </p:childTnLst>
                                </p:cTn>
                              </p:par>
                              <p:par>
                                <p:cTn id="126" presetID="10" presetClass="entr" presetSubtype="0" fill="hold" grpId="0" nodeType="withEffect">
                                  <p:stCondLst>
                                    <p:cond delay="0"/>
                                  </p:stCondLst>
                                  <p:childTnLst>
                                    <p:set>
                                      <p:cBhvr>
                                        <p:cTn id="127" dur="1" fill="hold">
                                          <p:stCondLst>
                                            <p:cond delay="0"/>
                                          </p:stCondLst>
                                        </p:cTn>
                                        <p:tgtEl>
                                          <p:spTgt spid="44"/>
                                        </p:tgtEl>
                                        <p:attrNameLst>
                                          <p:attrName>style.visibility</p:attrName>
                                        </p:attrNameLst>
                                      </p:cBhvr>
                                      <p:to>
                                        <p:strVal val="visible"/>
                                      </p:to>
                                    </p:set>
                                    <p:animEffect transition="in" filter="fade">
                                      <p:cBhvr>
                                        <p:cTn id="128" dur="420"/>
                                        <p:tgtEl>
                                          <p:spTgt spid="44"/>
                                        </p:tgtEl>
                                      </p:cBhvr>
                                    </p:animEffect>
                                  </p:childTnLst>
                                </p:cTn>
                              </p:par>
                              <p:par>
                                <p:cTn id="129" presetID="10" presetClass="entr" presetSubtype="0" fill="hold" grpId="0" nodeType="withEffect">
                                  <p:stCondLst>
                                    <p:cond delay="0"/>
                                  </p:stCondLst>
                                  <p:childTnLst>
                                    <p:set>
                                      <p:cBhvr>
                                        <p:cTn id="130" dur="1" fill="hold">
                                          <p:stCondLst>
                                            <p:cond delay="0"/>
                                          </p:stCondLst>
                                        </p:cTn>
                                        <p:tgtEl>
                                          <p:spTgt spid="45"/>
                                        </p:tgtEl>
                                        <p:attrNameLst>
                                          <p:attrName>style.visibility</p:attrName>
                                        </p:attrNameLst>
                                      </p:cBhvr>
                                      <p:to>
                                        <p:strVal val="visible"/>
                                      </p:to>
                                    </p:set>
                                    <p:animEffect transition="in" filter="fade">
                                      <p:cBhvr>
                                        <p:cTn id="131" dur="420"/>
                                        <p:tgtEl>
                                          <p:spTgt spid="45"/>
                                        </p:tgtEl>
                                      </p:cBhvr>
                                    </p:animEffect>
                                  </p:childTnLst>
                                </p:cTn>
                              </p:par>
                              <p:par>
                                <p:cTn id="132" presetID="10" presetClass="entr" presetSubtype="0" fill="hold" grpId="0" nodeType="withEffect">
                                  <p:stCondLst>
                                    <p:cond delay="0"/>
                                  </p:stCondLst>
                                  <p:childTnLst>
                                    <p:set>
                                      <p:cBhvr>
                                        <p:cTn id="133" dur="1" fill="hold">
                                          <p:stCondLst>
                                            <p:cond delay="0"/>
                                          </p:stCondLst>
                                        </p:cTn>
                                        <p:tgtEl>
                                          <p:spTgt spid="46"/>
                                        </p:tgtEl>
                                        <p:attrNameLst>
                                          <p:attrName>style.visibility</p:attrName>
                                        </p:attrNameLst>
                                      </p:cBhvr>
                                      <p:to>
                                        <p:strVal val="visible"/>
                                      </p:to>
                                    </p:set>
                                    <p:animEffect transition="in" filter="fade">
                                      <p:cBhvr>
                                        <p:cTn id="134" dur="420"/>
                                        <p:tgtEl>
                                          <p:spTgt spid="46"/>
                                        </p:tgtEl>
                                      </p:cBhvr>
                                    </p:animEffect>
                                  </p:childTnLst>
                                </p:cTn>
                              </p:par>
                              <p:par>
                                <p:cTn id="135" presetID="10" presetClass="entr" presetSubtype="0" fill="hold" grpId="0" nodeType="withEffect">
                                  <p:stCondLst>
                                    <p:cond delay="0"/>
                                  </p:stCondLst>
                                  <p:childTnLst>
                                    <p:set>
                                      <p:cBhvr>
                                        <p:cTn id="136" dur="1" fill="hold">
                                          <p:stCondLst>
                                            <p:cond delay="0"/>
                                          </p:stCondLst>
                                        </p:cTn>
                                        <p:tgtEl>
                                          <p:spTgt spid="47"/>
                                        </p:tgtEl>
                                        <p:attrNameLst>
                                          <p:attrName>style.visibility</p:attrName>
                                        </p:attrNameLst>
                                      </p:cBhvr>
                                      <p:to>
                                        <p:strVal val="visible"/>
                                      </p:to>
                                    </p:set>
                                    <p:animEffect transition="in" filter="fade">
                                      <p:cBhvr>
                                        <p:cTn id="137" dur="420"/>
                                        <p:tgtEl>
                                          <p:spTgt spid="47"/>
                                        </p:tgtEl>
                                      </p:cBhvr>
                                    </p:animEffect>
                                  </p:childTnLst>
                                </p:cTn>
                              </p:par>
                              <p:par>
                                <p:cTn id="138" presetID="10" presetClass="entr" presetSubtype="0" fill="hold" grpId="0" nodeType="withEffect">
                                  <p:stCondLst>
                                    <p:cond delay="0"/>
                                  </p:stCondLst>
                                  <p:childTnLst>
                                    <p:set>
                                      <p:cBhvr>
                                        <p:cTn id="139" dur="1" fill="hold">
                                          <p:stCondLst>
                                            <p:cond delay="0"/>
                                          </p:stCondLst>
                                        </p:cTn>
                                        <p:tgtEl>
                                          <p:spTgt spid="48"/>
                                        </p:tgtEl>
                                        <p:attrNameLst>
                                          <p:attrName>style.visibility</p:attrName>
                                        </p:attrNameLst>
                                      </p:cBhvr>
                                      <p:to>
                                        <p:strVal val="visible"/>
                                      </p:to>
                                    </p:set>
                                    <p:animEffect transition="in" filter="fade">
                                      <p:cBhvr>
                                        <p:cTn id="140" dur="420"/>
                                        <p:tgtEl>
                                          <p:spTgt spid="48"/>
                                        </p:tgtEl>
                                      </p:cBhvr>
                                    </p:animEffect>
                                  </p:childTnLst>
                                </p:cTn>
                              </p:par>
                            </p:childTnLst>
                          </p:cTn>
                        </p:par>
                        <p:par>
                          <p:cTn id="181" fill="hold">
                            <p:stCondLst>
                              <p:cond delay="1300"/>
                            </p:stCondLst>
                            <p:childTnLst>
                              <p:par>
                                <p:cTn id="142" presetID="10" presetClass="entr" presetSubtype="0" fill="hold" grpId="0" nodeType="afterEffect">
                                  <p:stCondLst>
                                    <p:cond delay="0"/>
                                  </p:stCondLst>
                                  <p:childTnLst>
                                    <p:set>
                                      <p:cBhvr>
                                        <p:cTn id="143" dur="1" fill="hold">
                                          <p:stCondLst>
                                            <p:cond delay="0"/>
                                          </p:stCondLst>
                                        </p:cTn>
                                        <p:tgtEl>
                                          <p:spTgt spid="49"/>
                                        </p:tgtEl>
                                        <p:attrNameLst>
                                          <p:attrName>style.visibility</p:attrName>
                                        </p:attrNameLst>
                                      </p:cBhvr>
                                      <p:to>
                                        <p:strVal val="visible"/>
                                      </p:to>
                                    </p:set>
                                    <p:animEffect transition="in" filter="fade">
                                      <p:cBhvr>
                                        <p:cTn id="144" dur="420"/>
                                        <p:tgtEl>
                                          <p:spTgt spid="49"/>
                                        </p:tgtEl>
                                      </p:cBhvr>
                                    </p:animEffect>
                                  </p:childTnLst>
                                </p:cTn>
                              </p:par>
                              <p:par>
                                <p:cTn id="145" presetID="10" presetClass="entr" presetSubtype="0" fill="hold" grpId="0" nodeType="withEffect">
                                  <p:stCondLst>
                                    <p:cond delay="0"/>
                                  </p:stCondLst>
                                  <p:childTnLst>
                                    <p:set>
                                      <p:cBhvr>
                                        <p:cTn id="146" dur="1" fill="hold">
                                          <p:stCondLst>
                                            <p:cond delay="0"/>
                                          </p:stCondLst>
                                        </p:cTn>
                                        <p:tgtEl>
                                          <p:spTgt spid="50"/>
                                        </p:tgtEl>
                                        <p:attrNameLst>
                                          <p:attrName>style.visibility</p:attrName>
                                        </p:attrNameLst>
                                      </p:cBhvr>
                                      <p:to>
                                        <p:strVal val="visible"/>
                                      </p:to>
                                    </p:set>
                                    <p:animEffect transition="in" filter="fade">
                                      <p:cBhvr>
                                        <p:cTn id="147" dur="420"/>
                                        <p:tgtEl>
                                          <p:spTgt spid="50"/>
                                        </p:tgtEl>
                                      </p:cBhvr>
                                    </p:animEffect>
                                  </p:childTnLst>
                                </p:cTn>
                              </p:par>
                              <p:par>
                                <p:cTn id="148" presetID="10" presetClass="entr" presetSubtype="0" fill="hold" grpId="0" nodeType="withEffect">
                                  <p:stCondLst>
                                    <p:cond delay="0"/>
                                  </p:stCondLst>
                                  <p:childTnLst>
                                    <p:set>
                                      <p:cBhvr>
                                        <p:cTn id="149" dur="1" fill="hold">
                                          <p:stCondLst>
                                            <p:cond delay="0"/>
                                          </p:stCondLst>
                                        </p:cTn>
                                        <p:tgtEl>
                                          <p:spTgt spid="51"/>
                                        </p:tgtEl>
                                        <p:attrNameLst>
                                          <p:attrName>style.visibility</p:attrName>
                                        </p:attrNameLst>
                                      </p:cBhvr>
                                      <p:to>
                                        <p:strVal val="visible"/>
                                      </p:to>
                                    </p:set>
                                    <p:animEffect transition="in" filter="fade">
                                      <p:cBhvr>
                                        <p:cTn id="150" dur="420"/>
                                        <p:tgtEl>
                                          <p:spTgt spid="51"/>
                                        </p:tgtEl>
                                      </p:cBhvr>
                                    </p:animEffect>
                                  </p:childTnLst>
                                </p:cTn>
                              </p:par>
                              <p:par>
                                <p:cTn id="151" presetID="10" presetClass="entr" presetSubtype="0" fill="hold" grpId="0" nodeType="withEffect">
                                  <p:stCondLst>
                                    <p:cond delay="0"/>
                                  </p:stCondLst>
                                  <p:childTnLst>
                                    <p:set>
                                      <p:cBhvr>
                                        <p:cTn id="152" dur="1" fill="hold">
                                          <p:stCondLst>
                                            <p:cond delay="0"/>
                                          </p:stCondLst>
                                        </p:cTn>
                                        <p:tgtEl>
                                          <p:spTgt spid="52"/>
                                        </p:tgtEl>
                                        <p:attrNameLst>
                                          <p:attrName>style.visibility</p:attrName>
                                        </p:attrNameLst>
                                      </p:cBhvr>
                                      <p:to>
                                        <p:strVal val="visible"/>
                                      </p:to>
                                    </p:set>
                                    <p:animEffect transition="in" filter="fade">
                                      <p:cBhvr>
                                        <p:cTn id="153" dur="420"/>
                                        <p:tgtEl>
                                          <p:spTgt spid="52"/>
                                        </p:tgtEl>
                                      </p:cBhvr>
                                    </p:animEffect>
                                  </p:childTnLst>
                                </p:cTn>
                              </p:par>
                              <p:par>
                                <p:cTn id="154" presetID="10" presetClass="entr" presetSubtype="0" fill="hold" grpId="0" nodeType="withEffect">
                                  <p:stCondLst>
                                    <p:cond delay="0"/>
                                  </p:stCondLst>
                                  <p:childTnLst>
                                    <p:set>
                                      <p:cBhvr>
                                        <p:cTn id="155" dur="1" fill="hold">
                                          <p:stCondLst>
                                            <p:cond delay="0"/>
                                          </p:stCondLst>
                                        </p:cTn>
                                        <p:tgtEl>
                                          <p:spTgt spid="53"/>
                                        </p:tgtEl>
                                        <p:attrNameLst>
                                          <p:attrName>style.visibility</p:attrName>
                                        </p:attrNameLst>
                                      </p:cBhvr>
                                      <p:to>
                                        <p:strVal val="visible"/>
                                      </p:to>
                                    </p:set>
                                    <p:animEffect transition="in" filter="fade">
                                      <p:cBhvr>
                                        <p:cTn id="156" dur="420"/>
                                        <p:tgtEl>
                                          <p:spTgt spid="53"/>
                                        </p:tgtEl>
                                      </p:cBhvr>
                                    </p:animEffect>
                                  </p:childTnLst>
                                </p:cTn>
                              </p:par>
                              <p:par>
                                <p:cTn id="157" presetID="10" presetClass="entr" presetSubtype="0" fill="hold" grpId="0" nodeType="withEffect">
                                  <p:stCondLst>
                                    <p:cond delay="0"/>
                                  </p:stCondLst>
                                  <p:childTnLst>
                                    <p:set>
                                      <p:cBhvr>
                                        <p:cTn id="158" dur="1" fill="hold">
                                          <p:stCondLst>
                                            <p:cond delay="0"/>
                                          </p:stCondLst>
                                        </p:cTn>
                                        <p:tgtEl>
                                          <p:spTgt spid="54"/>
                                        </p:tgtEl>
                                        <p:attrNameLst>
                                          <p:attrName>style.visibility</p:attrName>
                                        </p:attrNameLst>
                                      </p:cBhvr>
                                      <p:to>
                                        <p:strVal val="visible"/>
                                      </p:to>
                                    </p:set>
                                    <p:animEffect transition="in" filter="fade">
                                      <p:cBhvr>
                                        <p:cTn id="159" dur="420"/>
                                        <p:tgtEl>
                                          <p:spTgt spid="54"/>
                                        </p:tgtEl>
                                      </p:cBhvr>
                                    </p:animEffect>
                                  </p:childTnLst>
                                </p:cTn>
                              </p:par>
                              <p:par>
                                <p:cTn id="160" presetID="10" presetClass="entr" presetSubtype="0" fill="hold" grpId="0" nodeType="withEffect">
                                  <p:stCondLst>
                                    <p:cond delay="0"/>
                                  </p:stCondLst>
                                  <p:childTnLst>
                                    <p:set>
                                      <p:cBhvr>
                                        <p:cTn id="161" dur="1" fill="hold">
                                          <p:stCondLst>
                                            <p:cond delay="0"/>
                                          </p:stCondLst>
                                        </p:cTn>
                                        <p:tgtEl>
                                          <p:spTgt spid="55"/>
                                        </p:tgtEl>
                                        <p:attrNameLst>
                                          <p:attrName>style.visibility</p:attrName>
                                        </p:attrNameLst>
                                      </p:cBhvr>
                                      <p:to>
                                        <p:strVal val="visible"/>
                                      </p:to>
                                    </p:set>
                                    <p:animEffect transition="in" filter="fade">
                                      <p:cBhvr>
                                        <p:cTn id="162" dur="420"/>
                                        <p:tgtEl>
                                          <p:spTgt spid="55"/>
                                        </p:tgtEl>
                                      </p:cBhvr>
                                    </p:animEffect>
                                  </p:childTnLst>
                                </p:cTn>
                              </p:par>
                              <p:par>
                                <p:cTn id="163" presetID="10" presetClass="entr" presetSubtype="0" fill="hold" grpId="0" nodeType="withEffect">
                                  <p:stCondLst>
                                    <p:cond delay="0"/>
                                  </p:stCondLst>
                                  <p:childTnLst>
                                    <p:set>
                                      <p:cBhvr>
                                        <p:cTn id="164" dur="1" fill="hold">
                                          <p:stCondLst>
                                            <p:cond delay="0"/>
                                          </p:stCondLst>
                                        </p:cTn>
                                        <p:tgtEl>
                                          <p:spTgt spid="56"/>
                                        </p:tgtEl>
                                        <p:attrNameLst>
                                          <p:attrName>style.visibility</p:attrName>
                                        </p:attrNameLst>
                                      </p:cBhvr>
                                      <p:to>
                                        <p:strVal val="visible"/>
                                      </p:to>
                                    </p:set>
                                    <p:animEffect transition="in" filter="fade">
                                      <p:cBhvr>
                                        <p:cTn id="165" dur="420"/>
                                        <p:tgtEl>
                                          <p:spTgt spid="56"/>
                                        </p:tgtEl>
                                      </p:cBhvr>
                                    </p:animEffect>
                                  </p:childTnLst>
                                </p:cTn>
                              </p:par>
                              <p:par>
                                <p:cTn id="166" presetID="10" presetClass="entr" presetSubtype="0" fill="hold" grpId="0" nodeType="withEffect">
                                  <p:stCondLst>
                                    <p:cond delay="0"/>
                                  </p:stCondLst>
                                  <p:childTnLst>
                                    <p:set>
                                      <p:cBhvr>
                                        <p:cTn id="167" dur="1" fill="hold">
                                          <p:stCondLst>
                                            <p:cond delay="0"/>
                                          </p:stCondLst>
                                        </p:cTn>
                                        <p:tgtEl>
                                          <p:spTgt spid="57"/>
                                        </p:tgtEl>
                                        <p:attrNameLst>
                                          <p:attrName>style.visibility</p:attrName>
                                        </p:attrNameLst>
                                      </p:cBhvr>
                                      <p:to>
                                        <p:strVal val="visible"/>
                                      </p:to>
                                    </p:set>
                                    <p:animEffect transition="in" filter="fade">
                                      <p:cBhvr>
                                        <p:cTn id="168" dur="420"/>
                                        <p:tgtEl>
                                          <p:spTgt spid="57"/>
                                        </p:tgtEl>
                                      </p:cBhvr>
                                    </p:animEffect>
                                  </p:childTnLst>
                                </p:cTn>
                              </p:par>
                              <p:par>
                                <p:cTn id="169" presetID="10" presetClass="entr" presetSubtype="0" fill="hold" grpId="0" nodeType="withEffect">
                                  <p:stCondLst>
                                    <p:cond delay="0"/>
                                  </p:stCondLst>
                                  <p:childTnLst>
                                    <p:set>
                                      <p:cBhvr>
                                        <p:cTn id="170" dur="1" fill="hold">
                                          <p:stCondLst>
                                            <p:cond delay="0"/>
                                          </p:stCondLst>
                                        </p:cTn>
                                        <p:tgtEl>
                                          <p:spTgt spid="58"/>
                                        </p:tgtEl>
                                        <p:attrNameLst>
                                          <p:attrName>style.visibility</p:attrName>
                                        </p:attrNameLst>
                                      </p:cBhvr>
                                      <p:to>
                                        <p:strVal val="visible"/>
                                      </p:to>
                                    </p:set>
                                    <p:animEffect transition="in" filter="fade">
                                      <p:cBhvr>
                                        <p:cTn id="171" dur="420"/>
                                        <p:tgtEl>
                                          <p:spTgt spid="58"/>
                                        </p:tgtEl>
                                      </p:cBhvr>
                                    </p:animEffect>
                                  </p:childTnLst>
                                </p:cTn>
                              </p:par>
                              <p:par>
                                <p:cTn id="172" presetID="10" presetClass="entr" presetSubtype="0" fill="hold" grpId="0" nodeType="withEffect">
                                  <p:stCondLst>
                                    <p:cond delay="0"/>
                                  </p:stCondLst>
                                  <p:childTnLst>
                                    <p:set>
                                      <p:cBhvr>
                                        <p:cTn id="173" dur="1" fill="hold">
                                          <p:stCondLst>
                                            <p:cond delay="0"/>
                                          </p:stCondLst>
                                        </p:cTn>
                                        <p:tgtEl>
                                          <p:spTgt spid="59"/>
                                        </p:tgtEl>
                                        <p:attrNameLst>
                                          <p:attrName>style.visibility</p:attrName>
                                        </p:attrNameLst>
                                      </p:cBhvr>
                                      <p:to>
                                        <p:strVal val="visible"/>
                                      </p:to>
                                    </p:set>
                                    <p:animEffect transition="in" filter="fade">
                                      <p:cBhvr>
                                        <p:cTn id="174" dur="420"/>
                                        <p:tgtEl>
                                          <p:spTgt spid="59"/>
                                        </p:tgtEl>
                                      </p:cBhvr>
                                    </p:animEffect>
                                  </p:childTnLst>
                                </p:cTn>
                              </p:par>
                              <p:par>
                                <p:cTn id="175" presetID="10" presetClass="entr" presetSubtype="0" fill="hold" grpId="0" nodeType="withEffect">
                                  <p:stCondLst>
                                    <p:cond delay="0"/>
                                  </p:stCondLst>
                                  <p:childTnLst>
                                    <p:set>
                                      <p:cBhvr>
                                        <p:cTn id="176" dur="1" fill="hold">
                                          <p:stCondLst>
                                            <p:cond delay="0"/>
                                          </p:stCondLst>
                                        </p:cTn>
                                        <p:tgtEl>
                                          <p:spTgt spid="60"/>
                                        </p:tgtEl>
                                        <p:attrNameLst>
                                          <p:attrName>style.visibility</p:attrName>
                                        </p:attrNameLst>
                                      </p:cBhvr>
                                      <p:to>
                                        <p:strVal val="visible"/>
                                      </p:to>
                                    </p:set>
                                    <p:animEffect transition="in" filter="fade">
                                      <p:cBhvr>
                                        <p:cTn id="177" dur="420"/>
                                        <p:tgtEl>
                                          <p:spTgt spid="60"/>
                                        </p:tgtEl>
                                      </p:cBhvr>
                                    </p:animEffect>
                                  </p:childTnLst>
                                </p:cTn>
                              </p:par>
                              <p:par>
                                <p:cTn id="178" presetID="10" presetClass="entr" presetSubtype="0" fill="hold" grpId="0" nodeType="withEffect">
                                  <p:stCondLst>
                                    <p:cond delay="0"/>
                                  </p:stCondLst>
                                  <p:childTnLst>
                                    <p:set>
                                      <p:cBhvr>
                                        <p:cTn id="179" dur="1" fill="hold">
                                          <p:stCondLst>
                                            <p:cond delay="0"/>
                                          </p:stCondLst>
                                        </p:cTn>
                                        <p:tgtEl>
                                          <p:spTgt spid="61"/>
                                        </p:tgtEl>
                                        <p:attrNameLst>
                                          <p:attrName>style.visibility</p:attrName>
                                        </p:attrNameLst>
                                      </p:cBhvr>
                                      <p:to>
                                        <p:strVal val="visible"/>
                                      </p:to>
                                    </p:set>
                                    <p:animEffect transition="in" filter="fade">
                                      <p:cBhvr>
                                        <p:cTn id="180" dur="420"/>
                                        <p:tgtEl>
                                          <p:spTgt spid="61"/>
                                        </p:tgtEl>
                                      </p:cBhvr>
                                    </p:animEffect>
                                  </p:childTnLst>
                                </p:cTn>
                              </p:par>
                            </p:childTnLst>
                          </p:cTn>
                        </p:par>
                        <p:par>
                          <p:cTn id="191" fill="hold">
                            <p:stCondLst>
                              <p:cond delay="1560"/>
                            </p:stCondLst>
                            <p:childTnLst>
                              <p:par>
                                <p:cTn id="182" presetID="10" presetClass="entr" presetSubtype="0" fill="hold" grpId="0" nodeType="afterEffect">
                                  <p:stCondLst>
                                    <p:cond delay="0"/>
                                  </p:stCondLst>
                                  <p:childTnLst>
                                    <p:set>
                                      <p:cBhvr>
                                        <p:cTn id="183" dur="1" fill="hold">
                                          <p:stCondLst>
                                            <p:cond delay="0"/>
                                          </p:stCondLst>
                                        </p:cTn>
                                        <p:tgtEl>
                                          <p:spTgt spid="62"/>
                                        </p:tgtEl>
                                        <p:attrNameLst>
                                          <p:attrName>style.visibility</p:attrName>
                                        </p:attrNameLst>
                                      </p:cBhvr>
                                      <p:to>
                                        <p:strVal val="visible"/>
                                      </p:to>
                                    </p:set>
                                    <p:animEffect transition="in" filter="fade">
                                      <p:cBhvr>
                                        <p:cTn id="184" dur="420"/>
                                        <p:tgtEl>
                                          <p:spTgt spid="62"/>
                                        </p:tgtEl>
                                      </p:cBhvr>
                                    </p:animEffect>
                                  </p:childTnLst>
                                </p:cTn>
                              </p:par>
                              <p:par>
                                <p:cTn id="185" presetID="10" presetClass="entr" presetSubtype="0" fill="hold" grpId="0" nodeType="withEffect">
                                  <p:stCondLst>
                                    <p:cond delay="0"/>
                                  </p:stCondLst>
                                  <p:childTnLst>
                                    <p:set>
                                      <p:cBhvr>
                                        <p:cTn id="186" dur="1" fill="hold">
                                          <p:stCondLst>
                                            <p:cond delay="0"/>
                                          </p:stCondLst>
                                        </p:cTn>
                                        <p:tgtEl>
                                          <p:spTgt spid="63"/>
                                        </p:tgtEl>
                                        <p:attrNameLst>
                                          <p:attrName>style.visibility</p:attrName>
                                        </p:attrNameLst>
                                      </p:cBhvr>
                                      <p:to>
                                        <p:strVal val="visible"/>
                                      </p:to>
                                    </p:set>
                                    <p:animEffect transition="in" filter="fade">
                                      <p:cBhvr>
                                        <p:cTn id="187" dur="420"/>
                                        <p:tgtEl>
                                          <p:spTgt spid="63"/>
                                        </p:tgtEl>
                                      </p:cBhvr>
                                    </p:animEffect>
                                  </p:childTnLst>
                                </p:cTn>
                              </p:par>
                              <p:par>
                                <p:cTn id="188" presetID="10" presetClass="entr" presetSubtype="0" fill="hold" grpId="0" nodeType="withEffect">
                                  <p:stCondLst>
                                    <p:cond delay="0"/>
                                  </p:stCondLst>
                                  <p:childTnLst>
                                    <p:set>
                                      <p:cBhvr>
                                        <p:cTn id="189" dur="1" fill="hold">
                                          <p:stCondLst>
                                            <p:cond delay="0"/>
                                          </p:stCondLst>
                                        </p:cTn>
                                        <p:tgtEl>
                                          <p:spTgt spid="64"/>
                                        </p:tgtEl>
                                        <p:attrNameLst>
                                          <p:attrName>style.visibility</p:attrName>
                                        </p:attrNameLst>
                                      </p:cBhvr>
                                      <p:to>
                                        <p:strVal val="visible"/>
                                      </p:to>
                                    </p:set>
                                    <p:animEffect transition="in" filter="fade">
                                      <p:cBhvr>
                                        <p:cTn id="190" dur="420"/>
                                        <p:tgtEl>
                                          <p:spTgt spid="64"/>
                                        </p:tgtEl>
                                      </p:cBhvr>
                                    </p:animEffect>
                                  </p:childTnLst>
                                </p:cTn>
                              </p:par>
                            </p:childTnLst>
                          </p:cTn>
                        </p:par>
                        <p:par>
                          <p:cTn id="195" fill="hold">
                            <p:stCondLst>
                              <p:cond delay="1820"/>
                            </p:stCondLst>
                            <p:childTnLst>
                              <p:par>
                                <p:cTn id="192" presetID="10" presetClass="entr" presetSubtype="0" fill="hold" nodeType="afterEffect">
                                  <p:stCondLst>
                                    <p:cond delay="0"/>
                                  </p:stCondLst>
                                  <p:childTnLst>
                                    <p:set>
                                      <p:cBhvr>
                                        <p:cTn id="193" dur="1" fill="hold">
                                          <p:stCondLst>
                                            <p:cond delay="0"/>
                                          </p:stCondLst>
                                        </p:cTn>
                                        <p:tgtEl>
                                          <p:spTgt spid="65"/>
                                        </p:tgtEl>
                                        <p:attrNameLst>
                                          <p:attrName>style.visibility</p:attrName>
                                        </p:attrNameLst>
                                      </p:cBhvr>
                                      <p:to>
                                        <p:strVal val="visible"/>
                                      </p:to>
                                    </p:set>
                                    <p:animEffect transition="in" filter="fade">
                                      <p:cBhvr>
                                        <p:cTn id="194" dur="420"/>
                                        <p:tgtEl>
                                          <p:spTgt spid="6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p:bldP spid="8" grpId="0" animBg="1"/>
      <p:bldP spid="9" grpId="0"/>
      <p:bldP spid="10" grpId="0" animBg="1"/>
      <p:bldP spid="11" grpId="0"/>
      <p:bldP spid="12" grpId="0" animBg="1"/>
      <p:bldP spid="13" grpId="0" animBg="1"/>
      <p:bldP spid="14" grpId="0"/>
      <p:bldP spid="15" grpId="0" animBg="1"/>
      <p:bldP spid="16" grpId="0"/>
      <p:bldP spid="17" grpId="0" animBg="1"/>
      <p:bldP spid="18" grpId="0"/>
      <p:bldP spid="19" grpId="0" animBg="1"/>
      <p:bldP spid="20" grpId="0"/>
      <p:bldP spid="21" grpId="0" animBg="1"/>
      <p:bldP spid="22" grpId="0" animBg="1"/>
      <p:bldP spid="23" grpId="0"/>
      <p:bldP spid="24" grpId="0" animBg="1"/>
      <p:bldP spid="25" grpId="0"/>
      <p:bldP spid="26" grpId="0" animBg="1"/>
      <p:bldP spid="27" grpId="0"/>
      <p:bldP spid="28" grpId="0" animBg="1"/>
      <p:bldP spid="29" grpId="0"/>
      <p:bldP spid="30" grpId="0" animBg="1"/>
      <p:bldP spid="31" grpId="0"/>
      <p:bldP spid="32" grpId="0" animBg="1"/>
      <p:bldP spid="33" grpId="0"/>
      <p:bldP spid="34" grpId="0" animBg="1"/>
      <p:bldP spid="35" grpId="0" animBg="1"/>
      <p:bldP spid="36" grpId="0" animBg="1"/>
      <p:bldP spid="37" grpId="0"/>
      <p:bldP spid="38" grpId="0" animBg="1"/>
      <p:bldP spid="39" grpId="0"/>
      <p:bldP spid="40" grpId="0" animBg="1"/>
      <p:bldP spid="41" grpId="0"/>
      <p:bldP spid="42" grpId="0" animBg="1"/>
      <p:bldP spid="43" grpId="0"/>
      <p:bldP spid="44" grpId="0" animBg="1"/>
      <p:bldP spid="45" grpId="0"/>
      <p:bldP spid="46" grpId="0" animBg="1"/>
      <p:bldP spid="47" grpId="0"/>
      <p:bldP spid="48" grpId="0" animBg="1"/>
      <p:bldP spid="49" grpId="0" animBg="1"/>
      <p:bldP spid="50" grpId="0"/>
      <p:bldP spid="51" grpId="0" animBg="1"/>
      <p:bldP spid="52" grpId="0"/>
      <p:bldP spid="53" grpId="0" animBg="1"/>
      <p:bldP spid="54" grpId="0"/>
      <p:bldP spid="55" grpId="0" animBg="1"/>
      <p:bldP spid="56" grpId="0"/>
      <p:bldP spid="57" grpId="0" animBg="1"/>
      <p:bldP spid="58" grpId="0"/>
      <p:bldP spid="59" grpId="0" animBg="1"/>
      <p:bldP spid="60" grpId="0"/>
      <p:bldP spid="61" grpId="0" animBg="1"/>
      <p:bldP spid="62" grpId="0"/>
      <p:bldP spid="63" grpId="0" animBg="1"/>
      <p:bldP spid="64"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1" type="body" hasCustomPrompt="1"/>
          </p:nvPr>
        </p:nvSpPr>
        <p:spPr>
          <a:xfrm>
            <a:off x="731520" y="310896"/>
            <a:ext cx="8686800" cy="329184"/>
          </a:xfrm>
          <a:prstGeom prst="rect">
            <a:avLst/>
          </a:prstGeom>
          <a:noFill/>
          <a:ln/>
        </p:spPr>
        <p:txBody>
          <a:bodyPr wrap="square" lIns="0" tIns="0" rIns="0" bIns="0" rtlCol="0" anchor="ctr"/>
          <a:lstStyle/>
          <a:p>
            <a:pPr algn="l" indent="0" marL="0">
              <a:buNone/>
            </a:pPr>
            <a:r>
              <a:rPr lang="en-US" sz="1200" b="1" spc="300" kern="0" dirty="0">
                <a:solidFill>
                  <a:srgbClr val="AEBBD0"/>
                </a:solidFill>
              </a:rPr>
              <a:t>LEVEL 1 · MODEL</a:t>
            </a:r>
            <a:endParaRPr lang="en-US" sz="1200" dirty="0"/>
          </a:p>
        </p:txBody>
      </p:sp>
      <p:sp>
        <p:nvSpPr>
          <p:cNvPr id="3" name="Text 0"/>
          <p:cNvSpPr/>
          <p:nvPr>
            <p:ph idx="102" type="title" hasCustomPrompt="1"/>
          </p:nvPr>
        </p:nvSpPr>
        <p:spPr>
          <a:xfrm>
            <a:off x="548640" y="658368"/>
            <a:ext cx="11094415" cy="731520"/>
          </a:xfrm>
          <a:prstGeom prst="rect">
            <a:avLst/>
          </a:prstGeom>
          <a:noFill/>
          <a:ln/>
        </p:spPr>
        <p:txBody>
          <a:bodyPr wrap="square" lIns="0" tIns="0" rIns="0" bIns="0" rtlCol="0" anchor="ctr"/>
          <a:lstStyle/>
          <a:p>
            <a:pPr algn="l" indent="0" marL="0">
              <a:buNone/>
            </a:pPr>
            <a:r>
              <a:rPr lang="en-US" sz="3200" b="1" dirty="0">
                <a:solidFill>
                  <a:srgbClr val="EEF3FA"/>
                </a:solidFill>
              </a:rPr>
              <a:t>Neural IK architecture</a:t>
            </a:r>
            <a:endParaRPr lang="en-US" sz="3200" dirty="0"/>
          </a:p>
        </p:txBody>
      </p:sp>
      <p:sp>
        <p:nvSpPr>
          <p:cNvPr id="5" name="video_neural_architecture#frame"/>
          <p:cNvSpPr/>
          <p:nvPr/>
        </p:nvSpPr>
        <p:spPr>
          <a:xfrm>
            <a:off x="521208" y="1664208"/>
            <a:ext cx="6638544" cy="3758184"/>
          </a:xfrm>
          <a:prstGeom prst="roundRect">
            <a:avLst>
              <a:gd name="adj" fmla="val 973"/>
            </a:avLst>
          </a:prstGeom>
          <a:solidFill>
            <a:srgbClr val="0A1527"/>
          </a:solidFill>
          <a:ln w="12700">
            <a:solidFill>
              <a:srgbClr val="23344F"/>
            </a:solidFill>
            <a:prstDash val="solid"/>
          </a:ln>
        </p:spPr>
      </p:sp>
      <p:pic>
        <p:nvPicPr>
          <p:cNvPr id="6" name="video_neural_architecture#media" descr="/tmp/claude-0/nik_work/stills/neural_architecture/neural_architecture_020.00.png">    </p:cNvPr>
          <p:cNvPicPr>
            <a:picLocks noChangeAspect="1"/>
          </p:cNvPicPr>
          <p:nvPr/>
        </p:nvPicPr>
        <p:blipFill>
          <a:blip r:embed="rId1"/>
          <a:stretch>
            <a:fillRect/>
          </a:stretch>
        </p:blipFill>
        <p:spPr>
          <a:xfrm>
            <a:off x="548640" y="1691640"/>
            <a:ext cx="6583680" cy="3703320"/>
          </a:xfrm>
          <a:prstGeom prst="rect">
            <a:avLst/>
          </a:prstGeom>
        </p:spPr>
      </p:pic>
      <p:sp>
        <p:nvSpPr>
          <p:cNvPr id="7" name="video_neural_architecture#cap"/>
          <p:cNvSpPr txBox="1"/>
          <p:nvPr/>
        </p:nvSpPr>
        <p:spPr>
          <a:xfrm>
            <a:off x="548640" y="5486400"/>
            <a:ext cx="6583680" cy="274320"/>
          </a:xfrm>
          <a:prstGeom prst="rect">
            <a:avLst/>
          </a:prstGeom>
          <a:noFill/>
          <a:ln/>
        </p:spPr>
        <p:txBody>
          <a:bodyPr wrap="square" lIns="0" tIns="0" rIns="0" bIns="0" rtlCol="0" anchor="t"/>
          <a:lstStyle/>
          <a:p>
            <a:pPr indent="0" marL="0">
              <a:buNone/>
            </a:pPr>
            <a:r>
              <a:rPr lang="en-US" sz="1050" dirty="0">
                <a:solidFill>
                  <a:srgbClr val="7F8FA8"/>
                </a:solidFill>
                <a:latin typeface="Calibri" pitchFamily="34" charset="0"/>
                <a:ea typeface="Calibri" pitchFamily="34" charset="-122"/>
                <a:cs typeface="Calibri" pitchFamily="34" charset="-120"/>
              </a:rPr>
              <a:t>Simulation 5 · real activations of the baseline network, decoding, and why sine/cosine</a:t>
            </a:r>
            <a:endParaRPr lang="en-US" sz="1050" dirty="0"/>
          </a:p>
        </p:txBody>
      </p:sp>
      <p:sp>
        <p:nvSpPr>
          <p:cNvPr id="8" name="m_base#box"/>
          <p:cNvSpPr/>
          <p:nvPr/>
        </p:nvSpPr>
        <p:spPr>
          <a:xfrm>
            <a:off x="7406640" y="1691640"/>
            <a:ext cx="4236415" cy="1920240"/>
          </a:xfrm>
          <a:prstGeom prst="roundRect">
            <a:avLst>
              <a:gd name="adj" fmla="val 4762"/>
            </a:avLst>
          </a:prstGeom>
          <a:solidFill>
            <a:srgbClr val="0F1B2D"/>
          </a:solidFill>
          <a:ln w="12700">
            <a:solidFill>
              <a:srgbClr val="23344F"/>
            </a:solidFill>
            <a:prstDash val="solid"/>
          </a:ln>
        </p:spPr>
      </p:sp>
      <p:sp>
        <p:nvSpPr>
          <p:cNvPr id="9" name="m_base#k"/>
          <p:cNvSpPr txBox="1"/>
          <p:nvPr/>
        </p:nvSpPr>
        <p:spPr>
          <a:xfrm>
            <a:off x="7607808" y="1874520"/>
            <a:ext cx="3834079" cy="228600"/>
          </a:xfrm>
          <a:prstGeom prst="rect">
            <a:avLst/>
          </a:prstGeom>
          <a:noFill/>
          <a:ln/>
        </p:spPr>
        <p:txBody>
          <a:bodyPr wrap="square" lIns="0" tIns="0" rIns="0" bIns="0" rtlCol="0" anchor="t"/>
          <a:lstStyle/>
          <a:p>
            <a:pPr indent="0" marL="0">
              <a:buNone/>
            </a:pPr>
            <a:r>
              <a:rPr lang="en-US" sz="1050" b="1" spc="200" kern="0" dirty="0">
                <a:solidFill>
                  <a:srgbClr val="E9B440"/>
                </a:solidFill>
                <a:latin typeface="Calibri" pitchFamily="34" charset="0"/>
                <a:ea typeface="Calibri" pitchFamily="34" charset="-122"/>
                <a:cs typeface="Calibri" pitchFamily="34" charset="-120"/>
              </a:rPr>
              <a:t>BASELINE · train_ik.IKNet</a:t>
            </a:r>
            <a:endParaRPr lang="en-US" sz="1050" dirty="0"/>
          </a:p>
        </p:txBody>
      </p:sp>
      <p:sp>
        <p:nvSpPr>
          <p:cNvPr id="10" name="m_base#h"/>
          <p:cNvSpPr txBox="1"/>
          <p:nvPr/>
        </p:nvSpPr>
        <p:spPr>
          <a:xfrm>
            <a:off x="7607808" y="2167128"/>
            <a:ext cx="3834079" cy="384048"/>
          </a:xfrm>
          <a:prstGeom prst="rect">
            <a:avLst/>
          </a:prstGeom>
          <a:noFill/>
          <a:ln/>
        </p:spPr>
        <p:txBody>
          <a:bodyPr wrap="square" lIns="0" tIns="0" rIns="0" bIns="0" rtlCol="0" anchor="t"/>
          <a:lstStyle/>
          <a:p>
            <a:pPr indent="0" marL="0">
              <a:buNone/>
            </a:pPr>
            <a:r>
              <a:rPr lang="en-US" sz="1700" b="1" dirty="0">
                <a:solidFill>
                  <a:srgbClr val="EEF3FA"/>
                </a:solidFill>
                <a:latin typeface="Calibri" pitchFamily="34" charset="0"/>
                <a:ea typeface="Calibri" pitchFamily="34" charset="-122"/>
                <a:cs typeface="Calibri" pitchFamily="34" charset="-120"/>
              </a:rPr>
              <a:t>13 → 256 → 256 → 128 → 12</a:t>
            </a:r>
            <a:endParaRPr lang="en-US" sz="1700" dirty="0"/>
          </a:p>
        </p:txBody>
      </p:sp>
      <p:sp>
        <p:nvSpPr>
          <p:cNvPr id="11" name="m_base#b"/>
          <p:cNvSpPr txBox="1"/>
          <p:nvPr/>
        </p:nvSpPr>
        <p:spPr>
          <a:xfrm>
            <a:off x="7607808" y="2587752"/>
            <a:ext cx="3834079" cy="914400"/>
          </a:xfrm>
          <a:prstGeom prst="rect">
            <a:avLst/>
          </a:prstGeom>
          <a:noFill/>
          <a:ln/>
        </p:spPr>
        <p:txBody>
          <a:bodyPr wrap="square" lIns="0" tIns="0" rIns="0" bIns="0" rtlCol="0" anchor="t"/>
          <a:lstStyle/>
          <a:p>
            <a:pPr indent="0" marL="0">
              <a:spcAft>
                <a:spcPts val="400"/>
              </a:spcAft>
              <a:buNone/>
            </a:pPr>
            <a:r>
              <a:rPr lang="en-US" sz="1350" dirty="0">
                <a:solidFill>
                  <a:srgbClr val="AEBBD0"/>
                </a:solidFill>
                <a:latin typeface="Calibri" pitchFamily="34" charset="0"/>
                <a:ea typeface="Calibri" pitchFamily="34" charset="-122"/>
                <a:cs typeface="Calibri" pitchFamily="34" charset="-120"/>
              </a:rPr>
              <a:t>ReLU · 103,820 parameters · the plan's architecture</a:t>
            </a:r>
            <a:endParaRPr lang="en-US" sz="1350" dirty="0"/>
          </a:p>
        </p:txBody>
      </p:sp>
      <p:sp>
        <p:nvSpPr>
          <p:cNvPr id="12" name="m_best#box"/>
          <p:cNvSpPr/>
          <p:nvPr/>
        </p:nvSpPr>
        <p:spPr>
          <a:xfrm>
            <a:off x="7406640" y="3794760"/>
            <a:ext cx="4236415" cy="2240280"/>
          </a:xfrm>
          <a:prstGeom prst="roundRect">
            <a:avLst>
              <a:gd name="adj" fmla="val 4082"/>
            </a:avLst>
          </a:prstGeom>
          <a:solidFill>
            <a:srgbClr val="0F1B2D"/>
          </a:solidFill>
          <a:ln w="12700">
            <a:solidFill>
              <a:srgbClr val="23344F"/>
            </a:solidFill>
            <a:prstDash val="solid"/>
          </a:ln>
        </p:spPr>
      </p:sp>
      <p:sp>
        <p:nvSpPr>
          <p:cNvPr id="13" name="m_best#k"/>
          <p:cNvSpPr txBox="1"/>
          <p:nvPr/>
        </p:nvSpPr>
        <p:spPr>
          <a:xfrm>
            <a:off x="7607808" y="3977640"/>
            <a:ext cx="3834079" cy="228600"/>
          </a:xfrm>
          <a:prstGeom prst="rect">
            <a:avLst/>
          </a:prstGeom>
          <a:noFill/>
          <a:ln/>
        </p:spPr>
        <p:txBody>
          <a:bodyPr wrap="square" lIns="0" tIns="0" rIns="0" bIns="0" rtlCol="0" anchor="t"/>
          <a:lstStyle/>
          <a:p>
            <a:pPr indent="0" marL="0">
              <a:buNone/>
            </a:pPr>
            <a:r>
              <a:rPr lang="en-US" sz="1050" b="1" spc="200" kern="0" dirty="0">
                <a:solidFill>
                  <a:srgbClr val="45C99A"/>
                </a:solidFill>
                <a:latin typeface="Calibri" pitchFamily="34" charset="0"/>
                <a:ea typeface="Calibri" pitchFamily="34" charset="-122"/>
                <a:cs typeface="Calibri" pitchFamily="34" charset="-120"/>
              </a:rPr>
              <a:t>BEST · modelset/custom/model_set.py</a:t>
            </a:r>
            <a:endParaRPr lang="en-US" sz="1050" dirty="0"/>
          </a:p>
        </p:txBody>
      </p:sp>
      <p:sp>
        <p:nvSpPr>
          <p:cNvPr id="14" name="m_best#h"/>
          <p:cNvSpPr txBox="1"/>
          <p:nvPr/>
        </p:nvSpPr>
        <p:spPr>
          <a:xfrm>
            <a:off x="7607808" y="4270248"/>
            <a:ext cx="3834079" cy="384048"/>
          </a:xfrm>
          <a:prstGeom prst="rect">
            <a:avLst/>
          </a:prstGeom>
          <a:noFill/>
          <a:ln/>
        </p:spPr>
        <p:txBody>
          <a:bodyPr wrap="square" lIns="0" tIns="0" rIns="0" bIns="0" rtlCol="0" anchor="t"/>
          <a:lstStyle/>
          <a:p>
            <a:pPr indent="0" marL="0">
              <a:buNone/>
            </a:pPr>
            <a:r>
              <a:rPr lang="en-US" sz="1700" b="1" dirty="0">
                <a:solidFill>
                  <a:srgbClr val="EEF3FA"/>
                </a:solidFill>
                <a:latin typeface="Calibri" pitchFamily="34" charset="0"/>
                <a:ea typeface="Calibri" pitchFamily="34" charset="-122"/>
                <a:cs typeface="Calibri" pitchFamily="34" charset="-120"/>
              </a:rPr>
              <a:t>Residual MLP, 512 wide</a:t>
            </a:r>
            <a:endParaRPr lang="en-US" sz="1700" dirty="0"/>
          </a:p>
        </p:txBody>
      </p:sp>
      <p:sp>
        <p:nvSpPr>
          <p:cNvPr id="15" name="m_best#b"/>
          <p:cNvSpPr txBox="1"/>
          <p:nvPr/>
        </p:nvSpPr>
        <p:spPr>
          <a:xfrm>
            <a:off x="7607808" y="4690872"/>
            <a:ext cx="3834079" cy="1234440"/>
          </a:xfrm>
          <a:prstGeom prst="rect">
            <a:avLst/>
          </a:prstGeom>
          <a:noFill/>
          <a:ln/>
        </p:spPr>
        <p:txBody>
          <a:bodyPr wrap="square" lIns="0" tIns="0" rIns="0" bIns="0" rtlCol="0" anchor="t"/>
          <a:lstStyle/>
          <a:p>
            <a:pPr indent="0" marL="0">
              <a:spcAft>
                <a:spcPts val="400"/>
              </a:spcAft>
              <a:buNone/>
            </a:pPr>
            <a:r>
              <a:rPr lang="en-US" sz="1350" dirty="0">
                <a:solidFill>
                  <a:srgbClr val="AEBBD0"/>
                </a:solidFill>
                <a:latin typeface="Calibri" pitchFamily="34" charset="0"/>
                <a:ea typeface="Calibri" pitchFamily="34" charset="-122"/>
                <a:cs typeface="Calibri" pitchFamily="34" charset="-120"/>
              </a:rPr>
              <a:t>256 → 512 → 3 residual blocks (LayerNorm, SiLU / GELU / LeakyReLU, dropout 0.05) → 384 → 256 → 128 → 12 · 2,050,316 parameters · same inputs, outputs and loop</a:t>
            </a:r>
            <a:endParaRPr lang="en-US" sz="1350" dirty="0"/>
          </a:p>
        </p:txBody>
      </p:sp>
      <p:sp>
        <p:nvSpPr>
          <p:cNvPr id="25" name="Slide Number Placeholder 0"/>
          <p:cNvSpPr>
            <a:spLocks noGrp="1"/>
          </p:cNvSpPr>
          <p:nvPr>
            <p:ph type="sldNum" sz="quarter" idx="4294967295"/>
          </p:nvPr>
        </p:nvSpPr>
        <p:spPr>
          <a:xfrm>
            <a:off x="11094415" y="6446520"/>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7F8FA8"/>
                </a:solidFill>
              </a:defRPr>
            </a:lvl1pPr>
          </a:lstStyle>
          <a:p>
            <a:pPr algn="r"/>
            <a:fld id="{F7021451-1387-4CA6-816F-3879F97B5CBC}" type="slidenum">
              <a:rPr b="0" lang="en-US"/>
              <a:t>9</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13" fill="hold">
                            <p:stCondLst>
                              <p:cond delay="0"/>
                            </p:stCondLst>
                            <p:childTnLst>
                              <p:par>
                                <p:cTn id="4" presetID="10" presetClass="entr" presetSubtype="0" fill="hold" grpId="0" nodeType="afterEffect">
                                  <p:stCondLst>
                                    <p:cond delay="0"/>
                                  </p:stCondLst>
                                  <p:childTnLst>
                                    <p:set>
                                      <p:cBhvr>
                                        <p:cTn id="5" dur="1" fill="hold">
                                          <p:stCondLst>
                                            <p:cond delay="0"/>
                                          </p:stCondLst>
                                        </p:cTn>
                                        <p:tgtEl>
                                          <p:spTgt spid="5"/>
                                        </p:tgtEl>
                                        <p:attrNameLst>
                                          <p:attrName>style.visibility</p:attrName>
                                        </p:attrNameLst>
                                      </p:cBhvr>
                                      <p:to>
                                        <p:strVal val="visible"/>
                                      </p:to>
                                    </p:set>
                                    <p:animEffect transition="in" filter="fade">
                                      <p:cBhvr>
                                        <p:cTn id="6" dur="420"/>
                                        <p:tgtEl>
                                          <p:spTgt spid="5"/>
                                        </p:tgtEl>
                                      </p:cBhvr>
                                    </p:animEffect>
                                  </p:childTnLst>
                                </p:cTn>
                              </p:par>
                              <p:par>
                                <p:cTn id="7" presetID="10"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animEffect transition="in" filter="fade">
                                      <p:cBhvr>
                                        <p:cTn id="9" dur="420"/>
                                        <p:tgtEl>
                                          <p:spTgt spid="6"/>
                                        </p:tgtEl>
                                      </p:cBhvr>
                                    </p:animEffect>
                                  </p:childTnLst>
                                </p:cTn>
                              </p:par>
                              <p:par>
                                <p:cTn id="10" presetID="10" presetClass="entr" presetSubtype="0" fill="hold" grpId="0" nodeType="with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420"/>
                                        <p:tgtEl>
                                          <p:spTgt spid="7"/>
                                        </p:tgtEl>
                                      </p:cBhvr>
                                    </p:animEffect>
                                  </p:childTnLst>
                                </p:cTn>
                              </p:par>
                            </p:childTnLst>
                          </p:cTn>
                        </p:par>
                        <p:par>
                          <p:cTn id="26" fill="hold">
                            <p:stCondLst>
                              <p:cond delay="0"/>
                            </p:stCondLst>
                            <p:childTnLst>
                              <p:par>
                                <p:cTn id="14" presetID="10" presetClass="entr" presetSubtype="0" fill="hold" grpId="0" nodeType="after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2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20"/>
                                        <p:tgtEl>
                                          <p:spTgt spid="9"/>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420"/>
                                        <p:tgtEl>
                                          <p:spTgt spid="10"/>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420"/>
                                        <p:tgtEl>
                                          <p:spTgt spid="11"/>
                                        </p:tgtEl>
                                      </p:cBhvr>
                                    </p:animEffect>
                                  </p:childTnLst>
                                </p:cTn>
                              </p:par>
                            </p:childTnLst>
                          </p:cTn>
                        </p:par>
                        <p:par>
                          <p:cTn id="39" fill="hold">
                            <p:stCondLst>
                              <p:cond delay="260"/>
                            </p:stCondLst>
                            <p:childTnLst>
                              <p:par>
                                <p:cTn id="27" presetID="10" presetClass="entr" presetSubtype="0" fill="hold" grpId="0" nodeType="after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42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fade">
                                      <p:cBhvr>
                                        <p:cTn id="32" dur="420"/>
                                        <p:tgtEl>
                                          <p:spTgt spid="13"/>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4"/>
                                        </p:tgtEl>
                                        <p:attrNameLst>
                                          <p:attrName>style.visibility</p:attrName>
                                        </p:attrNameLst>
                                      </p:cBhvr>
                                      <p:to>
                                        <p:strVal val="visible"/>
                                      </p:to>
                                    </p:set>
                                    <p:animEffect transition="in" filter="fade">
                                      <p:cBhvr>
                                        <p:cTn id="35" dur="420"/>
                                        <p:tgtEl>
                                          <p:spTgt spid="14"/>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5"/>
                                        </p:tgtEl>
                                        <p:attrNameLst>
                                          <p:attrName>style.visibility</p:attrName>
                                        </p:attrNameLst>
                                      </p:cBhvr>
                                      <p:to>
                                        <p:strVal val="visible"/>
                                      </p:to>
                                    </p:set>
                                    <p:animEffect transition="in" filter="fade">
                                      <p:cBhvr>
                                        <p:cTn id="38" dur="42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animBg="1"/>
      <p:bldP spid="8" grpId="0"/>
      <p:bldP spid="9" grpId="0" animBg="1"/>
      <p:bldP spid="10" grpId="0" animBg="1"/>
      <p:bldP spid="11" grpId="0" animBg="1"/>
      <p:bldP spid="12" grpId="0"/>
      <p:bldP spid="13" grpId="0" animBg="1"/>
      <p:bldP spid="14" grpId="0" animBg="1"/>
      <p:bldP spid="15"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1" type="body" hasCustomPrompt="1"/>
          </p:nvPr>
        </p:nvSpPr>
        <p:spPr>
          <a:xfrm>
            <a:off x="731520" y="310896"/>
            <a:ext cx="8686800" cy="329184"/>
          </a:xfrm>
          <a:prstGeom prst="rect">
            <a:avLst/>
          </a:prstGeom>
          <a:noFill/>
          <a:ln/>
        </p:spPr>
        <p:txBody>
          <a:bodyPr wrap="square" lIns="0" tIns="0" rIns="0" bIns="0" rtlCol="0" anchor="ctr"/>
          <a:lstStyle/>
          <a:p>
            <a:pPr algn="l" indent="0" marL="0">
              <a:buNone/>
            </a:pPr>
            <a:r>
              <a:rPr lang="en-US" sz="1200" b="1" spc="300" kern="0" dirty="0">
                <a:solidFill>
                  <a:srgbClr val="AEBBD0"/>
                </a:solidFill>
              </a:rPr>
              <a:t>LEVEL 1 · SAFETY</a:t>
            </a:r>
            <a:endParaRPr lang="en-US" sz="1200" dirty="0"/>
          </a:p>
        </p:txBody>
      </p:sp>
      <p:sp>
        <p:nvSpPr>
          <p:cNvPr id="3" name="Text 0"/>
          <p:cNvSpPr/>
          <p:nvPr>
            <p:ph idx="102" type="title" hasCustomPrompt="1"/>
          </p:nvPr>
        </p:nvSpPr>
        <p:spPr>
          <a:xfrm>
            <a:off x="548640" y="658368"/>
            <a:ext cx="11094415" cy="731520"/>
          </a:xfrm>
          <a:prstGeom prst="rect">
            <a:avLst/>
          </a:prstGeom>
          <a:noFill/>
          <a:ln/>
        </p:spPr>
        <p:txBody>
          <a:bodyPr wrap="square" lIns="0" tIns="0" rIns="0" bIns="0" rtlCol="0" anchor="ctr"/>
          <a:lstStyle/>
          <a:p>
            <a:pPr algn="l" indent="0" marL="0">
              <a:buNone/>
            </a:pPr>
            <a:r>
              <a:rPr lang="en-US" sz="3200" b="1" dirty="0">
                <a:solidFill>
                  <a:srgbClr val="EEF3FA"/>
                </a:solidFill>
              </a:rPr>
              <a:t>Collision-aware learning</a:t>
            </a:r>
            <a:endParaRPr lang="en-US" sz="3200" dirty="0"/>
          </a:p>
        </p:txBody>
      </p:sp>
      <p:sp>
        <p:nvSpPr>
          <p:cNvPr id="5" name="c_loss#box"/>
          <p:cNvSpPr/>
          <p:nvPr/>
        </p:nvSpPr>
        <p:spPr>
          <a:xfrm>
            <a:off x="548640" y="1691640"/>
            <a:ext cx="4297680" cy="1828800"/>
          </a:xfrm>
          <a:prstGeom prst="roundRect">
            <a:avLst>
              <a:gd name="adj" fmla="val 5000"/>
            </a:avLst>
          </a:prstGeom>
          <a:solidFill>
            <a:srgbClr val="0F1B2D"/>
          </a:solidFill>
          <a:ln w="12700">
            <a:solidFill>
              <a:srgbClr val="23344F"/>
            </a:solidFill>
            <a:prstDash val="solid"/>
          </a:ln>
        </p:spPr>
      </p:sp>
      <p:sp>
        <p:nvSpPr>
          <p:cNvPr id="6" name="c_loss#k"/>
          <p:cNvSpPr txBox="1"/>
          <p:nvPr/>
        </p:nvSpPr>
        <p:spPr>
          <a:xfrm>
            <a:off x="749808" y="1874520"/>
            <a:ext cx="3895344" cy="228600"/>
          </a:xfrm>
          <a:prstGeom prst="rect">
            <a:avLst/>
          </a:prstGeom>
          <a:noFill/>
          <a:ln/>
        </p:spPr>
        <p:txBody>
          <a:bodyPr wrap="square" lIns="0" tIns="0" rIns="0" bIns="0" rtlCol="0" anchor="t"/>
          <a:lstStyle/>
          <a:p>
            <a:pPr indent="0" marL="0">
              <a:buNone/>
            </a:pPr>
            <a:r>
              <a:rPr lang="en-US" sz="1050" b="1" spc="200" kern="0" dirty="0">
                <a:solidFill>
                  <a:srgbClr val="4FD6F2"/>
                </a:solidFill>
                <a:latin typeface="Calibri" pitchFamily="34" charset="0"/>
                <a:ea typeface="Calibri" pitchFamily="34" charset="-122"/>
                <a:cs typeface="Calibri" pitchFamily="34" charset="-120"/>
              </a:rPr>
              <a:t>TRAINING LOSS</a:t>
            </a:r>
            <a:endParaRPr lang="en-US" sz="1050" dirty="0"/>
          </a:p>
        </p:txBody>
      </p:sp>
      <p:sp>
        <p:nvSpPr>
          <p:cNvPr id="7" name="c_loss#h"/>
          <p:cNvSpPr txBox="1"/>
          <p:nvPr/>
        </p:nvSpPr>
        <p:spPr>
          <a:xfrm>
            <a:off x="749808" y="2167128"/>
            <a:ext cx="3895344" cy="384048"/>
          </a:xfrm>
          <a:prstGeom prst="rect">
            <a:avLst/>
          </a:prstGeom>
          <a:noFill/>
          <a:ln/>
        </p:spPr>
        <p:txBody>
          <a:bodyPr wrap="square" lIns="0" tIns="0" rIns="0" bIns="0" rtlCol="0" anchor="t"/>
          <a:lstStyle/>
          <a:p>
            <a:pPr indent="0" marL="0">
              <a:buNone/>
            </a:pPr>
            <a:r>
              <a:rPr lang="en-US" sz="1800" b="1" dirty="0">
                <a:solidFill>
                  <a:srgbClr val="EEF3FA"/>
                </a:solidFill>
                <a:latin typeface="Calibri" pitchFamily="34" charset="0"/>
                <a:ea typeface="Calibri" pitchFamily="34" charset="-122"/>
                <a:cs typeface="Calibri" pitchFamily="34" charset="-120"/>
              </a:rPr>
              <a:t>L = MSE(sin, cos) + 0.05 · σ(C(q̂))</a:t>
            </a:r>
            <a:endParaRPr lang="en-US" sz="1800" dirty="0"/>
          </a:p>
        </p:txBody>
      </p:sp>
      <p:sp>
        <p:nvSpPr>
          <p:cNvPr id="8" name="c_loss#b"/>
          <p:cNvSpPr txBox="1"/>
          <p:nvPr/>
        </p:nvSpPr>
        <p:spPr>
          <a:xfrm>
            <a:off x="749808" y="2587752"/>
            <a:ext cx="3895344" cy="822960"/>
          </a:xfrm>
          <a:prstGeom prst="rect">
            <a:avLst/>
          </a:prstGeom>
          <a:noFill/>
          <a:ln/>
        </p:spPr>
        <p:txBody>
          <a:bodyPr wrap="square" lIns="0" tIns="0" rIns="0" bIns="0" rtlCol="0" anchor="t"/>
          <a:lstStyle/>
          <a:p>
            <a:pPr indent="0" marL="0">
              <a:spcAft>
                <a:spcPts val="400"/>
              </a:spcAft>
              <a:buNone/>
            </a:pPr>
            <a:r>
              <a:rPr lang="en-US" sz="1350" dirty="0">
                <a:solidFill>
                  <a:srgbClr val="AEBBD0"/>
                </a:solidFill>
                <a:latin typeface="Calibri" pitchFamily="34" charset="0"/>
                <a:ea typeface="Calibri" pitchFamily="34" charset="-122"/>
                <a:cs typeface="Calibri" pitchFamily="34" charset="-120"/>
              </a:rPr>
              <a:t>C = frozen collision classifier, q̂ = predicted angles. The penalty is differentiable, so it shapes training.</a:t>
            </a:r>
            <a:endParaRPr lang="en-US" sz="1350" dirty="0"/>
          </a:p>
        </p:txBody>
      </p:sp>
      <p:sp>
        <p:nvSpPr>
          <p:cNvPr id="9" name="c_acc#v"/>
          <p:cNvSpPr txBox="1"/>
          <p:nvPr/>
        </p:nvSpPr>
        <p:spPr>
          <a:xfrm>
            <a:off x="548640" y="3749040"/>
            <a:ext cx="2103120" cy="502920"/>
          </a:xfrm>
          <a:prstGeom prst="rect">
            <a:avLst/>
          </a:prstGeom>
          <a:noFill/>
          <a:ln/>
        </p:spPr>
        <p:txBody>
          <a:bodyPr wrap="square" lIns="0" tIns="0" rIns="0" bIns="0" rtlCol="0" anchor="t"/>
          <a:lstStyle/>
          <a:p>
            <a:pPr indent="0" marL="0">
              <a:buNone/>
            </a:pPr>
            <a:r>
              <a:rPr lang="en-US" sz="3000" b="1" dirty="0">
                <a:solidFill>
                  <a:srgbClr val="EEF3FA"/>
                </a:solidFill>
                <a:latin typeface="Calibri" pitchFamily="34" charset="0"/>
                <a:ea typeface="Calibri" pitchFamily="34" charset="-122"/>
                <a:cs typeface="Calibri" pitchFamily="34" charset="-120"/>
              </a:rPr>
              <a:t>98.4 %</a:t>
            </a:r>
            <a:endParaRPr lang="en-US" sz="3000" dirty="0"/>
          </a:p>
        </p:txBody>
      </p:sp>
      <p:sp>
        <p:nvSpPr>
          <p:cNvPr id="10" name="c_acc#l"/>
          <p:cNvSpPr txBox="1"/>
          <p:nvPr/>
        </p:nvSpPr>
        <p:spPr>
          <a:xfrm>
            <a:off x="548640" y="4261104"/>
            <a:ext cx="2103120" cy="457200"/>
          </a:xfrm>
          <a:prstGeom prst="rect">
            <a:avLst/>
          </a:prstGeom>
          <a:noFill/>
          <a:ln/>
        </p:spPr>
        <p:txBody>
          <a:bodyPr wrap="square" lIns="0" tIns="0" rIns="0" bIns="0" rtlCol="0" anchor="t"/>
          <a:lstStyle/>
          <a:p>
            <a:pPr indent="0" marL="0">
              <a:buNone/>
            </a:pPr>
            <a:r>
              <a:rPr lang="en-US" sz="1200" dirty="0">
                <a:solidFill>
                  <a:srgbClr val="AEBBD0"/>
                </a:solidFill>
                <a:latin typeface="Calibri" pitchFamily="34" charset="0"/>
                <a:ea typeface="Calibri" pitchFamily="34" charset="-122"/>
                <a:cs typeface="Calibri" pitchFamily="34" charset="-120"/>
              </a:rPr>
              <a:t>accuracy · 30,000 held-out poses</a:t>
            </a:r>
            <a:endParaRPr lang="en-US" sz="1200" dirty="0"/>
          </a:p>
        </p:txBody>
      </p:sp>
      <p:sp>
        <p:nvSpPr>
          <p:cNvPr id="11" name="c_prec#v"/>
          <p:cNvSpPr txBox="1"/>
          <p:nvPr/>
        </p:nvSpPr>
        <p:spPr>
          <a:xfrm>
            <a:off x="2788920" y="3749040"/>
            <a:ext cx="2057400" cy="502920"/>
          </a:xfrm>
          <a:prstGeom prst="rect">
            <a:avLst/>
          </a:prstGeom>
          <a:noFill/>
          <a:ln/>
        </p:spPr>
        <p:txBody>
          <a:bodyPr wrap="square" lIns="0" tIns="0" rIns="0" bIns="0" rtlCol="0" anchor="t"/>
          <a:lstStyle/>
          <a:p>
            <a:pPr indent="0" marL="0">
              <a:buNone/>
            </a:pPr>
            <a:r>
              <a:rPr lang="en-US" sz="3000" b="1" dirty="0">
                <a:solidFill>
                  <a:srgbClr val="EEF3FA"/>
                </a:solidFill>
                <a:latin typeface="Calibri" pitchFamily="34" charset="0"/>
                <a:ea typeface="Calibri" pitchFamily="34" charset="-122"/>
                <a:cs typeface="Calibri" pitchFamily="34" charset="-120"/>
              </a:rPr>
              <a:t>95.9 %</a:t>
            </a:r>
            <a:endParaRPr lang="en-US" sz="3000" dirty="0"/>
          </a:p>
        </p:txBody>
      </p:sp>
      <p:sp>
        <p:nvSpPr>
          <p:cNvPr id="12" name="c_prec#l"/>
          <p:cNvSpPr txBox="1"/>
          <p:nvPr/>
        </p:nvSpPr>
        <p:spPr>
          <a:xfrm>
            <a:off x="2788920" y="4261104"/>
            <a:ext cx="2057400" cy="457200"/>
          </a:xfrm>
          <a:prstGeom prst="rect">
            <a:avLst/>
          </a:prstGeom>
          <a:noFill/>
          <a:ln/>
        </p:spPr>
        <p:txBody>
          <a:bodyPr wrap="square" lIns="0" tIns="0" rIns="0" bIns="0" rtlCol="0" anchor="t"/>
          <a:lstStyle/>
          <a:p>
            <a:pPr indent="0" marL="0">
              <a:buNone/>
            </a:pPr>
            <a:r>
              <a:rPr lang="en-US" sz="1200" dirty="0">
                <a:solidFill>
                  <a:srgbClr val="AEBBD0"/>
                </a:solidFill>
                <a:latin typeface="Calibri" pitchFamily="34" charset="0"/>
                <a:ea typeface="Calibri" pitchFamily="34" charset="-122"/>
                <a:cs typeface="Calibri" pitchFamily="34" charset="-120"/>
              </a:rPr>
              <a:t>precision</a:t>
            </a:r>
            <a:endParaRPr lang="en-US" sz="1200" dirty="0"/>
          </a:p>
        </p:txBody>
      </p:sp>
      <p:sp>
        <p:nvSpPr>
          <p:cNvPr id="13" name="c_rec#v"/>
          <p:cNvSpPr txBox="1"/>
          <p:nvPr/>
        </p:nvSpPr>
        <p:spPr>
          <a:xfrm>
            <a:off x="548640" y="4800600"/>
            <a:ext cx="2103120" cy="502920"/>
          </a:xfrm>
          <a:prstGeom prst="rect">
            <a:avLst/>
          </a:prstGeom>
          <a:noFill/>
          <a:ln/>
        </p:spPr>
        <p:txBody>
          <a:bodyPr wrap="square" lIns="0" tIns="0" rIns="0" bIns="0" rtlCol="0" anchor="t"/>
          <a:lstStyle/>
          <a:p>
            <a:pPr indent="0" marL="0">
              <a:buNone/>
            </a:pPr>
            <a:r>
              <a:rPr lang="en-US" sz="3000" b="1" dirty="0">
                <a:solidFill>
                  <a:srgbClr val="EEF3FA"/>
                </a:solidFill>
                <a:latin typeface="Calibri" pitchFamily="34" charset="0"/>
                <a:ea typeface="Calibri" pitchFamily="34" charset="-122"/>
                <a:cs typeface="Calibri" pitchFamily="34" charset="-120"/>
              </a:rPr>
              <a:t>94.1 %</a:t>
            </a:r>
            <a:endParaRPr lang="en-US" sz="3000" dirty="0"/>
          </a:p>
        </p:txBody>
      </p:sp>
      <p:sp>
        <p:nvSpPr>
          <p:cNvPr id="14" name="c_rec#l"/>
          <p:cNvSpPr txBox="1"/>
          <p:nvPr/>
        </p:nvSpPr>
        <p:spPr>
          <a:xfrm>
            <a:off x="548640" y="5312664"/>
            <a:ext cx="2103120" cy="457200"/>
          </a:xfrm>
          <a:prstGeom prst="rect">
            <a:avLst/>
          </a:prstGeom>
          <a:noFill/>
          <a:ln/>
        </p:spPr>
        <p:txBody>
          <a:bodyPr wrap="square" lIns="0" tIns="0" rIns="0" bIns="0" rtlCol="0" anchor="t"/>
          <a:lstStyle/>
          <a:p>
            <a:pPr indent="0" marL="0">
              <a:buNone/>
            </a:pPr>
            <a:r>
              <a:rPr lang="en-US" sz="1200" dirty="0">
                <a:solidFill>
                  <a:srgbClr val="AEBBD0"/>
                </a:solidFill>
                <a:latin typeface="Calibri" pitchFamily="34" charset="0"/>
                <a:ea typeface="Calibri" pitchFamily="34" charset="-122"/>
                <a:cs typeface="Calibri" pitchFamily="34" charset="-120"/>
              </a:rPr>
              <a:t>recall</a:t>
            </a:r>
            <a:endParaRPr lang="en-US" sz="1200" dirty="0"/>
          </a:p>
        </p:txBody>
      </p:sp>
      <p:sp>
        <p:nvSpPr>
          <p:cNvPr id="15" name="c_par#v"/>
          <p:cNvSpPr txBox="1"/>
          <p:nvPr/>
        </p:nvSpPr>
        <p:spPr>
          <a:xfrm>
            <a:off x="2788920" y="4800600"/>
            <a:ext cx="2057400" cy="502920"/>
          </a:xfrm>
          <a:prstGeom prst="rect">
            <a:avLst/>
          </a:prstGeom>
          <a:noFill/>
          <a:ln/>
        </p:spPr>
        <p:txBody>
          <a:bodyPr wrap="square" lIns="0" tIns="0" rIns="0" bIns="0" rtlCol="0" anchor="t"/>
          <a:lstStyle/>
          <a:p>
            <a:pPr indent="0" marL="0">
              <a:buNone/>
            </a:pPr>
            <a:r>
              <a:rPr lang="en-US" sz="3000" b="1" dirty="0">
                <a:solidFill>
                  <a:srgbClr val="EEF3FA"/>
                </a:solidFill>
                <a:latin typeface="Calibri" pitchFamily="34" charset="0"/>
                <a:ea typeface="Calibri" pitchFamily="34" charset="-122"/>
                <a:cs typeface="Calibri" pitchFamily="34" charset="-120"/>
              </a:rPr>
              <a:t>4,673</a:t>
            </a:r>
            <a:endParaRPr lang="en-US" sz="3000" dirty="0"/>
          </a:p>
        </p:txBody>
      </p:sp>
      <p:sp>
        <p:nvSpPr>
          <p:cNvPr id="16" name="c_par#l"/>
          <p:cNvSpPr txBox="1"/>
          <p:nvPr/>
        </p:nvSpPr>
        <p:spPr>
          <a:xfrm>
            <a:off x="2788920" y="5312664"/>
            <a:ext cx="2057400" cy="457200"/>
          </a:xfrm>
          <a:prstGeom prst="rect">
            <a:avLst/>
          </a:prstGeom>
          <a:noFill/>
          <a:ln/>
        </p:spPr>
        <p:txBody>
          <a:bodyPr wrap="square" lIns="0" tIns="0" rIns="0" bIns="0" rtlCol="0" anchor="t"/>
          <a:lstStyle/>
          <a:p>
            <a:pPr indent="0" marL="0">
              <a:buNone/>
            </a:pPr>
            <a:r>
              <a:rPr lang="en-US" sz="1200" dirty="0">
                <a:solidFill>
                  <a:srgbClr val="AEBBD0"/>
                </a:solidFill>
                <a:latin typeface="Calibri" pitchFamily="34" charset="0"/>
                <a:ea typeface="Calibri" pitchFamily="34" charset="-122"/>
                <a:cs typeface="Calibri" pitchFamily="34" charset="-120"/>
              </a:rPr>
              <a:t>parameters (6 → 64 → 64 → 1)</a:t>
            </a:r>
            <a:endParaRPr lang="en-US" sz="1200" dirty="0"/>
          </a:p>
        </p:txBody>
      </p:sp>
      <p:sp>
        <p:nvSpPr>
          <p:cNvPr id="17" name="video_collision_awareness#frame"/>
          <p:cNvSpPr/>
          <p:nvPr/>
        </p:nvSpPr>
        <p:spPr>
          <a:xfrm>
            <a:off x="5093208" y="1664208"/>
            <a:ext cx="6577279" cy="3723723"/>
          </a:xfrm>
          <a:prstGeom prst="roundRect">
            <a:avLst>
              <a:gd name="adj" fmla="val 982"/>
            </a:avLst>
          </a:prstGeom>
          <a:solidFill>
            <a:srgbClr val="0A1527"/>
          </a:solidFill>
          <a:ln w="12700">
            <a:solidFill>
              <a:srgbClr val="23344F"/>
            </a:solidFill>
            <a:prstDash val="solid"/>
          </a:ln>
        </p:spPr>
      </p:sp>
      <p:pic>
        <p:nvPicPr>
          <p:cNvPr id="18" name="video_collision_awareness#media" descr="/tmp/claude-0/nik_work/stills/collision_awareness/collision_awareness_020.00.png">    </p:cNvPr>
          <p:cNvPicPr>
            <a:picLocks noChangeAspect="1"/>
          </p:cNvPicPr>
          <p:nvPr/>
        </p:nvPicPr>
        <p:blipFill>
          <a:blip r:embed="rId1"/>
          <a:stretch>
            <a:fillRect/>
          </a:stretch>
        </p:blipFill>
        <p:spPr>
          <a:xfrm>
            <a:off x="5120640" y="1691640"/>
            <a:ext cx="6522415" cy="3668859"/>
          </a:xfrm>
          <a:prstGeom prst="rect">
            <a:avLst/>
          </a:prstGeom>
        </p:spPr>
      </p:pic>
      <p:sp>
        <p:nvSpPr>
          <p:cNvPr id="19" name="video_collision_awareness#cap"/>
          <p:cNvSpPr txBox="1"/>
          <p:nvPr/>
        </p:nvSpPr>
        <p:spPr>
          <a:xfrm>
            <a:off x="5120640" y="5451939"/>
            <a:ext cx="6522415" cy="274320"/>
          </a:xfrm>
          <a:prstGeom prst="rect">
            <a:avLst/>
          </a:prstGeom>
          <a:noFill/>
          <a:ln/>
        </p:spPr>
        <p:txBody>
          <a:bodyPr wrap="square" lIns="0" tIns="0" rIns="0" bIns="0" rtlCol="0" anchor="t"/>
          <a:lstStyle/>
          <a:p>
            <a:pPr indent="0" marL="0">
              <a:buNone/>
            </a:pPr>
            <a:r>
              <a:rPr lang="en-US" sz="1050" dirty="0">
                <a:solidFill>
                  <a:srgbClr val="7F8FA8"/>
                </a:solidFill>
                <a:latin typeface="Calibri" pitchFamily="34" charset="0"/>
                <a:ea typeface="Calibri" pitchFamily="34" charset="-122"/>
                <a:cs typeface="Calibri" pitchFamily="34" charset="-120"/>
              </a:rPr>
              <a:t>Simulation 6 · PyBullet contact vs classifier probability along a real motion</a:t>
            </a:r>
            <a:endParaRPr lang="en-US" sz="1050" dirty="0"/>
          </a:p>
        </p:txBody>
      </p:sp>
      <p:sp>
        <p:nvSpPr>
          <p:cNvPr id="20" name="c_warn#bb"/>
          <p:cNvSpPr/>
          <p:nvPr/>
        </p:nvSpPr>
        <p:spPr>
          <a:xfrm>
            <a:off x="5120640" y="5806440"/>
            <a:ext cx="4206240" cy="292608"/>
          </a:xfrm>
          <a:prstGeom prst="roundRect">
            <a:avLst>
              <a:gd name="adj" fmla="val 50000"/>
            </a:avLst>
          </a:prstGeom>
          <a:solidFill>
            <a:srgbClr val="14233A"/>
          </a:solidFill>
          <a:ln w="12700">
            <a:solidFill>
              <a:srgbClr val="FAB219"/>
            </a:solidFill>
            <a:prstDash val="solid"/>
          </a:ln>
        </p:spPr>
      </p:sp>
      <p:sp>
        <p:nvSpPr>
          <p:cNvPr id="21" name="c_warn#bt"/>
          <p:cNvSpPr txBox="1"/>
          <p:nvPr/>
        </p:nvSpPr>
        <p:spPr>
          <a:xfrm>
            <a:off x="5120640" y="5806440"/>
            <a:ext cx="4206240" cy="292608"/>
          </a:xfrm>
          <a:prstGeom prst="rect">
            <a:avLst/>
          </a:prstGeom>
          <a:noFill/>
          <a:ln/>
        </p:spPr>
        <p:txBody>
          <a:bodyPr wrap="square" lIns="0" tIns="0" rIns="0" bIns="0" rtlCol="0" anchor="ctr"/>
          <a:lstStyle/>
          <a:p>
            <a:pPr algn="ctr" indent="0" marL="0">
              <a:buNone/>
            </a:pPr>
            <a:r>
              <a:rPr lang="en-US" sz="1100" b="1" dirty="0">
                <a:solidFill>
                  <a:srgbClr val="FFD47A"/>
                </a:solidFill>
                <a:latin typeface="Calibri" pitchFamily="34" charset="0"/>
                <a:ea typeface="Calibri" pitchFamily="34" charset="-122"/>
                <a:cs typeface="Calibri" pitchFamily="34" charset="-120"/>
              </a:rPr>
              <a:t>! Soft penalty: answers are still re-checked in PyBullet</a:t>
            </a:r>
            <a:endParaRPr lang="en-US" sz="1100" dirty="0"/>
          </a:p>
        </p:txBody>
      </p:sp>
      <p:sp>
        <p:nvSpPr>
          <p:cNvPr id="25" name="Slide Number Placeholder 0"/>
          <p:cNvSpPr>
            <a:spLocks noGrp="1"/>
          </p:cNvSpPr>
          <p:nvPr>
            <p:ph type="sldNum" sz="quarter" idx="4294967295"/>
          </p:nvPr>
        </p:nvSpPr>
        <p:spPr>
          <a:xfrm>
            <a:off x="11094415" y="6446520"/>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7F8FA8"/>
                </a:solidFill>
              </a:defRPr>
            </a:lvl1pPr>
          </a:lstStyle>
          <a:p>
            <a:pPr algn="r"/>
            <a:fld id="{F7021451-1387-4CA6-816F-3879F97B5CBC}" type="slidenum">
              <a:rPr b="0" lang="en-US"/>
              <a:t>10</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16" fill="hold">
                            <p:stCondLst>
                              <p:cond delay="0"/>
                            </p:stCondLst>
                            <p:childTnLst>
                              <p:par>
                                <p:cTn id="4" presetID="10" presetClass="entr" presetSubtype="0" fill="hold" grpId="0" nodeType="afterEffect">
                                  <p:stCondLst>
                                    <p:cond delay="0"/>
                                  </p:stCondLst>
                                  <p:childTnLst>
                                    <p:set>
                                      <p:cBhvr>
                                        <p:cTn id="5" dur="1" fill="hold">
                                          <p:stCondLst>
                                            <p:cond delay="0"/>
                                          </p:stCondLst>
                                        </p:cTn>
                                        <p:tgtEl>
                                          <p:spTgt spid="5"/>
                                        </p:tgtEl>
                                        <p:attrNameLst>
                                          <p:attrName>style.visibility</p:attrName>
                                        </p:attrNameLst>
                                      </p:cBhvr>
                                      <p:to>
                                        <p:strVal val="visible"/>
                                      </p:to>
                                    </p:set>
                                    <p:animEffect transition="in" filter="fade">
                                      <p:cBhvr>
                                        <p:cTn id="6" dur="420"/>
                                        <p:tgtEl>
                                          <p:spTgt spid="5"/>
                                        </p:tgtEl>
                                      </p:cBhvr>
                                    </p:animEffect>
                                  </p:childTnLst>
                                </p:cTn>
                              </p:par>
                              <p:par>
                                <p:cTn id="7" presetID="10"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animEffect transition="in" filter="fade">
                                      <p:cBhvr>
                                        <p:cTn id="9" dur="420"/>
                                        <p:tgtEl>
                                          <p:spTgt spid="6"/>
                                        </p:tgtEl>
                                      </p:cBhvr>
                                    </p:animEffect>
                                  </p:childTnLst>
                                </p:cTn>
                              </p:par>
                              <p:par>
                                <p:cTn id="10" presetID="10" presetClass="entr" presetSubtype="0" fill="hold" grpId="0" nodeType="with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420"/>
                                        <p:tgtEl>
                                          <p:spTgt spid="7"/>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420"/>
                                        <p:tgtEl>
                                          <p:spTgt spid="8"/>
                                        </p:tgtEl>
                                      </p:cBhvr>
                                    </p:animEffect>
                                  </p:childTnLst>
                                </p:cTn>
                              </p:par>
                            </p:childTnLst>
                          </p:cTn>
                        </p:par>
                        <p:par>
                          <p:cTn id="23" fill="hold">
                            <p:stCondLst>
                              <p:cond delay="0"/>
                            </p:stCondLst>
                            <p:childTnLst>
                              <p:par>
                                <p:cTn id="17" presetID="10" presetClass="entr" presetSubtype="0" fill="hold" grpId="0" nodeType="after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20"/>
                                        <p:tgtEl>
                                          <p:spTgt spid="9"/>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420"/>
                                        <p:tgtEl>
                                          <p:spTgt spid="10"/>
                                        </p:tgtEl>
                                      </p:cBhvr>
                                    </p:animEffect>
                                  </p:childTnLst>
                                </p:cTn>
                              </p:par>
                            </p:childTnLst>
                          </p:cTn>
                        </p:par>
                        <p:par>
                          <p:cTn id="30" fill="hold">
                            <p:stCondLst>
                              <p:cond delay="260"/>
                            </p:stCondLst>
                            <p:childTnLst>
                              <p:par>
                                <p:cTn id="24" presetID="10" presetClass="entr" presetSubtype="0" fill="hold" grpId="0" nodeType="after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420"/>
                                        <p:tgtEl>
                                          <p:spTgt spid="11"/>
                                        </p:tgtEl>
                                      </p:cBhvr>
                                    </p:animEffect>
                                  </p:childTnLst>
                                </p:cTn>
                              </p:par>
                              <p:par>
                                <p:cTn id="27" presetID="10" presetClass="entr" presetSubtype="0" fill="hold" grpId="0" nodeType="with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420"/>
                                        <p:tgtEl>
                                          <p:spTgt spid="12"/>
                                        </p:tgtEl>
                                      </p:cBhvr>
                                    </p:animEffect>
                                  </p:childTnLst>
                                </p:cTn>
                              </p:par>
                            </p:childTnLst>
                          </p:cTn>
                        </p:par>
                        <p:par>
                          <p:cTn id="37" fill="hold">
                            <p:stCondLst>
                              <p:cond delay="520"/>
                            </p:stCondLst>
                            <p:childTnLst>
                              <p:par>
                                <p:cTn id="31" presetID="10" presetClass="entr" presetSubtype="0" fill="hold" grpId="0" nodeType="after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2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20"/>
                                        <p:tgtEl>
                                          <p:spTgt spid="14"/>
                                        </p:tgtEl>
                                      </p:cBhvr>
                                    </p:animEffect>
                                  </p:childTnLst>
                                </p:cTn>
                              </p:par>
                            </p:childTnLst>
                          </p:cTn>
                        </p:par>
                        <p:par>
                          <p:cTn id="44" fill="hold">
                            <p:stCondLst>
                              <p:cond delay="780"/>
                            </p:stCondLst>
                            <p:childTnLst>
                              <p:par>
                                <p:cTn id="38" presetID="10" presetClass="entr" presetSubtype="0" fill="hold" grpId="0" nodeType="after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420"/>
                                        <p:tgtEl>
                                          <p:spTgt spid="15"/>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6"/>
                                        </p:tgtEl>
                                        <p:attrNameLst>
                                          <p:attrName>style.visibility</p:attrName>
                                        </p:attrNameLst>
                                      </p:cBhvr>
                                      <p:to>
                                        <p:strVal val="visible"/>
                                      </p:to>
                                    </p:set>
                                    <p:animEffect transition="in" filter="fade">
                                      <p:cBhvr>
                                        <p:cTn id="43" dur="420"/>
                                        <p:tgtEl>
                                          <p:spTgt spid="16"/>
                                        </p:tgtEl>
                                      </p:cBhvr>
                                    </p:animEffect>
                                  </p:childTnLst>
                                </p:cTn>
                              </p:par>
                            </p:childTnLst>
                          </p:cTn>
                        </p:par>
                        <p:par>
                          <p:cTn id="54" fill="hold">
                            <p:stCondLst>
                              <p:cond delay="1040"/>
                            </p:stCondLst>
                            <p:childTnLst>
                              <p:par>
                                <p:cTn id="45" presetID="10" presetClass="entr" presetSubtype="0" fill="hold" grpId="0" nodeType="after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fade">
                                      <p:cBhvr>
                                        <p:cTn id="47" dur="420"/>
                                        <p:tgtEl>
                                          <p:spTgt spid="17"/>
                                        </p:tgtEl>
                                      </p:cBhvr>
                                    </p:animEffect>
                                  </p:childTnLst>
                                </p:cTn>
                              </p:par>
                              <p:par>
                                <p:cTn id="48" presetID="10" presetClass="entr" presetSubtype="0" fill="hold" nodeType="withEffect">
                                  <p:stCondLst>
                                    <p:cond delay="0"/>
                                  </p:stCondLst>
                                  <p:childTnLst>
                                    <p:set>
                                      <p:cBhvr>
                                        <p:cTn id="49" dur="1" fill="hold">
                                          <p:stCondLst>
                                            <p:cond delay="0"/>
                                          </p:stCondLst>
                                        </p:cTn>
                                        <p:tgtEl>
                                          <p:spTgt spid="18"/>
                                        </p:tgtEl>
                                        <p:attrNameLst>
                                          <p:attrName>style.visibility</p:attrName>
                                        </p:attrNameLst>
                                      </p:cBhvr>
                                      <p:to>
                                        <p:strVal val="visible"/>
                                      </p:to>
                                    </p:set>
                                    <p:animEffect transition="in" filter="fade">
                                      <p:cBhvr>
                                        <p:cTn id="50" dur="420"/>
                                        <p:tgtEl>
                                          <p:spTgt spid="18"/>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19"/>
                                        </p:tgtEl>
                                        <p:attrNameLst>
                                          <p:attrName>style.visibility</p:attrName>
                                        </p:attrNameLst>
                                      </p:cBhvr>
                                      <p:to>
                                        <p:strVal val="visible"/>
                                      </p:to>
                                    </p:set>
                                    <p:animEffect transition="in" filter="fade">
                                      <p:cBhvr>
                                        <p:cTn id="53" dur="42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p:bldP spid="19"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1" type="body" hasCustomPrompt="1"/>
          </p:nvPr>
        </p:nvSpPr>
        <p:spPr>
          <a:xfrm>
            <a:off x="731520" y="310896"/>
            <a:ext cx="8686800" cy="329184"/>
          </a:xfrm>
          <a:prstGeom prst="rect">
            <a:avLst/>
          </a:prstGeom>
          <a:noFill/>
          <a:ln/>
        </p:spPr>
        <p:txBody>
          <a:bodyPr wrap="square" lIns="0" tIns="0" rIns="0" bIns="0" rtlCol="0" anchor="ctr"/>
          <a:lstStyle/>
          <a:p>
            <a:pPr algn="l" indent="0" marL="0">
              <a:buNone/>
            </a:pPr>
            <a:r>
              <a:rPr lang="en-US" sz="1200" b="1" spc="300" kern="0" dirty="0">
                <a:solidFill>
                  <a:srgbClr val="AEBBD0"/>
                </a:solidFill>
              </a:rPr>
              <a:t>LEVEL 1 · TRAINING</a:t>
            </a:r>
            <a:endParaRPr lang="en-US" sz="1200" dirty="0"/>
          </a:p>
        </p:txBody>
      </p:sp>
      <p:sp>
        <p:nvSpPr>
          <p:cNvPr id="3" name="Text 0"/>
          <p:cNvSpPr/>
          <p:nvPr>
            <p:ph idx="102" type="title" hasCustomPrompt="1"/>
          </p:nvPr>
        </p:nvSpPr>
        <p:spPr>
          <a:xfrm>
            <a:off x="548640" y="658368"/>
            <a:ext cx="11094415" cy="731520"/>
          </a:xfrm>
          <a:prstGeom prst="rect">
            <a:avLst/>
          </a:prstGeom>
          <a:noFill/>
          <a:ln/>
        </p:spPr>
        <p:txBody>
          <a:bodyPr wrap="square" lIns="0" tIns="0" rIns="0" bIns="0" rtlCol="0" anchor="ctr"/>
          <a:lstStyle/>
          <a:p>
            <a:pPr algn="l" indent="0" marL="0">
              <a:buNone/>
            </a:pPr>
            <a:r>
              <a:rPr lang="en-US" sz="3200" b="1" dirty="0">
                <a:solidFill>
                  <a:srgbClr val="EEF3FA"/>
                </a:solidFill>
              </a:rPr>
              <a:t>Training and validation</a:t>
            </a:r>
            <a:endParaRPr lang="en-US" sz="3200" dirty="0"/>
          </a:p>
        </p:txBody>
      </p:sp>
      <p:graphicFrame>
        <p:nvGraphicFramePr>
          <p:cNvPr id="5" name="tr_chart" descr=""/>
          <p:cNvGraphicFramePr/>
          <p:nvPr/>
        </p:nvGraphicFramePr>
        <p:xfrm>
          <a:off x="548640" y="1691640"/>
          <a:ext cx="7040880" cy="4343400"/>
        </p:xfrm>
        <a:graphic xmlns:a="http://schemas.openxmlformats.org/drawingml/2006/main">
          <a:graphicData uri="http://schemas.openxmlformats.org/drawingml/2006/chart">
            <c:chart xmlns:c="http://schemas.openxmlformats.org/drawingml/2006/chart" r:id="rId1"/>
          </a:graphicData>
        </a:graphic>
      </p:graphicFrame>
      <p:sp>
        <p:nvSpPr>
          <p:cNvPr id="6" name="tr_s1#v"/>
          <p:cNvSpPr txBox="1"/>
          <p:nvPr/>
        </p:nvSpPr>
        <p:spPr>
          <a:xfrm>
            <a:off x="7909560" y="1783080"/>
            <a:ext cx="3749040" cy="502920"/>
          </a:xfrm>
          <a:prstGeom prst="rect">
            <a:avLst/>
          </a:prstGeom>
          <a:noFill/>
          <a:ln/>
        </p:spPr>
        <p:txBody>
          <a:bodyPr wrap="square" lIns="0" tIns="0" rIns="0" bIns="0" rtlCol="0" anchor="t"/>
          <a:lstStyle/>
          <a:p>
            <a:pPr indent="0" marL="0">
              <a:buNone/>
            </a:pPr>
            <a:r>
              <a:rPr lang="en-US" sz="2800" b="1" dirty="0">
                <a:solidFill>
                  <a:srgbClr val="EEF3FA"/>
                </a:solidFill>
                <a:latin typeface="Calibri" pitchFamily="34" charset="0"/>
                <a:ea typeface="Calibri" pitchFamily="34" charset="-122"/>
                <a:cs typeface="Calibri" pitchFamily="34" charset="-120"/>
              </a:rPr>
              <a:t>115 → 23.4 mm</a:t>
            </a:r>
            <a:endParaRPr lang="en-US" sz="2800" dirty="0"/>
          </a:p>
        </p:txBody>
      </p:sp>
      <p:sp>
        <p:nvSpPr>
          <p:cNvPr id="7" name="tr_s1#l"/>
          <p:cNvSpPr txBox="1"/>
          <p:nvPr/>
        </p:nvSpPr>
        <p:spPr>
          <a:xfrm>
            <a:off x="7909560" y="2295144"/>
            <a:ext cx="3749040" cy="457200"/>
          </a:xfrm>
          <a:prstGeom prst="rect">
            <a:avLst/>
          </a:prstGeom>
          <a:noFill/>
          <a:ln/>
        </p:spPr>
        <p:txBody>
          <a:bodyPr wrap="square" lIns="0" tIns="0" rIns="0" bIns="0" rtlCol="0" anchor="t"/>
          <a:lstStyle/>
          <a:p>
            <a:pPr indent="0" marL="0">
              <a:buNone/>
            </a:pPr>
            <a:r>
              <a:rPr lang="en-US" sz="1200" dirty="0">
                <a:solidFill>
                  <a:srgbClr val="AEBBD0"/>
                </a:solidFill>
                <a:latin typeface="Calibri" pitchFamily="34" charset="0"/>
                <a:ea typeface="Calibri" pitchFamily="34" charset="-122"/>
                <a:cs typeface="Calibri" pitchFamily="34" charset="-120"/>
              </a:rPr>
              <a:t>mean validation error, baseline → residual network</a:t>
            </a:r>
            <a:endParaRPr lang="en-US" sz="1200" dirty="0"/>
          </a:p>
        </p:txBody>
      </p:sp>
      <p:sp>
        <p:nvSpPr>
          <p:cNvPr id="8" name="tr_s2#v"/>
          <p:cNvSpPr txBox="1"/>
          <p:nvPr/>
        </p:nvSpPr>
        <p:spPr>
          <a:xfrm>
            <a:off x="7909560" y="2834640"/>
            <a:ext cx="3749040" cy="502920"/>
          </a:xfrm>
          <a:prstGeom prst="rect">
            <a:avLst/>
          </a:prstGeom>
          <a:noFill/>
          <a:ln/>
        </p:spPr>
        <p:txBody>
          <a:bodyPr wrap="square" lIns="0" tIns="0" rIns="0" bIns="0" rtlCol="0" anchor="t"/>
          <a:lstStyle/>
          <a:p>
            <a:pPr indent="0" marL="0">
              <a:buNone/>
            </a:pPr>
            <a:r>
              <a:rPr lang="en-US" sz="2200" b="1" dirty="0">
                <a:solidFill>
                  <a:srgbClr val="EEF3FA"/>
                </a:solidFill>
                <a:latin typeface="Calibri" pitchFamily="34" charset="0"/>
                <a:ea typeface="Calibri" pitchFamily="34" charset="-122"/>
                <a:cs typeface="Calibri" pitchFamily="34" charset="-120"/>
              </a:rPr>
              <a:t>10× data · 20× parameters</a:t>
            </a:r>
            <a:endParaRPr lang="en-US" sz="2200" dirty="0"/>
          </a:p>
        </p:txBody>
      </p:sp>
      <p:sp>
        <p:nvSpPr>
          <p:cNvPr id="9" name="tr_s2#l"/>
          <p:cNvSpPr txBox="1"/>
          <p:nvPr/>
        </p:nvSpPr>
        <p:spPr>
          <a:xfrm>
            <a:off x="7909560" y="3346704"/>
            <a:ext cx="3749040" cy="457200"/>
          </a:xfrm>
          <a:prstGeom prst="rect">
            <a:avLst/>
          </a:prstGeom>
          <a:noFill/>
          <a:ln/>
        </p:spPr>
        <p:txBody>
          <a:bodyPr wrap="square" lIns="0" tIns="0" rIns="0" bIns="0" rtlCol="0" anchor="t"/>
          <a:lstStyle/>
          <a:p>
            <a:pPr indent="0" marL="0">
              <a:buNone/>
            </a:pPr>
            <a:r>
              <a:rPr lang="en-US" sz="1200" dirty="0">
                <a:solidFill>
                  <a:srgbClr val="AEBBD0"/>
                </a:solidFill>
                <a:latin typeface="Calibri" pitchFamily="34" charset="0"/>
                <a:ea typeface="Calibri" pitchFamily="34" charset="-122"/>
                <a:cs typeface="Calibri" pitchFamily="34" charset="-120"/>
              </a:rPr>
              <a:t>200 k vs 20 k samples; 2.05 M vs 0.10 M parameters</a:t>
            </a:r>
            <a:endParaRPr lang="en-US" sz="1200" dirty="0"/>
          </a:p>
        </p:txBody>
      </p:sp>
      <p:sp>
        <p:nvSpPr>
          <p:cNvPr id="10" name="tr_setup#box"/>
          <p:cNvSpPr/>
          <p:nvPr/>
        </p:nvSpPr>
        <p:spPr>
          <a:xfrm>
            <a:off x="7909560" y="3931920"/>
            <a:ext cx="3733495" cy="2103120"/>
          </a:xfrm>
          <a:prstGeom prst="roundRect">
            <a:avLst>
              <a:gd name="adj" fmla="val 4348"/>
            </a:avLst>
          </a:prstGeom>
          <a:solidFill>
            <a:srgbClr val="0F1B2D"/>
          </a:solidFill>
          <a:ln w="12700">
            <a:solidFill>
              <a:srgbClr val="23344F"/>
            </a:solidFill>
            <a:prstDash val="solid"/>
          </a:ln>
        </p:spPr>
      </p:sp>
      <p:sp>
        <p:nvSpPr>
          <p:cNvPr id="11" name="tr_setup#k"/>
          <p:cNvSpPr txBox="1"/>
          <p:nvPr/>
        </p:nvSpPr>
        <p:spPr>
          <a:xfrm>
            <a:off x="8110728" y="4114800"/>
            <a:ext cx="3331159" cy="228600"/>
          </a:xfrm>
          <a:prstGeom prst="rect">
            <a:avLst/>
          </a:prstGeom>
          <a:noFill/>
          <a:ln/>
        </p:spPr>
        <p:txBody>
          <a:bodyPr wrap="square" lIns="0" tIns="0" rIns="0" bIns="0" rtlCol="0" anchor="t"/>
          <a:lstStyle/>
          <a:p>
            <a:pPr indent="0" marL="0">
              <a:buNone/>
            </a:pPr>
            <a:r>
              <a:rPr lang="en-US" sz="1050" b="1" spc="200" kern="0" dirty="0">
                <a:solidFill>
                  <a:srgbClr val="4FD6F2"/>
                </a:solidFill>
                <a:latin typeface="Calibri" pitchFamily="34" charset="0"/>
                <a:ea typeface="Calibri" pitchFamily="34" charset="-122"/>
                <a:cs typeface="Calibri" pitchFamily="34" charset="-120"/>
              </a:rPr>
              <a:t>SET-UP</a:t>
            </a:r>
            <a:endParaRPr lang="en-US" sz="1050" dirty="0"/>
          </a:p>
        </p:txBody>
      </p:sp>
      <p:sp>
        <p:nvSpPr>
          <p:cNvPr id="12" name="tr_setup#b"/>
          <p:cNvSpPr txBox="1"/>
          <p:nvPr/>
        </p:nvSpPr>
        <p:spPr>
          <a:xfrm>
            <a:off x="8110728" y="4407408"/>
            <a:ext cx="3331159" cy="1517904"/>
          </a:xfrm>
          <a:prstGeom prst="rect">
            <a:avLst/>
          </a:prstGeom>
          <a:noFill/>
          <a:ln/>
        </p:spPr>
        <p:txBody>
          <a:bodyPr wrap="square" lIns="0" tIns="0" rIns="0" bIns="0" rtlCol="0" anchor="t"/>
          <a:lstStyle/>
          <a:p>
            <a:pPr indent="0" marL="0">
              <a:spcAft>
                <a:spcPts val="400"/>
              </a:spcAft>
              <a:buNone/>
            </a:pPr>
            <a:r>
              <a:rPr lang="en-US" sz="1250" dirty="0">
                <a:solidFill>
                  <a:srgbClr val="AEBBD0"/>
                </a:solidFill>
                <a:latin typeface="Calibri" pitchFamily="34" charset="0"/>
                <a:ea typeface="Calibri" pitchFamily="34" charset="-122"/>
                <a:cs typeface="Calibri" pitchFamily="34" charset="-120"/>
              </a:rPr>
              <a:t>Adam · lr 0.001 · batch 256 · 85 / 15 split</a:t>
            </a:r>
            <a:endParaRPr lang="en-US" sz="1250" dirty="0"/>
          </a:p>
          <a:p>
            <a:pPr indent="0" marL="0">
              <a:spcAft>
                <a:spcPts val="400"/>
              </a:spcAft>
              <a:buNone/>
            </a:pPr>
            <a:r>
              <a:rPr lang="en-US" sz="1250" dirty="0">
                <a:solidFill>
                  <a:srgbClr val="AEBBD0"/>
                </a:solidFill>
                <a:latin typeface="Calibri" pitchFamily="34" charset="0"/>
                <a:ea typeface="Calibri" pitchFamily="34" charset="-122"/>
                <a:cs typeface="Calibri" pitchFamily="34" charset="-120"/>
              </a:rPr>
              <a:t>Classifier: 15 epochs, BCE loss</a:t>
            </a:r>
            <a:endParaRPr lang="en-US" sz="1250" dirty="0"/>
          </a:p>
          <a:p>
            <a:pPr indent="0" marL="0">
              <a:spcAft>
                <a:spcPts val="400"/>
              </a:spcAft>
              <a:buNone/>
            </a:pPr>
            <a:r>
              <a:rPr lang="en-US" sz="1250" dirty="0">
                <a:solidFill>
                  <a:srgbClr val="AEBBD0"/>
                </a:solidFill>
                <a:latin typeface="Calibri" pitchFamily="34" charset="0"/>
                <a:ea typeface="Calibri" pitchFamily="34" charset="-122"/>
                <a:cs typeface="Calibri" pitchFamily="34" charset="-120"/>
              </a:rPr>
              <a:t>IK: 60 epochs (baseline), 120 (residual)</a:t>
            </a:r>
            <a:endParaRPr lang="en-US" sz="1250" dirty="0"/>
          </a:p>
          <a:p>
            <a:pPr indent="0" marL="0">
              <a:spcAft>
                <a:spcPts val="400"/>
              </a:spcAft>
              <a:buNone/>
            </a:pPr>
            <a:r>
              <a:rPr lang="en-US" sz="1250" dirty="0">
                <a:solidFill>
                  <a:srgbClr val="AEBBD0"/>
                </a:solidFill>
                <a:latin typeface="Calibri" pitchFamily="34" charset="0"/>
                <a:ea typeface="Calibri" pitchFamily="34" charset="-122"/>
                <a:cs typeface="Calibri" pitchFamily="34" charset="-120"/>
              </a:rPr>
              <a:t>Baseline 26 s on a CPU · residual 719 s on an RTX A6000</a:t>
            </a:r>
            <a:endParaRPr lang="en-US" sz="1250" dirty="0"/>
          </a:p>
        </p:txBody>
      </p:sp>
      <p:sp>
        <p:nvSpPr>
          <p:cNvPr id="25" name="Slide Number Placeholder 0"/>
          <p:cNvSpPr>
            <a:spLocks noGrp="1"/>
          </p:cNvSpPr>
          <p:nvPr>
            <p:ph type="sldNum" sz="quarter" idx="4294967295"/>
          </p:nvPr>
        </p:nvSpPr>
        <p:spPr>
          <a:xfrm>
            <a:off x="11094415" y="6446520"/>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7F8FA8"/>
                </a:solidFill>
              </a:defRPr>
            </a:lvl1pPr>
          </a:lstStyle>
          <a:p>
            <a:pPr algn="r"/>
            <a:fld id="{F7021451-1387-4CA6-816F-3879F97B5CBC}" type="slidenum">
              <a:rPr b="0" lang="en-US"/>
              <a:t>11</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7" fill="hold">
                            <p:stCondLst>
                              <p:cond delay="0"/>
                            </p:stCondLst>
                            <p:childTnLst>
                              <p:par>
                                <p:cTn id="4" presetID="10" presetClass="entr" presetSubtype="0" fill="hold" grpId="0" nodeType="afterEffect">
                                  <p:stCondLst>
                                    <p:cond delay="0"/>
                                  </p:stCondLst>
                                  <p:childTnLst>
                                    <p:set>
                                      <p:cBhvr>
                                        <p:cTn id="5" dur="1" fill="hold">
                                          <p:stCondLst>
                                            <p:cond delay="0"/>
                                          </p:stCondLst>
                                        </p:cTn>
                                        <p:tgtEl>
                                          <p:spTgt spid="5"/>
                                        </p:tgtEl>
                                        <p:attrNameLst>
                                          <p:attrName>style.visibility</p:attrName>
                                        </p:attrNameLst>
                                      </p:cBhvr>
                                      <p:to>
                                        <p:strVal val="visible"/>
                                      </p:to>
                                    </p:set>
                                    <p:animEffect transition="in" filter="fade">
                                      <p:cBhvr>
                                        <p:cTn id="6" dur="420"/>
                                        <p:tgtEl>
                                          <p:spTgt spid="5"/>
                                        </p:tgtEl>
                                      </p:cBhvr>
                                    </p:animEffect>
                                  </p:childTnLst>
                                </p:cTn>
                              </p:par>
                            </p:childTnLst>
                          </p:cTn>
                        </p:par>
                        <p:par>
                          <p:cTn id="14" fill="hold">
                            <p:stCondLst>
                              <p:cond delay="0"/>
                            </p:stCondLst>
                            <p:childTnLst>
                              <p:par>
                                <p:cTn id="8" presetID="10" presetClass="entr" presetSubtype="0" fill="hold" grpId="0" nodeType="after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20"/>
                                        <p:tgtEl>
                                          <p:spTgt spid="6"/>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7"/>
                                        </p:tgtEl>
                                        <p:attrNameLst>
                                          <p:attrName>style.visibility</p:attrName>
                                        </p:attrNameLst>
                                      </p:cBhvr>
                                      <p:to>
                                        <p:strVal val="visible"/>
                                      </p:to>
                                    </p:set>
                                    <p:animEffect transition="in" filter="fade">
                                      <p:cBhvr>
                                        <p:cTn id="13" dur="420"/>
                                        <p:tgtEl>
                                          <p:spTgt spid="7"/>
                                        </p:tgtEl>
                                      </p:cBhvr>
                                    </p:animEffect>
                                  </p:childTnLst>
                                </p:cTn>
                              </p:par>
                            </p:childTnLst>
                          </p:cTn>
                        </p:par>
                        <p:par>
                          <p:cTn id="21" fill="hold">
                            <p:stCondLst>
                              <p:cond delay="260"/>
                            </p:stCondLst>
                            <p:childTnLst>
                              <p:par>
                                <p:cTn id="15" presetID="10" presetClass="entr" presetSubtype="0" fill="hold" grpId="0" nodeType="after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fade">
                                      <p:cBhvr>
                                        <p:cTn id="17" dur="420"/>
                                        <p:tgtEl>
                                          <p:spTgt spid="8"/>
                                        </p:tgtEl>
                                      </p:cBhvr>
                                    </p:animEffect>
                                  </p:childTnLst>
                                </p:cTn>
                              </p:par>
                              <p:par>
                                <p:cTn id="18" presetID="10" presetClass="entr" presetSubtype="0" fill="hold" grpId="0" nodeType="with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420"/>
                                        <p:tgtEl>
                                          <p:spTgt spid="9"/>
                                        </p:tgtEl>
                                      </p:cBhvr>
                                    </p:animEffect>
                                  </p:childTnLst>
                                </p:cTn>
                              </p:par>
                            </p:childTnLst>
                          </p:cTn>
                        </p:par>
                        <p:par>
                          <p:cTn id="31" fill="hold">
                            <p:stCondLst>
                              <p:cond delay="520"/>
                            </p:stCondLst>
                            <p:childTnLst>
                              <p:par>
                                <p:cTn id="22" presetID="10" presetClass="entr" presetSubtype="0" fill="hold" grpId="0" nodeType="after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20"/>
                                        <p:tgtEl>
                                          <p:spTgt spid="10"/>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1"/>
                                        </p:tgtEl>
                                        <p:attrNameLst>
                                          <p:attrName>style.visibility</p:attrName>
                                        </p:attrNameLst>
                                      </p:cBhvr>
                                      <p:to>
                                        <p:strVal val="visible"/>
                                      </p:to>
                                    </p:set>
                                    <p:animEffect transition="in" filter="fade">
                                      <p:cBhvr>
                                        <p:cTn id="27" dur="420"/>
                                        <p:tgtEl>
                                          <p:spTgt spid="11"/>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2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AsOne/>
      </p:bldGraphic>
      <p:bldP spid="6" grpId="0" animBg="1"/>
      <p:bldP spid="7" grpId="0" animBg="1"/>
      <p:bldP spid="8" grpId="0" animBg="1"/>
      <p:bldP spid="9" grpId="0" animBg="1"/>
      <p:bldP spid="10" grpId="0"/>
      <p:bldP spid="11" grpId="0" animBg="1"/>
      <p:bldP spid="12"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1" type="body" hasCustomPrompt="1"/>
          </p:nvPr>
        </p:nvSpPr>
        <p:spPr>
          <a:xfrm>
            <a:off x="731520" y="310896"/>
            <a:ext cx="8686800" cy="329184"/>
          </a:xfrm>
          <a:prstGeom prst="rect">
            <a:avLst/>
          </a:prstGeom>
          <a:noFill/>
          <a:ln/>
        </p:spPr>
        <p:txBody>
          <a:bodyPr wrap="square" lIns="0" tIns="0" rIns="0" bIns="0" rtlCol="0" anchor="ctr"/>
          <a:lstStyle/>
          <a:p>
            <a:pPr algn="l" indent="0" marL="0">
              <a:buNone/>
            </a:pPr>
            <a:r>
              <a:rPr lang="en-US" sz="1200" b="1" spc="300" kern="0" dirty="0">
                <a:solidFill>
                  <a:srgbClr val="AEBBD0"/>
                </a:solidFill>
              </a:rPr>
              <a:t>LEVEL 1 · INFERENCE</a:t>
            </a:r>
            <a:endParaRPr lang="en-US" sz="1200" dirty="0"/>
          </a:p>
        </p:txBody>
      </p:sp>
      <p:sp>
        <p:nvSpPr>
          <p:cNvPr id="3" name="Text 0"/>
          <p:cNvSpPr/>
          <p:nvPr>
            <p:ph idx="102" type="title" hasCustomPrompt="1"/>
          </p:nvPr>
        </p:nvSpPr>
        <p:spPr>
          <a:xfrm>
            <a:off x="548640" y="658368"/>
            <a:ext cx="11094415" cy="731520"/>
          </a:xfrm>
          <a:prstGeom prst="rect">
            <a:avLst/>
          </a:prstGeom>
          <a:noFill/>
          <a:ln/>
        </p:spPr>
        <p:txBody>
          <a:bodyPr wrap="square" lIns="0" tIns="0" rIns="0" bIns="0" rtlCol="0" anchor="ctr"/>
          <a:lstStyle/>
          <a:p>
            <a:pPr algn="l" indent="0" marL="0">
              <a:buNone/>
            </a:pPr>
            <a:r>
              <a:rPr lang="en-US" sz="3200" b="1" dirty="0">
                <a:solidFill>
                  <a:srgbClr val="EEF3FA"/>
                </a:solidFill>
              </a:rPr>
              <a:t>Inference: guess, polish, check</a:t>
            </a:r>
            <a:endParaRPr lang="en-US" sz="3200" dirty="0"/>
          </a:p>
        </p:txBody>
      </p:sp>
      <p:sp>
        <p:nvSpPr>
          <p:cNvPr id="5" name="i_f0#box"/>
          <p:cNvSpPr/>
          <p:nvPr/>
        </p:nvSpPr>
        <p:spPr>
          <a:xfrm>
            <a:off x="548640" y="1828800"/>
            <a:ext cx="1938528" cy="1417320"/>
          </a:xfrm>
          <a:prstGeom prst="roundRect">
            <a:avLst>
              <a:gd name="adj" fmla="val 6452"/>
            </a:avLst>
          </a:prstGeom>
          <a:solidFill>
            <a:srgbClr val="0F1B2D"/>
          </a:solidFill>
          <a:ln w="12700">
            <a:solidFill>
              <a:srgbClr val="23344F"/>
            </a:solidFill>
            <a:prstDash val="solid"/>
          </a:ln>
        </p:spPr>
      </p:sp>
      <p:sp>
        <p:nvSpPr>
          <p:cNvPr id="6" name="i_f0#h"/>
          <p:cNvSpPr txBox="1"/>
          <p:nvPr/>
        </p:nvSpPr>
        <p:spPr>
          <a:xfrm>
            <a:off x="749808" y="2011680"/>
            <a:ext cx="1536192" cy="384048"/>
          </a:xfrm>
          <a:prstGeom prst="rect">
            <a:avLst/>
          </a:prstGeom>
          <a:noFill/>
          <a:ln/>
        </p:spPr>
        <p:txBody>
          <a:bodyPr wrap="square" lIns="0" tIns="0" rIns="0" bIns="0" rtlCol="0" anchor="t"/>
          <a:lstStyle/>
          <a:p>
            <a:pPr indent="0" marL="0">
              <a:buNone/>
            </a:pPr>
            <a:r>
              <a:rPr lang="en-US" sz="1500" b="1" dirty="0">
                <a:solidFill>
                  <a:srgbClr val="EEF3FA"/>
                </a:solidFill>
                <a:latin typeface="Calibri" pitchFamily="34" charset="0"/>
                <a:ea typeface="Calibri" pitchFamily="34" charset="-122"/>
                <a:cs typeface="Calibri" pitchFamily="34" charset="-120"/>
              </a:rPr>
              <a:t>Target pose + seed</a:t>
            </a:r>
            <a:endParaRPr lang="en-US" sz="1500" dirty="0"/>
          </a:p>
        </p:txBody>
      </p:sp>
      <p:sp>
        <p:nvSpPr>
          <p:cNvPr id="7" name="i_f0#b"/>
          <p:cNvSpPr txBox="1"/>
          <p:nvPr/>
        </p:nvSpPr>
        <p:spPr>
          <a:xfrm>
            <a:off x="749808" y="2377440"/>
            <a:ext cx="1536192" cy="758952"/>
          </a:xfrm>
          <a:prstGeom prst="rect">
            <a:avLst/>
          </a:prstGeom>
          <a:noFill/>
          <a:ln/>
        </p:spPr>
        <p:txBody>
          <a:bodyPr wrap="square" lIns="0" tIns="0" rIns="0" bIns="0" rtlCol="0" anchor="t"/>
          <a:lstStyle/>
          <a:p>
            <a:pPr indent="0" marL="0">
              <a:spcAft>
                <a:spcPts val="400"/>
              </a:spcAft>
              <a:buNone/>
            </a:pPr>
            <a:r>
              <a:rPr lang="en-US" sz="1250" dirty="0">
                <a:solidFill>
                  <a:srgbClr val="AEBBD0"/>
                </a:solidFill>
                <a:latin typeface="Calibri" pitchFamily="34" charset="0"/>
                <a:ea typeface="Calibri" pitchFamily="34" charset="-122"/>
                <a:cs typeface="Calibri" pitchFamily="34" charset="-120"/>
              </a:rPr>
              <a:t>13 numbers</a:t>
            </a:r>
            <a:endParaRPr lang="en-US" sz="1250" dirty="0"/>
          </a:p>
        </p:txBody>
      </p:sp>
      <p:sp>
        <p:nvSpPr>
          <p:cNvPr id="8" name="i_f0#arrow"/>
          <p:cNvSpPr/>
          <p:nvPr/>
        </p:nvSpPr>
        <p:spPr>
          <a:xfrm>
            <a:off x="2523744" y="2542032"/>
            <a:ext cx="277292" cy="0"/>
          </a:xfrm>
          <a:prstGeom prst="line">
            <a:avLst/>
          </a:prstGeom>
          <a:noFill/>
          <a:ln w="22225">
            <a:solidFill>
              <a:srgbClr val="4FD6F2"/>
            </a:solidFill>
            <a:prstDash val="solid"/>
            <a:tailEnd type="triangle"/>
          </a:ln>
        </p:spPr>
      </p:sp>
      <p:sp>
        <p:nvSpPr>
          <p:cNvPr id="9" name="i_f1#box"/>
          <p:cNvSpPr/>
          <p:nvPr/>
        </p:nvSpPr>
        <p:spPr>
          <a:xfrm>
            <a:off x="2837612" y="1828800"/>
            <a:ext cx="1938528" cy="1417320"/>
          </a:xfrm>
          <a:prstGeom prst="roundRect">
            <a:avLst>
              <a:gd name="adj" fmla="val 6452"/>
            </a:avLst>
          </a:prstGeom>
          <a:solidFill>
            <a:srgbClr val="0F1B2D"/>
          </a:solidFill>
          <a:ln w="12700">
            <a:solidFill>
              <a:srgbClr val="23344F"/>
            </a:solidFill>
            <a:prstDash val="solid"/>
          </a:ln>
        </p:spPr>
      </p:sp>
      <p:sp>
        <p:nvSpPr>
          <p:cNvPr id="10" name="i_f1#h"/>
          <p:cNvSpPr txBox="1"/>
          <p:nvPr/>
        </p:nvSpPr>
        <p:spPr>
          <a:xfrm>
            <a:off x="3038780" y="2011680"/>
            <a:ext cx="1536192" cy="384048"/>
          </a:xfrm>
          <a:prstGeom prst="rect">
            <a:avLst/>
          </a:prstGeom>
          <a:noFill/>
          <a:ln/>
        </p:spPr>
        <p:txBody>
          <a:bodyPr wrap="square" lIns="0" tIns="0" rIns="0" bIns="0" rtlCol="0" anchor="t"/>
          <a:lstStyle/>
          <a:p>
            <a:pPr indent="0" marL="0">
              <a:buNone/>
            </a:pPr>
            <a:r>
              <a:rPr lang="en-US" sz="1500" b="1" dirty="0">
                <a:solidFill>
                  <a:srgbClr val="EEF3FA"/>
                </a:solidFill>
                <a:latin typeface="Calibri" pitchFamily="34" charset="0"/>
                <a:ea typeface="Calibri" pitchFamily="34" charset="-122"/>
                <a:cs typeface="Calibri" pitchFamily="34" charset="-120"/>
              </a:rPr>
              <a:t>Neural network</a:t>
            </a:r>
            <a:endParaRPr lang="en-US" sz="1500" dirty="0"/>
          </a:p>
        </p:txBody>
      </p:sp>
      <p:sp>
        <p:nvSpPr>
          <p:cNvPr id="11" name="i_f1#b"/>
          <p:cNvSpPr txBox="1"/>
          <p:nvPr/>
        </p:nvSpPr>
        <p:spPr>
          <a:xfrm>
            <a:off x="3038780" y="2377440"/>
            <a:ext cx="1536192" cy="758952"/>
          </a:xfrm>
          <a:prstGeom prst="rect">
            <a:avLst/>
          </a:prstGeom>
          <a:noFill/>
          <a:ln/>
        </p:spPr>
        <p:txBody>
          <a:bodyPr wrap="square" lIns="0" tIns="0" rIns="0" bIns="0" rtlCol="0" anchor="t"/>
          <a:lstStyle/>
          <a:p>
            <a:pPr indent="0" marL="0">
              <a:spcAft>
                <a:spcPts val="400"/>
              </a:spcAft>
              <a:buNone/>
            </a:pPr>
            <a:r>
              <a:rPr lang="en-US" sz="1250" dirty="0">
                <a:solidFill>
                  <a:srgbClr val="AEBBD0"/>
                </a:solidFill>
                <a:latin typeface="Calibri" pitchFamily="34" charset="0"/>
                <a:ea typeface="Calibri" pitchFamily="34" charset="-122"/>
                <a:cs typeface="Calibri" pitchFamily="34" charset="-120"/>
              </a:rPr>
              <a:t>≈ 1 ms · cm-level guess</a:t>
            </a:r>
            <a:endParaRPr lang="en-US" sz="1250" dirty="0"/>
          </a:p>
        </p:txBody>
      </p:sp>
      <p:sp>
        <p:nvSpPr>
          <p:cNvPr id="12" name="i_f1#arrow"/>
          <p:cNvSpPr/>
          <p:nvPr/>
        </p:nvSpPr>
        <p:spPr>
          <a:xfrm>
            <a:off x="4812716" y="2542032"/>
            <a:ext cx="277292" cy="0"/>
          </a:xfrm>
          <a:prstGeom prst="line">
            <a:avLst/>
          </a:prstGeom>
          <a:noFill/>
          <a:ln w="22225">
            <a:solidFill>
              <a:srgbClr val="4FD6F2"/>
            </a:solidFill>
            <a:prstDash val="solid"/>
            <a:tailEnd type="triangle"/>
          </a:ln>
        </p:spPr>
      </p:sp>
      <p:sp>
        <p:nvSpPr>
          <p:cNvPr id="13" name="i_f2#box"/>
          <p:cNvSpPr/>
          <p:nvPr/>
        </p:nvSpPr>
        <p:spPr>
          <a:xfrm>
            <a:off x="5126584" y="1828800"/>
            <a:ext cx="1938528" cy="1417320"/>
          </a:xfrm>
          <a:prstGeom prst="roundRect">
            <a:avLst>
              <a:gd name="adj" fmla="val 6452"/>
            </a:avLst>
          </a:prstGeom>
          <a:solidFill>
            <a:srgbClr val="0F1B2D"/>
          </a:solidFill>
          <a:ln w="12700">
            <a:solidFill>
              <a:srgbClr val="23344F"/>
            </a:solidFill>
            <a:prstDash val="solid"/>
          </a:ln>
        </p:spPr>
      </p:sp>
      <p:sp>
        <p:nvSpPr>
          <p:cNvPr id="14" name="i_f2#h"/>
          <p:cNvSpPr txBox="1"/>
          <p:nvPr/>
        </p:nvSpPr>
        <p:spPr>
          <a:xfrm>
            <a:off x="5327752" y="2011680"/>
            <a:ext cx="1536192" cy="384048"/>
          </a:xfrm>
          <a:prstGeom prst="rect">
            <a:avLst/>
          </a:prstGeom>
          <a:noFill/>
          <a:ln/>
        </p:spPr>
        <p:txBody>
          <a:bodyPr wrap="square" lIns="0" tIns="0" rIns="0" bIns="0" rtlCol="0" anchor="t"/>
          <a:lstStyle/>
          <a:p>
            <a:pPr indent="0" marL="0">
              <a:buNone/>
            </a:pPr>
            <a:r>
              <a:rPr lang="en-US" sz="1500" b="1" dirty="0">
                <a:solidFill>
                  <a:srgbClr val="EEF3FA"/>
                </a:solidFill>
                <a:latin typeface="Calibri" pitchFamily="34" charset="0"/>
                <a:ea typeface="Calibri" pitchFamily="34" charset="-122"/>
                <a:cs typeface="Calibri" pitchFamily="34" charset="-120"/>
              </a:rPr>
              <a:t>Wrap into limits</a:t>
            </a:r>
            <a:endParaRPr lang="en-US" sz="1500" dirty="0"/>
          </a:p>
        </p:txBody>
      </p:sp>
      <p:sp>
        <p:nvSpPr>
          <p:cNvPr id="15" name="i_f2#b"/>
          <p:cNvSpPr txBox="1"/>
          <p:nvPr/>
        </p:nvSpPr>
        <p:spPr>
          <a:xfrm>
            <a:off x="5327752" y="2377440"/>
            <a:ext cx="1536192" cy="758952"/>
          </a:xfrm>
          <a:prstGeom prst="rect">
            <a:avLst/>
          </a:prstGeom>
          <a:noFill/>
          <a:ln/>
        </p:spPr>
        <p:txBody>
          <a:bodyPr wrap="square" lIns="0" tIns="0" rIns="0" bIns="0" rtlCol="0" anchor="t"/>
          <a:lstStyle/>
          <a:p>
            <a:pPr indent="0" marL="0">
              <a:spcAft>
                <a:spcPts val="400"/>
              </a:spcAft>
              <a:buNone/>
            </a:pPr>
            <a:r>
              <a:rPr lang="en-US" sz="1250" dirty="0">
                <a:solidFill>
                  <a:srgbClr val="AEBBD0"/>
                </a:solidFill>
                <a:latin typeface="Calibri" pitchFamily="34" charset="0"/>
                <a:ea typeface="Calibri" pitchFamily="34" charset="-122"/>
                <a:cs typeface="Calibri" pitchFamily="34" charset="-120"/>
              </a:rPr>
              <a:t>shift by ±360°, same pose</a:t>
            </a:r>
            <a:endParaRPr lang="en-US" sz="1250" dirty="0"/>
          </a:p>
        </p:txBody>
      </p:sp>
      <p:sp>
        <p:nvSpPr>
          <p:cNvPr id="16" name="i_f2#arrow"/>
          <p:cNvSpPr/>
          <p:nvPr/>
        </p:nvSpPr>
        <p:spPr>
          <a:xfrm>
            <a:off x="7101688" y="2542032"/>
            <a:ext cx="277292" cy="0"/>
          </a:xfrm>
          <a:prstGeom prst="line">
            <a:avLst/>
          </a:prstGeom>
          <a:noFill/>
          <a:ln w="22225">
            <a:solidFill>
              <a:srgbClr val="4FD6F2"/>
            </a:solidFill>
            <a:prstDash val="solid"/>
            <a:tailEnd type="triangle"/>
          </a:ln>
        </p:spPr>
      </p:sp>
      <p:sp>
        <p:nvSpPr>
          <p:cNvPr id="17" name="i_f3#box"/>
          <p:cNvSpPr/>
          <p:nvPr/>
        </p:nvSpPr>
        <p:spPr>
          <a:xfrm>
            <a:off x="7415555" y="1828800"/>
            <a:ext cx="1938528" cy="1417320"/>
          </a:xfrm>
          <a:prstGeom prst="roundRect">
            <a:avLst>
              <a:gd name="adj" fmla="val 6452"/>
            </a:avLst>
          </a:prstGeom>
          <a:solidFill>
            <a:srgbClr val="1A2C47"/>
          </a:solidFill>
          <a:ln w="12700">
            <a:solidFill>
              <a:srgbClr val="3987E5"/>
            </a:solidFill>
            <a:prstDash val="solid"/>
          </a:ln>
        </p:spPr>
      </p:sp>
      <p:sp>
        <p:nvSpPr>
          <p:cNvPr id="18" name="i_f3#h"/>
          <p:cNvSpPr txBox="1"/>
          <p:nvPr/>
        </p:nvSpPr>
        <p:spPr>
          <a:xfrm>
            <a:off x="7616723" y="2011680"/>
            <a:ext cx="1536192" cy="384048"/>
          </a:xfrm>
          <a:prstGeom prst="rect">
            <a:avLst/>
          </a:prstGeom>
          <a:noFill/>
          <a:ln/>
        </p:spPr>
        <p:txBody>
          <a:bodyPr wrap="square" lIns="0" tIns="0" rIns="0" bIns="0" rtlCol="0" anchor="t"/>
          <a:lstStyle/>
          <a:p>
            <a:pPr indent="0" marL="0">
              <a:buNone/>
            </a:pPr>
            <a:r>
              <a:rPr lang="en-US" sz="1500" b="1" dirty="0">
                <a:solidFill>
                  <a:srgbClr val="EEF3FA"/>
                </a:solidFill>
                <a:latin typeface="Calibri" pitchFamily="34" charset="0"/>
                <a:ea typeface="Calibri" pitchFamily="34" charset="-122"/>
                <a:cs typeface="Calibri" pitchFamily="34" charset="-120"/>
              </a:rPr>
              <a:t>LM refinement</a:t>
            </a:r>
            <a:endParaRPr lang="en-US" sz="1500" dirty="0"/>
          </a:p>
        </p:txBody>
      </p:sp>
      <p:sp>
        <p:nvSpPr>
          <p:cNvPr id="19" name="i_f3#b"/>
          <p:cNvSpPr txBox="1"/>
          <p:nvPr/>
        </p:nvSpPr>
        <p:spPr>
          <a:xfrm>
            <a:off x="7616723" y="2377440"/>
            <a:ext cx="1536192" cy="758952"/>
          </a:xfrm>
          <a:prstGeom prst="rect">
            <a:avLst/>
          </a:prstGeom>
          <a:noFill/>
          <a:ln/>
        </p:spPr>
        <p:txBody>
          <a:bodyPr wrap="square" lIns="0" tIns="0" rIns="0" bIns="0" rtlCol="0" anchor="t"/>
          <a:lstStyle/>
          <a:p>
            <a:pPr indent="0" marL="0">
              <a:spcAft>
                <a:spcPts val="400"/>
              </a:spcAft>
              <a:buNone/>
            </a:pPr>
            <a:r>
              <a:rPr lang="en-US" sz="1250" dirty="0">
                <a:solidFill>
                  <a:srgbClr val="AEBBD0"/>
                </a:solidFill>
                <a:latin typeface="Calibri" pitchFamily="34" charset="0"/>
                <a:ea typeface="Calibri" pitchFamily="34" charset="-122"/>
                <a:cs typeface="Calibri" pitchFamily="34" charset="-120"/>
              </a:rPr>
              <a:t>Δq = (JᵀJ + λI)⁻¹ Jᵀe</a:t>
            </a:r>
            <a:endParaRPr lang="en-US" sz="1250" dirty="0"/>
          </a:p>
        </p:txBody>
      </p:sp>
      <p:sp>
        <p:nvSpPr>
          <p:cNvPr id="20" name="i_f3#arrow"/>
          <p:cNvSpPr/>
          <p:nvPr/>
        </p:nvSpPr>
        <p:spPr>
          <a:xfrm>
            <a:off x="9390659" y="2542032"/>
            <a:ext cx="277292" cy="0"/>
          </a:xfrm>
          <a:prstGeom prst="line">
            <a:avLst/>
          </a:prstGeom>
          <a:noFill/>
          <a:ln w="22225">
            <a:solidFill>
              <a:srgbClr val="4FD6F2"/>
            </a:solidFill>
            <a:prstDash val="solid"/>
            <a:tailEnd type="triangle"/>
          </a:ln>
        </p:spPr>
      </p:sp>
      <p:sp>
        <p:nvSpPr>
          <p:cNvPr id="21" name="i_f4#box"/>
          <p:cNvSpPr/>
          <p:nvPr/>
        </p:nvSpPr>
        <p:spPr>
          <a:xfrm>
            <a:off x="9704527" y="1828800"/>
            <a:ext cx="1938528" cy="1417320"/>
          </a:xfrm>
          <a:prstGeom prst="roundRect">
            <a:avLst>
              <a:gd name="adj" fmla="val 6452"/>
            </a:avLst>
          </a:prstGeom>
          <a:solidFill>
            <a:srgbClr val="0F1B2D"/>
          </a:solidFill>
          <a:ln w="12700">
            <a:solidFill>
              <a:srgbClr val="23344F"/>
            </a:solidFill>
            <a:prstDash val="solid"/>
          </a:ln>
        </p:spPr>
      </p:sp>
      <p:sp>
        <p:nvSpPr>
          <p:cNvPr id="22" name="i_f4#h"/>
          <p:cNvSpPr txBox="1"/>
          <p:nvPr/>
        </p:nvSpPr>
        <p:spPr>
          <a:xfrm>
            <a:off x="9905695" y="2011680"/>
            <a:ext cx="1536192" cy="384048"/>
          </a:xfrm>
          <a:prstGeom prst="rect">
            <a:avLst/>
          </a:prstGeom>
          <a:noFill/>
          <a:ln/>
        </p:spPr>
        <p:txBody>
          <a:bodyPr wrap="square" lIns="0" tIns="0" rIns="0" bIns="0" rtlCol="0" anchor="t"/>
          <a:lstStyle/>
          <a:p>
            <a:pPr indent="0" marL="0">
              <a:buNone/>
            </a:pPr>
            <a:r>
              <a:rPr lang="en-US" sz="1500" b="1" dirty="0">
                <a:solidFill>
                  <a:srgbClr val="EEF3FA"/>
                </a:solidFill>
                <a:latin typeface="Calibri" pitchFamily="34" charset="0"/>
                <a:ea typeface="Calibri" pitchFamily="34" charset="-122"/>
                <a:cs typeface="Calibri" pitchFamily="34" charset="-120"/>
              </a:rPr>
              <a:t>PyBullet check</a:t>
            </a:r>
            <a:endParaRPr lang="en-US" sz="1500" dirty="0"/>
          </a:p>
        </p:txBody>
      </p:sp>
      <p:sp>
        <p:nvSpPr>
          <p:cNvPr id="23" name="i_f4#b"/>
          <p:cNvSpPr txBox="1"/>
          <p:nvPr/>
        </p:nvSpPr>
        <p:spPr>
          <a:xfrm>
            <a:off x="9905695" y="2377440"/>
            <a:ext cx="1536192" cy="758952"/>
          </a:xfrm>
          <a:prstGeom prst="rect">
            <a:avLst/>
          </a:prstGeom>
          <a:noFill/>
          <a:ln/>
        </p:spPr>
        <p:txBody>
          <a:bodyPr wrap="square" lIns="0" tIns="0" rIns="0" bIns="0" rtlCol="0" anchor="t"/>
          <a:lstStyle/>
          <a:p>
            <a:pPr indent="0" marL="0">
              <a:spcAft>
                <a:spcPts val="400"/>
              </a:spcAft>
              <a:buNone/>
            </a:pPr>
            <a:r>
              <a:rPr lang="en-US" sz="1250" dirty="0">
                <a:solidFill>
                  <a:srgbClr val="AEBBD0"/>
                </a:solidFill>
                <a:latin typeface="Calibri" pitchFamily="34" charset="0"/>
                <a:ea typeface="Calibri" pitchFamily="34" charset="-122"/>
                <a:cs typeface="Calibri" pitchFamily="34" charset="-120"/>
              </a:rPr>
              <a:t>pose · limits · self-collision</a:t>
            </a:r>
            <a:endParaRPr lang="en-US" sz="1250" dirty="0"/>
          </a:p>
        </p:txBody>
      </p:sp>
      <p:sp>
        <p:nvSpPr>
          <p:cNvPr id="24" name="i_acc#bb"/>
          <p:cNvSpPr/>
          <p:nvPr/>
        </p:nvSpPr>
        <p:spPr>
          <a:xfrm>
            <a:off x="10012680" y="3429000"/>
            <a:ext cx="1627632" cy="292608"/>
          </a:xfrm>
          <a:prstGeom prst="roundRect">
            <a:avLst>
              <a:gd name="adj" fmla="val 50000"/>
            </a:avLst>
          </a:prstGeom>
          <a:solidFill>
            <a:srgbClr val="14233A"/>
          </a:solidFill>
          <a:ln w="12700">
            <a:solidFill>
              <a:srgbClr val="0CA30C"/>
            </a:solidFill>
            <a:prstDash val="solid"/>
          </a:ln>
        </p:spPr>
      </p:sp>
      <p:sp>
        <p:nvSpPr>
          <p:cNvPr id="25" name="i_acc#bt"/>
          <p:cNvSpPr txBox="1"/>
          <p:nvPr/>
        </p:nvSpPr>
        <p:spPr>
          <a:xfrm>
            <a:off x="10012680" y="3429000"/>
            <a:ext cx="1627632" cy="292608"/>
          </a:xfrm>
          <a:prstGeom prst="rect">
            <a:avLst/>
          </a:prstGeom>
          <a:noFill/>
          <a:ln/>
        </p:spPr>
        <p:txBody>
          <a:bodyPr wrap="square" lIns="0" tIns="0" rIns="0" bIns="0" rtlCol="0" anchor="ctr"/>
          <a:lstStyle/>
          <a:p>
            <a:pPr algn="ctr" indent="0" marL="0">
              <a:buNone/>
            </a:pPr>
            <a:r>
              <a:rPr lang="en-US" sz="1100" b="1" dirty="0">
                <a:solidFill>
                  <a:srgbClr val="8FF08F"/>
                </a:solidFill>
                <a:latin typeface="Calibri" pitchFamily="34" charset="0"/>
                <a:ea typeface="Calibri" pitchFamily="34" charset="-122"/>
                <a:cs typeface="Calibri" pitchFamily="34" charset="-120"/>
              </a:rPr>
              <a:t>✓ accept</a:t>
            </a:r>
            <a:endParaRPr lang="en-US" sz="1100" dirty="0"/>
          </a:p>
        </p:txBody>
      </p:sp>
      <p:sp>
        <p:nvSpPr>
          <p:cNvPr id="26" name="i_retry"/>
          <p:cNvSpPr txBox="1"/>
          <p:nvPr/>
        </p:nvSpPr>
        <p:spPr>
          <a:xfrm>
            <a:off x="6629400" y="3429000"/>
            <a:ext cx="3291840" cy="292608"/>
          </a:xfrm>
          <a:prstGeom prst="rect">
            <a:avLst/>
          </a:prstGeom>
          <a:noFill/>
          <a:ln/>
        </p:spPr>
        <p:txBody>
          <a:bodyPr wrap="square" lIns="0" tIns="0" rIns="0" bIns="0" rtlCol="0" anchor="ctr"/>
          <a:lstStyle/>
          <a:p>
            <a:pPr algn="r" indent="0" marL="0">
              <a:buNone/>
            </a:pPr>
            <a:r>
              <a:rPr lang="en-US" sz="1100" dirty="0">
                <a:solidFill>
                  <a:srgbClr val="FFD47A"/>
                </a:solidFill>
                <a:latin typeface="Calibri" pitchFamily="34" charset="0"/>
                <a:ea typeface="Calibri" pitchFamily="34" charset="-122"/>
                <a:cs typeface="Calibri" pitchFamily="34" charset="-120"/>
              </a:rPr>
              <a:t>collision → search another IK branch from random starts</a:t>
            </a:r>
            <a:endParaRPr lang="en-US" sz="1100" dirty="0"/>
          </a:p>
        </p:txBody>
      </p:sp>
      <p:sp>
        <p:nvSpPr>
          <p:cNvPr id="27" name="i_s1#v"/>
          <p:cNvSpPr txBox="1"/>
          <p:nvPr/>
        </p:nvSpPr>
        <p:spPr>
          <a:xfrm>
            <a:off x="548640" y="4160520"/>
            <a:ext cx="3474720" cy="502920"/>
          </a:xfrm>
          <a:prstGeom prst="rect">
            <a:avLst/>
          </a:prstGeom>
          <a:noFill/>
          <a:ln/>
        </p:spPr>
        <p:txBody>
          <a:bodyPr wrap="square" lIns="0" tIns="0" rIns="0" bIns="0" rtlCol="0" anchor="t"/>
          <a:lstStyle/>
          <a:p>
            <a:pPr indent="0" marL="0">
              <a:buNone/>
            </a:pPr>
            <a:r>
              <a:rPr lang="en-US" sz="3000" b="1" dirty="0">
                <a:solidFill>
                  <a:srgbClr val="7DB4F5"/>
                </a:solidFill>
                <a:latin typeface="Calibri" pitchFamily="34" charset="0"/>
                <a:ea typeface="Calibri" pitchFamily="34" charset="-122"/>
                <a:cs typeface="Calibri" pitchFamily="34" charset="-120"/>
              </a:rPr>
              <a:t>100 %</a:t>
            </a:r>
            <a:endParaRPr lang="en-US" sz="3000" dirty="0"/>
          </a:p>
        </p:txBody>
      </p:sp>
      <p:sp>
        <p:nvSpPr>
          <p:cNvPr id="28" name="i_s1#l"/>
          <p:cNvSpPr txBox="1"/>
          <p:nvPr/>
        </p:nvSpPr>
        <p:spPr>
          <a:xfrm>
            <a:off x="548640" y="4672584"/>
            <a:ext cx="3474720" cy="457200"/>
          </a:xfrm>
          <a:prstGeom prst="rect">
            <a:avLst/>
          </a:prstGeom>
          <a:noFill/>
          <a:ln/>
        </p:spPr>
        <p:txBody>
          <a:bodyPr wrap="square" lIns="0" tIns="0" rIns="0" bIns="0" rtlCol="0" anchor="t"/>
          <a:lstStyle/>
          <a:p>
            <a:pPr indent="0" marL="0">
              <a:buNone/>
            </a:pPr>
            <a:r>
              <a:rPr lang="en-US" sz="1200" dirty="0">
                <a:solidFill>
                  <a:srgbClr val="AEBBD0"/>
                </a:solidFill>
                <a:latin typeface="Calibri" pitchFamily="34" charset="0"/>
                <a:ea typeface="Calibri" pitchFamily="34" charset="-122"/>
                <a:cs typeface="Calibri" pitchFamily="34" charset="-120"/>
              </a:rPr>
              <a:t>of 2,000 held-out targets within 1 mm and 1°, any starting pose</a:t>
            </a:r>
            <a:endParaRPr lang="en-US" sz="1200" dirty="0"/>
          </a:p>
        </p:txBody>
      </p:sp>
      <p:sp>
        <p:nvSpPr>
          <p:cNvPr id="29" name="i_s2#v"/>
          <p:cNvSpPr txBox="1"/>
          <p:nvPr/>
        </p:nvSpPr>
        <p:spPr>
          <a:xfrm>
            <a:off x="4297680" y="4160520"/>
            <a:ext cx="3474720" cy="502920"/>
          </a:xfrm>
          <a:prstGeom prst="rect">
            <a:avLst/>
          </a:prstGeom>
          <a:noFill/>
          <a:ln/>
        </p:spPr>
        <p:txBody>
          <a:bodyPr wrap="square" lIns="0" tIns="0" rIns="0" bIns="0" rtlCol="0" anchor="t"/>
          <a:lstStyle/>
          <a:p>
            <a:pPr indent="0" marL="0">
              <a:buNone/>
            </a:pPr>
            <a:r>
              <a:rPr lang="en-US" sz="3000" b="1" dirty="0">
                <a:solidFill>
                  <a:srgbClr val="EEF3FA"/>
                </a:solidFill>
                <a:latin typeface="Calibri" pitchFamily="34" charset="0"/>
                <a:ea typeface="Calibri" pitchFamily="34" charset="-122"/>
                <a:cs typeface="Calibri" pitchFamily="34" charset="-120"/>
              </a:rPr>
              <a:t>12.9 ms</a:t>
            </a:r>
            <a:endParaRPr lang="en-US" sz="3000" dirty="0"/>
          </a:p>
        </p:txBody>
      </p:sp>
      <p:sp>
        <p:nvSpPr>
          <p:cNvPr id="30" name="i_s2#l"/>
          <p:cNvSpPr txBox="1"/>
          <p:nvPr/>
        </p:nvSpPr>
        <p:spPr>
          <a:xfrm>
            <a:off x="4297680" y="4672584"/>
            <a:ext cx="3474720" cy="457200"/>
          </a:xfrm>
          <a:prstGeom prst="rect">
            <a:avLst/>
          </a:prstGeom>
          <a:noFill/>
          <a:ln/>
        </p:spPr>
        <p:txBody>
          <a:bodyPr wrap="square" lIns="0" tIns="0" rIns="0" bIns="0" rtlCol="0" anchor="t"/>
          <a:lstStyle/>
          <a:p>
            <a:pPr indent="0" marL="0">
              <a:buNone/>
            </a:pPr>
            <a:r>
              <a:rPr lang="en-US" sz="1200" dirty="0">
                <a:solidFill>
                  <a:srgbClr val="AEBBD0"/>
                </a:solidFill>
                <a:latin typeface="Calibri" pitchFamily="34" charset="0"/>
                <a:ea typeface="Calibri" pitchFamily="34" charset="-122"/>
                <a:cs typeface="Calibri" pitchFamily="34" charset="-120"/>
              </a:rPr>
              <a:t>per target from a warm start (one CPU thread)</a:t>
            </a:r>
            <a:endParaRPr lang="en-US" sz="1200" dirty="0"/>
          </a:p>
        </p:txBody>
      </p:sp>
      <p:sp>
        <p:nvSpPr>
          <p:cNvPr id="31" name="i_s3#v"/>
          <p:cNvSpPr txBox="1"/>
          <p:nvPr/>
        </p:nvSpPr>
        <p:spPr>
          <a:xfrm>
            <a:off x="8046720" y="4160520"/>
            <a:ext cx="3566160" cy="502920"/>
          </a:xfrm>
          <a:prstGeom prst="rect">
            <a:avLst/>
          </a:prstGeom>
          <a:noFill/>
          <a:ln/>
        </p:spPr>
        <p:txBody>
          <a:bodyPr wrap="square" lIns="0" tIns="0" rIns="0" bIns="0" rtlCol="0" anchor="t"/>
          <a:lstStyle/>
          <a:p>
            <a:pPr indent="0" marL="0">
              <a:buNone/>
            </a:pPr>
            <a:r>
              <a:rPr lang="en-US" sz="3000" b="1" dirty="0">
                <a:solidFill>
                  <a:srgbClr val="EEF3FA"/>
                </a:solidFill>
                <a:latin typeface="Calibri" pitchFamily="34" charset="0"/>
                <a:ea typeface="Calibri" pitchFamily="34" charset="-122"/>
                <a:cs typeface="Calibri" pitchFamily="34" charset="-120"/>
              </a:rPr>
              <a:t>0.11 ms</a:t>
            </a:r>
            <a:endParaRPr lang="en-US" sz="3000" dirty="0"/>
          </a:p>
        </p:txBody>
      </p:sp>
      <p:sp>
        <p:nvSpPr>
          <p:cNvPr id="32" name="i_s3#l"/>
          <p:cNvSpPr txBox="1"/>
          <p:nvPr/>
        </p:nvSpPr>
        <p:spPr>
          <a:xfrm>
            <a:off x="8046720" y="4672584"/>
            <a:ext cx="3566160" cy="457200"/>
          </a:xfrm>
          <a:prstGeom prst="rect">
            <a:avLst/>
          </a:prstGeom>
          <a:noFill/>
          <a:ln/>
        </p:spPr>
        <p:txBody>
          <a:bodyPr wrap="square" lIns="0" tIns="0" rIns="0" bIns="0" rtlCol="0" anchor="t"/>
          <a:lstStyle/>
          <a:p>
            <a:pPr indent="0" marL="0">
              <a:buNone/>
            </a:pPr>
            <a:r>
              <a:rPr lang="en-US" sz="1200" dirty="0">
                <a:solidFill>
                  <a:srgbClr val="AEBBD0"/>
                </a:solidFill>
                <a:latin typeface="Calibri" pitchFamily="34" charset="0"/>
                <a:ea typeface="Calibri" pitchFamily="34" charset="-122"/>
                <a:cs typeface="Calibri" pitchFamily="34" charset="-120"/>
              </a:rPr>
              <a:t>per target when 2,000 are solved together (CPU)</a:t>
            </a:r>
            <a:endParaRPr lang="en-US" sz="1200" dirty="0"/>
          </a:p>
        </p:txBody>
      </p:sp>
      <p:sp>
        <p:nvSpPr>
          <p:cNvPr id="33" name="Text 30"/>
          <p:cNvSpPr txBox="1"/>
          <p:nvPr/>
        </p:nvSpPr>
        <p:spPr>
          <a:xfrm>
            <a:off x="548640" y="5760720"/>
            <a:ext cx="7315200" cy="274320"/>
          </a:xfrm>
          <a:prstGeom prst="rect">
            <a:avLst/>
          </a:prstGeom>
          <a:noFill/>
          <a:ln/>
        </p:spPr>
        <p:txBody>
          <a:bodyPr wrap="square" lIns="0" tIns="0" rIns="0" bIns="0" rtlCol="0" anchor="t"/>
          <a:lstStyle/>
          <a:p>
            <a:pPr indent="0" marL="0">
              <a:buNone/>
            </a:pPr>
            <a:r>
              <a:rPr lang="en-US" sz="1100" dirty="0">
                <a:solidFill>
                  <a:srgbClr val="7F8FA8"/>
                </a:solidFill>
                <a:latin typeface="Calibri" pitchFamily="34" charset="0"/>
                <a:ea typeface="Calibri" pitchFamily="34" charset="-122"/>
                <a:cs typeface="Calibri" pitchFamily="34" charset="-120"/>
              </a:rPr>
              <a:t>Numbers: results/evaluation_metrics.csv (hybrid_lm rows).</a:t>
            </a:r>
            <a:endParaRPr lang="en-US" sz="1100" dirty="0"/>
          </a:p>
        </p:txBody>
      </p:sp>
      <p:sp>
        <p:nvSpPr>
          <p:cNvPr id="25" name="Slide Number Placeholder 0"/>
          <p:cNvSpPr>
            <a:spLocks noGrp="1"/>
          </p:cNvSpPr>
          <p:nvPr>
            <p:ph type="sldNum" sz="quarter" idx="4294967295"/>
          </p:nvPr>
        </p:nvSpPr>
        <p:spPr>
          <a:xfrm>
            <a:off x="11094415" y="6446520"/>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7F8FA8"/>
                </a:solidFill>
              </a:defRPr>
            </a:lvl1pPr>
          </a:lstStyle>
          <a:p>
            <a:pPr algn="r"/>
            <a:fld id="{F7021451-1387-4CA6-816F-3879F97B5CBC}" type="slidenum">
              <a:rPr b="0" lang="en-US"/>
              <a:t>12</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16" fill="hold">
                            <p:stCondLst>
                              <p:cond delay="0"/>
                            </p:stCondLst>
                            <p:childTnLst>
                              <p:par>
                                <p:cTn id="4" presetID="10" presetClass="entr" presetSubtype="0" fill="hold" grpId="0" nodeType="afterEffect">
                                  <p:stCondLst>
                                    <p:cond delay="0"/>
                                  </p:stCondLst>
                                  <p:childTnLst>
                                    <p:set>
                                      <p:cBhvr>
                                        <p:cTn id="5" dur="1" fill="hold">
                                          <p:stCondLst>
                                            <p:cond delay="0"/>
                                          </p:stCondLst>
                                        </p:cTn>
                                        <p:tgtEl>
                                          <p:spTgt spid="5"/>
                                        </p:tgtEl>
                                        <p:attrNameLst>
                                          <p:attrName>style.visibility</p:attrName>
                                        </p:attrNameLst>
                                      </p:cBhvr>
                                      <p:to>
                                        <p:strVal val="visible"/>
                                      </p:to>
                                    </p:set>
                                    <p:animEffect transition="in" filter="fade">
                                      <p:cBhvr>
                                        <p:cTn id="6" dur="420"/>
                                        <p:tgtEl>
                                          <p:spTgt spid="5"/>
                                        </p:tgtEl>
                                      </p:cBhvr>
                                    </p:animEffect>
                                  </p:childTnLst>
                                </p:cTn>
                              </p:par>
                              <p:par>
                                <p:cTn id="7" presetID="10"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animEffect transition="in" filter="fade">
                                      <p:cBhvr>
                                        <p:cTn id="9" dur="420"/>
                                        <p:tgtEl>
                                          <p:spTgt spid="6"/>
                                        </p:tgtEl>
                                      </p:cBhvr>
                                    </p:animEffect>
                                  </p:childTnLst>
                                </p:cTn>
                              </p:par>
                              <p:par>
                                <p:cTn id="10" presetID="10" presetClass="entr" presetSubtype="0" fill="hold" grpId="0" nodeType="with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420"/>
                                        <p:tgtEl>
                                          <p:spTgt spid="7"/>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420"/>
                                        <p:tgtEl>
                                          <p:spTgt spid="8"/>
                                        </p:tgtEl>
                                      </p:cBhvr>
                                    </p:animEffect>
                                  </p:childTnLst>
                                </p:cTn>
                              </p:par>
                            </p:childTnLst>
                          </p:cTn>
                        </p:par>
                        <p:par>
                          <p:cTn id="29" fill="hold">
                            <p:stCondLst>
                              <p:cond delay="0"/>
                            </p:stCondLst>
                            <p:childTnLst>
                              <p:par>
                                <p:cTn id="17" presetID="10" presetClass="entr" presetSubtype="0" fill="hold" grpId="0" nodeType="after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20"/>
                                        <p:tgtEl>
                                          <p:spTgt spid="9"/>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420"/>
                                        <p:tgtEl>
                                          <p:spTgt spid="10"/>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420"/>
                                        <p:tgtEl>
                                          <p:spTgt spid="11"/>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420"/>
                                        <p:tgtEl>
                                          <p:spTgt spid="12"/>
                                        </p:tgtEl>
                                      </p:cBhvr>
                                    </p:animEffect>
                                  </p:childTnLst>
                                </p:cTn>
                              </p:par>
                            </p:childTnLst>
                          </p:cTn>
                        </p:par>
                        <p:par>
                          <p:cTn id="42" fill="hold">
                            <p:stCondLst>
                              <p:cond delay="260"/>
                            </p:stCondLst>
                            <p:childTnLst>
                              <p:par>
                                <p:cTn id="30" presetID="10" presetClass="entr" presetSubtype="0" fill="hold" grpId="0" nodeType="after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fade">
                                      <p:cBhvr>
                                        <p:cTn id="32" dur="420"/>
                                        <p:tgtEl>
                                          <p:spTgt spid="13"/>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4"/>
                                        </p:tgtEl>
                                        <p:attrNameLst>
                                          <p:attrName>style.visibility</p:attrName>
                                        </p:attrNameLst>
                                      </p:cBhvr>
                                      <p:to>
                                        <p:strVal val="visible"/>
                                      </p:to>
                                    </p:set>
                                    <p:animEffect transition="in" filter="fade">
                                      <p:cBhvr>
                                        <p:cTn id="35" dur="420"/>
                                        <p:tgtEl>
                                          <p:spTgt spid="14"/>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5"/>
                                        </p:tgtEl>
                                        <p:attrNameLst>
                                          <p:attrName>style.visibility</p:attrName>
                                        </p:attrNameLst>
                                      </p:cBhvr>
                                      <p:to>
                                        <p:strVal val="visible"/>
                                      </p:to>
                                    </p:set>
                                    <p:animEffect transition="in" filter="fade">
                                      <p:cBhvr>
                                        <p:cTn id="38" dur="420"/>
                                        <p:tgtEl>
                                          <p:spTgt spid="15"/>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fade">
                                      <p:cBhvr>
                                        <p:cTn id="41" dur="420"/>
                                        <p:tgtEl>
                                          <p:spTgt spid="16"/>
                                        </p:tgtEl>
                                      </p:cBhvr>
                                    </p:animEffect>
                                  </p:childTnLst>
                                </p:cTn>
                              </p:par>
                            </p:childTnLst>
                          </p:cTn>
                        </p:par>
                        <p:par>
                          <p:cTn id="55" fill="hold">
                            <p:stCondLst>
                              <p:cond delay="520"/>
                            </p:stCondLst>
                            <p:childTnLst>
                              <p:par>
                                <p:cTn id="43" presetID="10" presetClass="entr" presetSubtype="0" fill="hold" grpId="0" nodeType="afterEffect">
                                  <p:stCondLst>
                                    <p:cond delay="0"/>
                                  </p:stCondLst>
                                  <p:childTnLst>
                                    <p:set>
                                      <p:cBhvr>
                                        <p:cTn id="44" dur="1" fill="hold">
                                          <p:stCondLst>
                                            <p:cond delay="0"/>
                                          </p:stCondLst>
                                        </p:cTn>
                                        <p:tgtEl>
                                          <p:spTgt spid="17"/>
                                        </p:tgtEl>
                                        <p:attrNameLst>
                                          <p:attrName>style.visibility</p:attrName>
                                        </p:attrNameLst>
                                      </p:cBhvr>
                                      <p:to>
                                        <p:strVal val="visible"/>
                                      </p:to>
                                    </p:set>
                                    <p:animEffect transition="in" filter="fade">
                                      <p:cBhvr>
                                        <p:cTn id="45" dur="420"/>
                                        <p:tgtEl>
                                          <p:spTgt spid="17"/>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8"/>
                                        </p:tgtEl>
                                        <p:attrNameLst>
                                          <p:attrName>style.visibility</p:attrName>
                                        </p:attrNameLst>
                                      </p:cBhvr>
                                      <p:to>
                                        <p:strVal val="visible"/>
                                      </p:to>
                                    </p:set>
                                    <p:animEffect transition="in" filter="fade">
                                      <p:cBhvr>
                                        <p:cTn id="48" dur="420"/>
                                        <p:tgtEl>
                                          <p:spTgt spid="18"/>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19"/>
                                        </p:tgtEl>
                                        <p:attrNameLst>
                                          <p:attrName>style.visibility</p:attrName>
                                        </p:attrNameLst>
                                      </p:cBhvr>
                                      <p:to>
                                        <p:strVal val="visible"/>
                                      </p:to>
                                    </p:set>
                                    <p:animEffect transition="in" filter="fade">
                                      <p:cBhvr>
                                        <p:cTn id="51" dur="420"/>
                                        <p:tgtEl>
                                          <p:spTgt spid="19"/>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0"/>
                                        </p:tgtEl>
                                        <p:attrNameLst>
                                          <p:attrName>style.visibility</p:attrName>
                                        </p:attrNameLst>
                                      </p:cBhvr>
                                      <p:to>
                                        <p:strVal val="visible"/>
                                      </p:to>
                                    </p:set>
                                    <p:animEffect transition="in" filter="fade">
                                      <p:cBhvr>
                                        <p:cTn id="54" dur="420"/>
                                        <p:tgtEl>
                                          <p:spTgt spid="20"/>
                                        </p:tgtEl>
                                      </p:cBhvr>
                                    </p:animEffect>
                                  </p:childTnLst>
                                </p:cTn>
                              </p:par>
                            </p:childTnLst>
                          </p:cTn>
                        </p:par>
                        <p:par>
                          <p:cTn id="65" fill="hold">
                            <p:stCondLst>
                              <p:cond delay="780"/>
                            </p:stCondLst>
                            <p:childTnLst>
                              <p:par>
                                <p:cTn id="56" presetID="10" presetClass="entr" presetSubtype="0" fill="hold" grpId="0" nodeType="after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fade">
                                      <p:cBhvr>
                                        <p:cTn id="58" dur="420"/>
                                        <p:tgtEl>
                                          <p:spTgt spid="21"/>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2"/>
                                        </p:tgtEl>
                                        <p:attrNameLst>
                                          <p:attrName>style.visibility</p:attrName>
                                        </p:attrNameLst>
                                      </p:cBhvr>
                                      <p:to>
                                        <p:strVal val="visible"/>
                                      </p:to>
                                    </p:set>
                                    <p:animEffect transition="in" filter="fade">
                                      <p:cBhvr>
                                        <p:cTn id="61" dur="420"/>
                                        <p:tgtEl>
                                          <p:spTgt spid="22"/>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3"/>
                                        </p:tgtEl>
                                        <p:attrNameLst>
                                          <p:attrName>style.visibility</p:attrName>
                                        </p:attrNameLst>
                                      </p:cBhvr>
                                      <p:to>
                                        <p:strVal val="visible"/>
                                      </p:to>
                                    </p:set>
                                    <p:animEffect transition="in" filter="fade">
                                      <p:cBhvr>
                                        <p:cTn id="64" dur="420"/>
                                        <p:tgtEl>
                                          <p:spTgt spid="23"/>
                                        </p:tgtEl>
                                      </p:cBhvr>
                                    </p:animEffect>
                                  </p:childTnLst>
                                </p:cTn>
                              </p:par>
                            </p:childTnLst>
                          </p:cTn>
                        </p:par>
                        <p:par>
                          <p:cTn id="69" fill="hold">
                            <p:stCondLst>
                              <p:cond delay="1040"/>
                            </p:stCondLst>
                            <p:childTnLst>
                              <p:par>
                                <p:cTn id="66" presetID="10" presetClass="entr" presetSubtype="0" fill="hold" grpId="0" nodeType="afterEffect">
                                  <p:stCondLst>
                                    <p:cond delay="0"/>
                                  </p:stCondLst>
                                  <p:childTnLst>
                                    <p:set>
                                      <p:cBhvr>
                                        <p:cTn id="67" dur="1" fill="hold">
                                          <p:stCondLst>
                                            <p:cond delay="0"/>
                                          </p:stCondLst>
                                        </p:cTn>
                                        <p:tgtEl>
                                          <p:spTgt spid="26"/>
                                        </p:tgtEl>
                                        <p:attrNameLst>
                                          <p:attrName>style.visibility</p:attrName>
                                        </p:attrNameLst>
                                      </p:cBhvr>
                                      <p:to>
                                        <p:strVal val="visible"/>
                                      </p:to>
                                    </p:set>
                                    <p:animEffect transition="in" filter="fade">
                                      <p:cBhvr>
                                        <p:cTn id="68" dur="420"/>
                                        <p:tgtEl>
                                          <p:spTgt spid="26"/>
                                        </p:tgtEl>
                                      </p:cBhvr>
                                    </p:animEffect>
                                  </p:childTnLst>
                                </p:cTn>
                              </p:par>
                            </p:childTnLst>
                          </p:cTn>
                        </p:par>
                        <p:par>
                          <p:cTn id="76" fill="hold">
                            <p:stCondLst>
                              <p:cond delay="1300"/>
                            </p:stCondLst>
                            <p:childTnLst>
                              <p:par>
                                <p:cTn id="70" presetID="10" presetClass="entr" presetSubtype="0" fill="hold" grpId="0" nodeType="afterEffect">
                                  <p:stCondLst>
                                    <p:cond delay="0"/>
                                  </p:stCondLst>
                                  <p:childTnLst>
                                    <p:set>
                                      <p:cBhvr>
                                        <p:cTn id="71" dur="1" fill="hold">
                                          <p:stCondLst>
                                            <p:cond delay="0"/>
                                          </p:stCondLst>
                                        </p:cTn>
                                        <p:tgtEl>
                                          <p:spTgt spid="27"/>
                                        </p:tgtEl>
                                        <p:attrNameLst>
                                          <p:attrName>style.visibility</p:attrName>
                                        </p:attrNameLst>
                                      </p:cBhvr>
                                      <p:to>
                                        <p:strVal val="visible"/>
                                      </p:to>
                                    </p:set>
                                    <p:animEffect transition="in" filter="fade">
                                      <p:cBhvr>
                                        <p:cTn id="72" dur="420"/>
                                        <p:tgtEl>
                                          <p:spTgt spid="27"/>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28"/>
                                        </p:tgtEl>
                                        <p:attrNameLst>
                                          <p:attrName>style.visibility</p:attrName>
                                        </p:attrNameLst>
                                      </p:cBhvr>
                                      <p:to>
                                        <p:strVal val="visible"/>
                                      </p:to>
                                    </p:set>
                                    <p:animEffect transition="in" filter="fade">
                                      <p:cBhvr>
                                        <p:cTn id="75" dur="420"/>
                                        <p:tgtEl>
                                          <p:spTgt spid="28"/>
                                        </p:tgtEl>
                                      </p:cBhvr>
                                    </p:animEffect>
                                  </p:childTnLst>
                                </p:cTn>
                              </p:par>
                            </p:childTnLst>
                          </p:cTn>
                        </p:par>
                        <p:par>
                          <p:cTn id="83" fill="hold">
                            <p:stCondLst>
                              <p:cond delay="1560"/>
                            </p:stCondLst>
                            <p:childTnLst>
                              <p:par>
                                <p:cTn id="77" presetID="10" presetClass="entr" presetSubtype="0" fill="hold" grpId="0" nodeType="afterEffect">
                                  <p:stCondLst>
                                    <p:cond delay="0"/>
                                  </p:stCondLst>
                                  <p:childTnLst>
                                    <p:set>
                                      <p:cBhvr>
                                        <p:cTn id="78" dur="1" fill="hold">
                                          <p:stCondLst>
                                            <p:cond delay="0"/>
                                          </p:stCondLst>
                                        </p:cTn>
                                        <p:tgtEl>
                                          <p:spTgt spid="29"/>
                                        </p:tgtEl>
                                        <p:attrNameLst>
                                          <p:attrName>style.visibility</p:attrName>
                                        </p:attrNameLst>
                                      </p:cBhvr>
                                      <p:to>
                                        <p:strVal val="visible"/>
                                      </p:to>
                                    </p:set>
                                    <p:animEffect transition="in" filter="fade">
                                      <p:cBhvr>
                                        <p:cTn id="79" dur="420"/>
                                        <p:tgtEl>
                                          <p:spTgt spid="29"/>
                                        </p:tgtEl>
                                      </p:cBhvr>
                                    </p:animEffect>
                                  </p:childTnLst>
                                </p:cTn>
                              </p:par>
                              <p:par>
                                <p:cTn id="80" presetID="10" presetClass="entr" presetSubtype="0" fill="hold" grpId="0" nodeType="withEffect">
                                  <p:stCondLst>
                                    <p:cond delay="0"/>
                                  </p:stCondLst>
                                  <p:childTnLst>
                                    <p:set>
                                      <p:cBhvr>
                                        <p:cTn id="81" dur="1" fill="hold">
                                          <p:stCondLst>
                                            <p:cond delay="0"/>
                                          </p:stCondLst>
                                        </p:cTn>
                                        <p:tgtEl>
                                          <p:spTgt spid="30"/>
                                        </p:tgtEl>
                                        <p:attrNameLst>
                                          <p:attrName>style.visibility</p:attrName>
                                        </p:attrNameLst>
                                      </p:cBhvr>
                                      <p:to>
                                        <p:strVal val="visible"/>
                                      </p:to>
                                    </p:set>
                                    <p:animEffect transition="in" filter="fade">
                                      <p:cBhvr>
                                        <p:cTn id="82" dur="420"/>
                                        <p:tgtEl>
                                          <p:spTgt spid="30"/>
                                        </p:tgtEl>
                                      </p:cBhvr>
                                    </p:animEffect>
                                  </p:childTnLst>
                                </p:cTn>
                              </p:par>
                            </p:childTnLst>
                          </p:cTn>
                        </p:par>
                        <p:par>
                          <p:cTn id="90" fill="hold">
                            <p:stCondLst>
                              <p:cond delay="1820"/>
                            </p:stCondLst>
                            <p:childTnLst>
                              <p:par>
                                <p:cTn id="84" presetID="10" presetClass="entr" presetSubtype="0" fill="hold" grpId="0" nodeType="afterEffect">
                                  <p:stCondLst>
                                    <p:cond delay="0"/>
                                  </p:stCondLst>
                                  <p:childTnLst>
                                    <p:set>
                                      <p:cBhvr>
                                        <p:cTn id="85" dur="1" fill="hold">
                                          <p:stCondLst>
                                            <p:cond delay="0"/>
                                          </p:stCondLst>
                                        </p:cTn>
                                        <p:tgtEl>
                                          <p:spTgt spid="31"/>
                                        </p:tgtEl>
                                        <p:attrNameLst>
                                          <p:attrName>style.visibility</p:attrName>
                                        </p:attrNameLst>
                                      </p:cBhvr>
                                      <p:to>
                                        <p:strVal val="visible"/>
                                      </p:to>
                                    </p:set>
                                    <p:animEffect transition="in" filter="fade">
                                      <p:cBhvr>
                                        <p:cTn id="86" dur="420"/>
                                        <p:tgtEl>
                                          <p:spTgt spid="31"/>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32"/>
                                        </p:tgtEl>
                                        <p:attrNameLst>
                                          <p:attrName>style.visibility</p:attrName>
                                        </p:attrNameLst>
                                      </p:cBhvr>
                                      <p:to>
                                        <p:strVal val="visible"/>
                                      </p:to>
                                    </p:set>
                                    <p:animEffect transition="in" filter="fade">
                                      <p:cBhvr>
                                        <p:cTn id="89" dur="42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animBg="1"/>
      <p:bldP spid="7" grpId="0" animBg="1"/>
      <p:bldP spid="8" grpId="0"/>
      <p:bldP spid="9" grpId="0"/>
      <p:bldP spid="10" grpId="0" animBg="1"/>
      <p:bldP spid="11" grpId="0" animBg="1"/>
      <p:bldP spid="12" grpId="0"/>
      <p:bldP spid="13" grpId="0"/>
      <p:bldP spid="14" grpId="0" animBg="1"/>
      <p:bldP spid="15" grpId="0" animBg="1"/>
      <p:bldP spid="16" grpId="0"/>
      <p:bldP spid="17" grpId="0"/>
      <p:bldP spid="18" grpId="0" animBg="1"/>
      <p:bldP spid="19" grpId="0" animBg="1"/>
      <p:bldP spid="20" grpId="0"/>
      <p:bldP spid="21" grpId="0"/>
      <p:bldP spid="22" grpId="0" animBg="1"/>
      <p:bldP spid="23" grpId="0" animBg="1"/>
      <p:bldP spid="26" grpId="0" animBg="1"/>
      <p:bldP spid="27" grpId="0" animBg="1"/>
      <p:bldP spid="28" grpId="0" animBg="1"/>
      <p:bldP spid="29" grpId="0" animBg="1"/>
      <p:bldP spid="30" grpId="0" animBg="1"/>
      <p:bldP spid="31" grpId="0" animBg="1"/>
      <p:bldP spid="32"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1" type="body" hasCustomPrompt="1"/>
          </p:nvPr>
        </p:nvSpPr>
        <p:spPr>
          <a:xfrm>
            <a:off x="731520" y="310896"/>
            <a:ext cx="8686800" cy="329184"/>
          </a:xfrm>
          <a:prstGeom prst="rect">
            <a:avLst/>
          </a:prstGeom>
          <a:noFill/>
          <a:ln/>
        </p:spPr>
        <p:txBody>
          <a:bodyPr wrap="square" lIns="0" tIns="0" rIns="0" bIns="0" rtlCol="0" anchor="ctr"/>
          <a:lstStyle/>
          <a:p>
            <a:pPr algn="l" indent="0" marL="0">
              <a:buNone/>
            </a:pPr>
            <a:r>
              <a:rPr lang="en-US" sz="1200" b="1" spc="300" kern="0" dirty="0">
                <a:solidFill>
                  <a:srgbClr val="AEBBD0"/>
                </a:solidFill>
              </a:rPr>
              <a:t>LEVEL 1 · DEMONSTRATION</a:t>
            </a:r>
            <a:endParaRPr lang="en-US" sz="1200" dirty="0"/>
          </a:p>
        </p:txBody>
      </p:sp>
      <p:sp>
        <p:nvSpPr>
          <p:cNvPr id="3" name="Text 0"/>
          <p:cNvSpPr/>
          <p:nvPr>
            <p:ph idx="102" type="title" hasCustomPrompt="1"/>
          </p:nvPr>
        </p:nvSpPr>
        <p:spPr>
          <a:xfrm>
            <a:off x="548640" y="658368"/>
            <a:ext cx="11094415" cy="731520"/>
          </a:xfrm>
          <a:prstGeom prst="rect">
            <a:avLst/>
          </a:prstGeom>
          <a:noFill/>
          <a:ln/>
        </p:spPr>
        <p:txBody>
          <a:bodyPr wrap="square" lIns="0" tIns="0" rIns="0" bIns="0" rtlCol="0" anchor="ctr"/>
          <a:lstStyle/>
          <a:p>
            <a:pPr algn="l" indent="0" marL="0">
              <a:buNone/>
            </a:pPr>
            <a:r>
              <a:rPr lang="en-US" sz="3200" b="1" dirty="0">
                <a:solidFill>
                  <a:srgbClr val="EEF3FA"/>
                </a:solidFill>
              </a:rPr>
              <a:t>The robot reaching held-out targets</a:t>
            </a:r>
            <a:endParaRPr lang="en-US" sz="3200" dirty="0"/>
          </a:p>
        </p:txBody>
      </p:sp>
      <p:sp>
        <p:nvSpPr>
          <p:cNvPr id="5" name="video_inference_demo#frame"/>
          <p:cNvSpPr/>
          <p:nvPr/>
        </p:nvSpPr>
        <p:spPr>
          <a:xfrm>
            <a:off x="521208" y="1664208"/>
            <a:ext cx="7644384" cy="4323969"/>
          </a:xfrm>
          <a:prstGeom prst="roundRect">
            <a:avLst>
              <a:gd name="adj" fmla="val 846"/>
            </a:avLst>
          </a:prstGeom>
          <a:solidFill>
            <a:srgbClr val="0A1527"/>
          </a:solidFill>
          <a:ln w="12700">
            <a:solidFill>
              <a:srgbClr val="23344F"/>
            </a:solidFill>
            <a:prstDash val="solid"/>
          </a:ln>
        </p:spPr>
      </p:sp>
      <p:pic>
        <p:nvPicPr>
          <p:cNvPr id="6" name="video_inference_demo#media" descr="/tmp/claude-0/nik_work/stills/inference_demo/inference_demo_009.60.png">    </p:cNvPr>
          <p:cNvPicPr>
            <a:picLocks noChangeAspect="1"/>
          </p:cNvPicPr>
          <p:nvPr/>
        </p:nvPicPr>
        <p:blipFill>
          <a:blip r:embed="rId1"/>
          <a:stretch>
            <a:fillRect/>
          </a:stretch>
        </p:blipFill>
        <p:spPr>
          <a:xfrm>
            <a:off x="548640" y="1691640"/>
            <a:ext cx="7589520" cy="4269105"/>
          </a:xfrm>
          <a:prstGeom prst="rect">
            <a:avLst/>
          </a:prstGeom>
        </p:spPr>
      </p:pic>
      <p:sp>
        <p:nvSpPr>
          <p:cNvPr id="7" name="video_inference_demo#cap"/>
          <p:cNvSpPr txBox="1"/>
          <p:nvPr/>
        </p:nvSpPr>
        <p:spPr>
          <a:xfrm>
            <a:off x="548640" y="6052185"/>
            <a:ext cx="7589520" cy="274320"/>
          </a:xfrm>
          <a:prstGeom prst="rect">
            <a:avLst/>
          </a:prstGeom>
          <a:noFill/>
          <a:ln/>
        </p:spPr>
        <p:txBody>
          <a:bodyPr wrap="square" lIns="0" tIns="0" rIns="0" bIns="0" rtlCol="0" anchor="t"/>
          <a:lstStyle/>
          <a:p>
            <a:pPr indent="0" marL="0">
              <a:buNone/>
            </a:pPr>
            <a:r>
              <a:rPr lang="en-US" sz="1050" dirty="0">
                <a:solidFill>
                  <a:srgbClr val="7F8FA8"/>
                </a:solidFill>
                <a:latin typeface="Calibri" pitchFamily="34" charset="0"/>
                <a:ea typeface="Calibri" pitchFamily="34" charset="-122"/>
                <a:cs typeface="Calibri" pitchFamily="34" charset="-120"/>
              </a:rPr>
              <a:t>Simulation 8 · network guess (green ghost), LM refinement, PyBullet acceptance checks</a:t>
            </a:r>
            <a:endParaRPr lang="en-US" sz="1050" dirty="0"/>
          </a:p>
        </p:txBody>
      </p:sp>
      <p:sp>
        <p:nvSpPr>
          <p:cNvPr id="8" name="dm_0#box"/>
          <p:cNvSpPr/>
          <p:nvPr/>
        </p:nvSpPr>
        <p:spPr>
          <a:xfrm>
            <a:off x="8412480" y="1691640"/>
            <a:ext cx="3230575" cy="1188720"/>
          </a:xfrm>
          <a:prstGeom prst="roundRect">
            <a:avLst>
              <a:gd name="adj" fmla="val 7692"/>
            </a:avLst>
          </a:prstGeom>
          <a:solidFill>
            <a:srgbClr val="0F1B2D"/>
          </a:solidFill>
          <a:ln w="12700">
            <a:solidFill>
              <a:srgbClr val="23344F"/>
            </a:solidFill>
            <a:prstDash val="solid"/>
          </a:ln>
        </p:spPr>
      </p:sp>
      <p:sp>
        <p:nvSpPr>
          <p:cNvPr id="9" name="dm_0#k"/>
          <p:cNvSpPr txBox="1"/>
          <p:nvPr/>
        </p:nvSpPr>
        <p:spPr>
          <a:xfrm>
            <a:off x="8613648" y="1874520"/>
            <a:ext cx="2828239" cy="228600"/>
          </a:xfrm>
          <a:prstGeom prst="rect">
            <a:avLst/>
          </a:prstGeom>
          <a:noFill/>
          <a:ln/>
        </p:spPr>
        <p:txBody>
          <a:bodyPr wrap="square" lIns="0" tIns="0" rIns="0" bIns="0" rtlCol="0" anchor="t"/>
          <a:lstStyle/>
          <a:p>
            <a:pPr indent="0" marL="0">
              <a:buNone/>
            </a:pPr>
            <a:r>
              <a:rPr lang="en-US" sz="1050" b="1" spc="200" kern="0" dirty="0">
                <a:solidFill>
                  <a:srgbClr val="4FD6F2"/>
                </a:solidFill>
                <a:latin typeface="Calibri" pitchFamily="34" charset="0"/>
                <a:ea typeface="Calibri" pitchFamily="34" charset="-122"/>
                <a:cs typeface="Calibri" pitchFamily="34" charset="-120"/>
              </a:rPr>
              <a:t>TARGET 1</a:t>
            </a:r>
            <a:endParaRPr lang="en-US" sz="1050" dirty="0"/>
          </a:p>
        </p:txBody>
      </p:sp>
      <p:sp>
        <p:nvSpPr>
          <p:cNvPr id="10" name="dm_0#h"/>
          <p:cNvSpPr txBox="1"/>
          <p:nvPr/>
        </p:nvSpPr>
        <p:spPr>
          <a:xfrm>
            <a:off x="8613648" y="2167128"/>
            <a:ext cx="2828239" cy="384048"/>
          </a:xfrm>
          <a:prstGeom prst="rect">
            <a:avLst/>
          </a:prstGeom>
          <a:noFill/>
          <a:ln/>
        </p:spPr>
        <p:txBody>
          <a:bodyPr wrap="square" lIns="0" tIns="0" rIns="0" bIns="0" rtlCol="0" anchor="t"/>
          <a:lstStyle/>
          <a:p>
            <a:pPr indent="0" marL="0">
              <a:buNone/>
            </a:pPr>
            <a:r>
              <a:rPr lang="en-US" sz="1500" b="1" dirty="0">
                <a:solidFill>
                  <a:srgbClr val="EEF3FA"/>
                </a:solidFill>
                <a:latin typeface="Calibri" pitchFamily="34" charset="0"/>
                <a:ea typeface="Calibri" pitchFamily="34" charset="-122"/>
                <a:cs typeface="Calibri" pitchFamily="34" charset="-120"/>
              </a:rPr>
              <a:t>56.0 mm → &lt; 0.001 mm</a:t>
            </a:r>
            <a:endParaRPr lang="en-US" sz="1500" dirty="0"/>
          </a:p>
        </p:txBody>
      </p:sp>
      <p:sp>
        <p:nvSpPr>
          <p:cNvPr id="11" name="dm_0#b"/>
          <p:cNvSpPr txBox="1"/>
          <p:nvPr/>
        </p:nvSpPr>
        <p:spPr>
          <a:xfrm>
            <a:off x="8613648" y="2532888"/>
            <a:ext cx="2828239" cy="274320"/>
          </a:xfrm>
          <a:prstGeom prst="rect">
            <a:avLst/>
          </a:prstGeom>
          <a:noFill/>
          <a:ln/>
        </p:spPr>
        <p:txBody>
          <a:bodyPr wrap="square" lIns="0" tIns="0" rIns="0" bIns="0" rtlCol="0" anchor="t"/>
          <a:lstStyle/>
          <a:p>
            <a:pPr indent="0" marL="0">
              <a:spcAft>
                <a:spcPts val="400"/>
              </a:spcAft>
              <a:buNone/>
            </a:pPr>
            <a:r>
              <a:rPr lang="en-US" sz="1350" dirty="0">
                <a:solidFill>
                  <a:srgbClr val="AEBBD0"/>
                </a:solidFill>
                <a:latin typeface="Calibri" pitchFamily="34" charset="0"/>
                <a:ea typeface="Calibri" pitchFamily="34" charset="-122"/>
                <a:cs typeface="Calibri" pitchFamily="34" charset="-120"/>
              </a:rPr>
              <a:t>network alone → after LM refinement (11.4° → 0.00°)</a:t>
            </a:r>
            <a:endParaRPr lang="en-US" sz="1350" dirty="0"/>
          </a:p>
        </p:txBody>
      </p:sp>
      <p:sp>
        <p:nvSpPr>
          <p:cNvPr id="12" name="dm_1#box"/>
          <p:cNvSpPr/>
          <p:nvPr/>
        </p:nvSpPr>
        <p:spPr>
          <a:xfrm>
            <a:off x="8412480" y="3017520"/>
            <a:ext cx="3230575" cy="1188720"/>
          </a:xfrm>
          <a:prstGeom prst="roundRect">
            <a:avLst>
              <a:gd name="adj" fmla="val 7692"/>
            </a:avLst>
          </a:prstGeom>
          <a:solidFill>
            <a:srgbClr val="0F1B2D"/>
          </a:solidFill>
          <a:ln w="12700">
            <a:solidFill>
              <a:srgbClr val="23344F"/>
            </a:solidFill>
            <a:prstDash val="solid"/>
          </a:ln>
        </p:spPr>
      </p:sp>
      <p:sp>
        <p:nvSpPr>
          <p:cNvPr id="13" name="dm_1#k"/>
          <p:cNvSpPr txBox="1"/>
          <p:nvPr/>
        </p:nvSpPr>
        <p:spPr>
          <a:xfrm>
            <a:off x="8613648" y="3200400"/>
            <a:ext cx="2828239" cy="228600"/>
          </a:xfrm>
          <a:prstGeom prst="rect">
            <a:avLst/>
          </a:prstGeom>
          <a:noFill/>
          <a:ln/>
        </p:spPr>
        <p:txBody>
          <a:bodyPr wrap="square" lIns="0" tIns="0" rIns="0" bIns="0" rtlCol="0" anchor="t"/>
          <a:lstStyle/>
          <a:p>
            <a:pPr indent="0" marL="0">
              <a:buNone/>
            </a:pPr>
            <a:r>
              <a:rPr lang="en-US" sz="1050" b="1" spc="200" kern="0" dirty="0">
                <a:solidFill>
                  <a:srgbClr val="4FD6F2"/>
                </a:solidFill>
                <a:latin typeface="Calibri" pitchFamily="34" charset="0"/>
                <a:ea typeface="Calibri" pitchFamily="34" charset="-122"/>
                <a:cs typeface="Calibri" pitchFamily="34" charset="-120"/>
              </a:rPr>
              <a:t>TARGET 2</a:t>
            </a:r>
            <a:endParaRPr lang="en-US" sz="1050" dirty="0"/>
          </a:p>
        </p:txBody>
      </p:sp>
      <p:sp>
        <p:nvSpPr>
          <p:cNvPr id="14" name="dm_1#h"/>
          <p:cNvSpPr txBox="1"/>
          <p:nvPr/>
        </p:nvSpPr>
        <p:spPr>
          <a:xfrm>
            <a:off x="8613648" y="3493008"/>
            <a:ext cx="2828239" cy="384048"/>
          </a:xfrm>
          <a:prstGeom prst="rect">
            <a:avLst/>
          </a:prstGeom>
          <a:noFill/>
          <a:ln/>
        </p:spPr>
        <p:txBody>
          <a:bodyPr wrap="square" lIns="0" tIns="0" rIns="0" bIns="0" rtlCol="0" anchor="t"/>
          <a:lstStyle/>
          <a:p>
            <a:pPr indent="0" marL="0">
              <a:buNone/>
            </a:pPr>
            <a:r>
              <a:rPr lang="en-US" sz="1500" b="1" dirty="0">
                <a:solidFill>
                  <a:srgbClr val="EEF3FA"/>
                </a:solidFill>
                <a:latin typeface="Calibri" pitchFamily="34" charset="0"/>
                <a:ea typeface="Calibri" pitchFamily="34" charset="-122"/>
                <a:cs typeface="Calibri" pitchFamily="34" charset="-120"/>
              </a:rPr>
              <a:t>32.0 mm → &lt; 0.001 mm</a:t>
            </a:r>
            <a:endParaRPr lang="en-US" sz="1500" dirty="0"/>
          </a:p>
        </p:txBody>
      </p:sp>
      <p:sp>
        <p:nvSpPr>
          <p:cNvPr id="15" name="dm_1#b"/>
          <p:cNvSpPr txBox="1"/>
          <p:nvPr/>
        </p:nvSpPr>
        <p:spPr>
          <a:xfrm>
            <a:off x="8613648" y="3858768"/>
            <a:ext cx="2828239" cy="274320"/>
          </a:xfrm>
          <a:prstGeom prst="rect">
            <a:avLst/>
          </a:prstGeom>
          <a:noFill/>
          <a:ln/>
        </p:spPr>
        <p:txBody>
          <a:bodyPr wrap="square" lIns="0" tIns="0" rIns="0" bIns="0" rtlCol="0" anchor="t"/>
          <a:lstStyle/>
          <a:p>
            <a:pPr indent="0" marL="0">
              <a:spcAft>
                <a:spcPts val="400"/>
              </a:spcAft>
              <a:buNone/>
            </a:pPr>
            <a:r>
              <a:rPr lang="en-US" sz="1350" dirty="0">
                <a:solidFill>
                  <a:srgbClr val="AEBBD0"/>
                </a:solidFill>
                <a:latin typeface="Calibri" pitchFamily="34" charset="0"/>
                <a:ea typeface="Calibri" pitchFamily="34" charset="-122"/>
                <a:cs typeface="Calibri" pitchFamily="34" charset="-120"/>
              </a:rPr>
              <a:t>network alone → after LM refinement (3.7° → 0.02°)</a:t>
            </a:r>
            <a:endParaRPr lang="en-US" sz="1350" dirty="0"/>
          </a:p>
        </p:txBody>
      </p:sp>
      <p:sp>
        <p:nvSpPr>
          <p:cNvPr id="16" name="dm_2#box"/>
          <p:cNvSpPr/>
          <p:nvPr/>
        </p:nvSpPr>
        <p:spPr>
          <a:xfrm>
            <a:off x="8412480" y="4343400"/>
            <a:ext cx="3230575" cy="1188720"/>
          </a:xfrm>
          <a:prstGeom prst="roundRect">
            <a:avLst>
              <a:gd name="adj" fmla="val 7692"/>
            </a:avLst>
          </a:prstGeom>
          <a:solidFill>
            <a:srgbClr val="0F1B2D"/>
          </a:solidFill>
          <a:ln w="12700">
            <a:solidFill>
              <a:srgbClr val="23344F"/>
            </a:solidFill>
            <a:prstDash val="solid"/>
          </a:ln>
        </p:spPr>
      </p:sp>
      <p:sp>
        <p:nvSpPr>
          <p:cNvPr id="17" name="dm_2#k"/>
          <p:cNvSpPr txBox="1"/>
          <p:nvPr/>
        </p:nvSpPr>
        <p:spPr>
          <a:xfrm>
            <a:off x="8613648" y="4526280"/>
            <a:ext cx="2828239" cy="228600"/>
          </a:xfrm>
          <a:prstGeom prst="rect">
            <a:avLst/>
          </a:prstGeom>
          <a:noFill/>
          <a:ln/>
        </p:spPr>
        <p:txBody>
          <a:bodyPr wrap="square" lIns="0" tIns="0" rIns="0" bIns="0" rtlCol="0" anchor="t"/>
          <a:lstStyle/>
          <a:p>
            <a:pPr indent="0" marL="0">
              <a:buNone/>
            </a:pPr>
            <a:r>
              <a:rPr lang="en-US" sz="1050" b="1" spc="200" kern="0" dirty="0">
                <a:solidFill>
                  <a:srgbClr val="4FD6F2"/>
                </a:solidFill>
                <a:latin typeface="Calibri" pitchFamily="34" charset="0"/>
                <a:ea typeface="Calibri" pitchFamily="34" charset="-122"/>
                <a:cs typeface="Calibri" pitchFamily="34" charset="-120"/>
              </a:rPr>
              <a:t>TARGET 3</a:t>
            </a:r>
            <a:endParaRPr lang="en-US" sz="1050" dirty="0"/>
          </a:p>
        </p:txBody>
      </p:sp>
      <p:sp>
        <p:nvSpPr>
          <p:cNvPr id="18" name="dm_2#h"/>
          <p:cNvSpPr txBox="1"/>
          <p:nvPr/>
        </p:nvSpPr>
        <p:spPr>
          <a:xfrm>
            <a:off x="8613648" y="4818888"/>
            <a:ext cx="2828239" cy="384048"/>
          </a:xfrm>
          <a:prstGeom prst="rect">
            <a:avLst/>
          </a:prstGeom>
          <a:noFill/>
          <a:ln/>
        </p:spPr>
        <p:txBody>
          <a:bodyPr wrap="square" lIns="0" tIns="0" rIns="0" bIns="0" rtlCol="0" anchor="t"/>
          <a:lstStyle/>
          <a:p>
            <a:pPr indent="0" marL="0">
              <a:buNone/>
            </a:pPr>
            <a:r>
              <a:rPr lang="en-US" sz="1500" b="1" dirty="0">
                <a:solidFill>
                  <a:srgbClr val="EEF3FA"/>
                </a:solidFill>
                <a:latin typeface="Calibri" pitchFamily="34" charset="0"/>
                <a:ea typeface="Calibri" pitchFamily="34" charset="-122"/>
                <a:cs typeface="Calibri" pitchFamily="34" charset="-120"/>
              </a:rPr>
              <a:t>30.8 mm → &lt; 0.001 mm</a:t>
            </a:r>
            <a:endParaRPr lang="en-US" sz="1500" dirty="0"/>
          </a:p>
        </p:txBody>
      </p:sp>
      <p:sp>
        <p:nvSpPr>
          <p:cNvPr id="19" name="dm_2#b"/>
          <p:cNvSpPr txBox="1"/>
          <p:nvPr/>
        </p:nvSpPr>
        <p:spPr>
          <a:xfrm>
            <a:off x="8613648" y="5184648"/>
            <a:ext cx="2828239" cy="274320"/>
          </a:xfrm>
          <a:prstGeom prst="rect">
            <a:avLst/>
          </a:prstGeom>
          <a:noFill/>
          <a:ln/>
        </p:spPr>
        <p:txBody>
          <a:bodyPr wrap="square" lIns="0" tIns="0" rIns="0" bIns="0" rtlCol="0" anchor="t"/>
          <a:lstStyle/>
          <a:p>
            <a:pPr indent="0" marL="0">
              <a:spcAft>
                <a:spcPts val="400"/>
              </a:spcAft>
              <a:buNone/>
            </a:pPr>
            <a:r>
              <a:rPr lang="en-US" sz="1350" dirty="0">
                <a:solidFill>
                  <a:srgbClr val="AEBBD0"/>
                </a:solidFill>
                <a:latin typeface="Calibri" pitchFamily="34" charset="0"/>
                <a:ea typeface="Calibri" pitchFamily="34" charset="-122"/>
                <a:cs typeface="Calibri" pitchFamily="34" charset="-120"/>
              </a:rPr>
              <a:t>network alone → after LM refinement (9.4° → 0.03°)</a:t>
            </a:r>
            <a:endParaRPr lang="en-US" sz="1350" dirty="0"/>
          </a:p>
        </p:txBody>
      </p:sp>
      <p:sp>
        <p:nvSpPr>
          <p:cNvPr id="20" name="dm_ok#bb"/>
          <p:cNvSpPr/>
          <p:nvPr/>
        </p:nvSpPr>
        <p:spPr>
          <a:xfrm>
            <a:off x="8412480" y="5715000"/>
            <a:ext cx="3230575" cy="292608"/>
          </a:xfrm>
          <a:prstGeom prst="roundRect">
            <a:avLst>
              <a:gd name="adj" fmla="val 50000"/>
            </a:avLst>
          </a:prstGeom>
          <a:solidFill>
            <a:srgbClr val="14233A"/>
          </a:solidFill>
          <a:ln w="12700">
            <a:solidFill>
              <a:srgbClr val="0CA30C"/>
            </a:solidFill>
            <a:prstDash val="solid"/>
          </a:ln>
        </p:spPr>
      </p:sp>
      <p:sp>
        <p:nvSpPr>
          <p:cNvPr id="21" name="dm_ok#bt"/>
          <p:cNvSpPr txBox="1"/>
          <p:nvPr/>
        </p:nvSpPr>
        <p:spPr>
          <a:xfrm>
            <a:off x="8412480" y="5715000"/>
            <a:ext cx="3230575" cy="292608"/>
          </a:xfrm>
          <a:prstGeom prst="rect">
            <a:avLst/>
          </a:prstGeom>
          <a:noFill/>
          <a:ln/>
        </p:spPr>
        <p:txBody>
          <a:bodyPr wrap="square" lIns="0" tIns="0" rIns="0" bIns="0" rtlCol="0" anchor="ctr"/>
          <a:lstStyle/>
          <a:p>
            <a:pPr algn="ctr" indent="0" marL="0">
              <a:buNone/>
            </a:pPr>
            <a:r>
              <a:rPr lang="en-US" sz="1100" b="1" dirty="0">
                <a:solidFill>
                  <a:srgbClr val="8FF08F"/>
                </a:solidFill>
                <a:latin typeface="Calibri" pitchFamily="34" charset="0"/>
                <a:ea typeface="Calibri" pitchFamily="34" charset="-122"/>
                <a:cs typeface="Calibri" pitchFamily="34" charset="-120"/>
              </a:rPr>
              <a:t>✓ no self-collision · inside joint limits</a:t>
            </a:r>
            <a:endParaRPr lang="en-US" sz="1100" dirty="0"/>
          </a:p>
        </p:txBody>
      </p:sp>
      <p:sp>
        <p:nvSpPr>
          <p:cNvPr id="25" name="Slide Number Placeholder 0"/>
          <p:cNvSpPr>
            <a:spLocks noGrp="1"/>
          </p:cNvSpPr>
          <p:nvPr>
            <p:ph type="sldNum" sz="quarter" idx="4294967295"/>
          </p:nvPr>
        </p:nvSpPr>
        <p:spPr>
          <a:xfrm>
            <a:off x="11094415" y="6446520"/>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7F8FA8"/>
                </a:solidFill>
              </a:defRPr>
            </a:lvl1pPr>
          </a:lstStyle>
          <a:p>
            <a:pPr algn="r"/>
            <a:fld id="{F7021451-1387-4CA6-816F-3879F97B5CBC}" type="slidenum">
              <a:rPr b="0" lang="en-US"/>
              <a:t>13</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13" fill="hold">
                            <p:stCondLst>
                              <p:cond delay="0"/>
                            </p:stCondLst>
                            <p:childTnLst>
                              <p:par>
                                <p:cTn id="4" presetID="10" presetClass="entr" presetSubtype="0" fill="hold" grpId="0" nodeType="afterEffect">
                                  <p:stCondLst>
                                    <p:cond delay="0"/>
                                  </p:stCondLst>
                                  <p:childTnLst>
                                    <p:set>
                                      <p:cBhvr>
                                        <p:cTn id="5" dur="1" fill="hold">
                                          <p:stCondLst>
                                            <p:cond delay="0"/>
                                          </p:stCondLst>
                                        </p:cTn>
                                        <p:tgtEl>
                                          <p:spTgt spid="5"/>
                                        </p:tgtEl>
                                        <p:attrNameLst>
                                          <p:attrName>style.visibility</p:attrName>
                                        </p:attrNameLst>
                                      </p:cBhvr>
                                      <p:to>
                                        <p:strVal val="visible"/>
                                      </p:to>
                                    </p:set>
                                    <p:animEffect transition="in" filter="fade">
                                      <p:cBhvr>
                                        <p:cTn id="6" dur="420"/>
                                        <p:tgtEl>
                                          <p:spTgt spid="5"/>
                                        </p:tgtEl>
                                      </p:cBhvr>
                                    </p:animEffect>
                                  </p:childTnLst>
                                </p:cTn>
                              </p:par>
                              <p:par>
                                <p:cTn id="7" presetID="10"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animEffect transition="in" filter="fade">
                                      <p:cBhvr>
                                        <p:cTn id="9" dur="420"/>
                                        <p:tgtEl>
                                          <p:spTgt spid="6"/>
                                        </p:tgtEl>
                                      </p:cBhvr>
                                    </p:animEffect>
                                  </p:childTnLst>
                                </p:cTn>
                              </p:par>
                              <p:par>
                                <p:cTn id="10" presetID="10" presetClass="entr" presetSubtype="0" fill="hold" grpId="0" nodeType="with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420"/>
                                        <p:tgtEl>
                                          <p:spTgt spid="7"/>
                                        </p:tgtEl>
                                      </p:cBhvr>
                                    </p:animEffect>
                                  </p:childTnLst>
                                </p:cTn>
                              </p:par>
                            </p:childTnLst>
                          </p:cTn>
                        </p:par>
                        <p:par>
                          <p:cTn id="26" fill="hold">
                            <p:stCondLst>
                              <p:cond delay="0"/>
                            </p:stCondLst>
                            <p:childTnLst>
                              <p:par>
                                <p:cTn id="14" presetID="10" presetClass="entr" presetSubtype="0" fill="hold" grpId="0" nodeType="after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20"/>
                                        <p:tgtEl>
                                          <p:spTgt spid="8"/>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20"/>
                                        <p:tgtEl>
                                          <p:spTgt spid="9"/>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420"/>
                                        <p:tgtEl>
                                          <p:spTgt spid="10"/>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420"/>
                                        <p:tgtEl>
                                          <p:spTgt spid="11"/>
                                        </p:tgtEl>
                                      </p:cBhvr>
                                    </p:animEffect>
                                  </p:childTnLst>
                                </p:cTn>
                              </p:par>
                            </p:childTnLst>
                          </p:cTn>
                        </p:par>
                        <p:par>
                          <p:cTn id="39" fill="hold">
                            <p:stCondLst>
                              <p:cond delay="260"/>
                            </p:stCondLst>
                            <p:childTnLst>
                              <p:par>
                                <p:cTn id="27" presetID="10" presetClass="entr" presetSubtype="0" fill="hold" grpId="0" nodeType="after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420"/>
                                        <p:tgtEl>
                                          <p:spTgt spid="12"/>
                                        </p:tgtEl>
                                      </p:cBhvr>
                                    </p:animEffect>
                                  </p:childTnLst>
                                </p:cTn>
                              </p:par>
                              <p:par>
                                <p:cTn id="30" presetID="10" presetClass="entr" presetSubtype="0" fill="hold" grpId="0" nodeType="with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fade">
                                      <p:cBhvr>
                                        <p:cTn id="32" dur="420"/>
                                        <p:tgtEl>
                                          <p:spTgt spid="13"/>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4"/>
                                        </p:tgtEl>
                                        <p:attrNameLst>
                                          <p:attrName>style.visibility</p:attrName>
                                        </p:attrNameLst>
                                      </p:cBhvr>
                                      <p:to>
                                        <p:strVal val="visible"/>
                                      </p:to>
                                    </p:set>
                                    <p:animEffect transition="in" filter="fade">
                                      <p:cBhvr>
                                        <p:cTn id="35" dur="420"/>
                                        <p:tgtEl>
                                          <p:spTgt spid="14"/>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5"/>
                                        </p:tgtEl>
                                        <p:attrNameLst>
                                          <p:attrName>style.visibility</p:attrName>
                                        </p:attrNameLst>
                                      </p:cBhvr>
                                      <p:to>
                                        <p:strVal val="visible"/>
                                      </p:to>
                                    </p:set>
                                    <p:animEffect transition="in" filter="fade">
                                      <p:cBhvr>
                                        <p:cTn id="38" dur="420"/>
                                        <p:tgtEl>
                                          <p:spTgt spid="15"/>
                                        </p:tgtEl>
                                      </p:cBhvr>
                                    </p:animEffect>
                                  </p:childTnLst>
                                </p:cTn>
                              </p:par>
                            </p:childTnLst>
                          </p:cTn>
                        </p:par>
                        <p:par>
                          <p:cTn id="52" fill="hold">
                            <p:stCondLst>
                              <p:cond delay="520"/>
                            </p:stCondLst>
                            <p:childTnLst>
                              <p:par>
                                <p:cTn id="40" presetID="10" presetClass="entr" presetSubtype="0" fill="hold" grpId="0" nodeType="afterEffect">
                                  <p:stCondLst>
                                    <p:cond delay="0"/>
                                  </p:stCondLst>
                                  <p:childTnLst>
                                    <p:set>
                                      <p:cBhvr>
                                        <p:cTn id="41" dur="1" fill="hold">
                                          <p:stCondLst>
                                            <p:cond delay="0"/>
                                          </p:stCondLst>
                                        </p:cTn>
                                        <p:tgtEl>
                                          <p:spTgt spid="16"/>
                                        </p:tgtEl>
                                        <p:attrNameLst>
                                          <p:attrName>style.visibility</p:attrName>
                                        </p:attrNameLst>
                                      </p:cBhvr>
                                      <p:to>
                                        <p:strVal val="visible"/>
                                      </p:to>
                                    </p:set>
                                    <p:animEffect transition="in" filter="fade">
                                      <p:cBhvr>
                                        <p:cTn id="42" dur="420"/>
                                        <p:tgtEl>
                                          <p:spTgt spid="16"/>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17"/>
                                        </p:tgtEl>
                                        <p:attrNameLst>
                                          <p:attrName>style.visibility</p:attrName>
                                        </p:attrNameLst>
                                      </p:cBhvr>
                                      <p:to>
                                        <p:strVal val="visible"/>
                                      </p:to>
                                    </p:set>
                                    <p:animEffect transition="in" filter="fade">
                                      <p:cBhvr>
                                        <p:cTn id="45" dur="420"/>
                                        <p:tgtEl>
                                          <p:spTgt spid="17"/>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8"/>
                                        </p:tgtEl>
                                        <p:attrNameLst>
                                          <p:attrName>style.visibility</p:attrName>
                                        </p:attrNameLst>
                                      </p:cBhvr>
                                      <p:to>
                                        <p:strVal val="visible"/>
                                      </p:to>
                                    </p:set>
                                    <p:animEffect transition="in" filter="fade">
                                      <p:cBhvr>
                                        <p:cTn id="48" dur="420"/>
                                        <p:tgtEl>
                                          <p:spTgt spid="18"/>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19"/>
                                        </p:tgtEl>
                                        <p:attrNameLst>
                                          <p:attrName>style.visibility</p:attrName>
                                        </p:attrNameLst>
                                      </p:cBhvr>
                                      <p:to>
                                        <p:strVal val="visible"/>
                                      </p:to>
                                    </p:set>
                                    <p:animEffect transition="in" filter="fade">
                                      <p:cBhvr>
                                        <p:cTn id="51" dur="42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animBg="1"/>
      <p:bldP spid="8" grpId="0"/>
      <p:bldP spid="9" grpId="0" animBg="1"/>
      <p:bldP spid="10" grpId="0" animBg="1"/>
      <p:bldP spid="11" grpId="0" animBg="1"/>
      <p:bldP spid="12" grpId="0"/>
      <p:bldP spid="13" grpId="0" animBg="1"/>
      <p:bldP spid="14" grpId="0" animBg="1"/>
      <p:bldP spid="15" grpId="0" animBg="1"/>
      <p:bldP spid="16" grpId="0"/>
      <p:bldP spid="17" grpId="0" animBg="1"/>
      <p:bldP spid="18" grpId="0" animBg="1"/>
      <p:bldP spid="19" grpId="0" animBg="1"/>
    </p:bldLst>
  </p:timing>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1" type="body" hasCustomPrompt="1"/>
          </p:nvPr>
        </p:nvSpPr>
        <p:spPr>
          <a:xfrm>
            <a:off x="731520" y="310896"/>
            <a:ext cx="8686800" cy="329184"/>
          </a:xfrm>
          <a:prstGeom prst="rect">
            <a:avLst/>
          </a:prstGeom>
          <a:noFill/>
          <a:ln/>
        </p:spPr>
        <p:txBody>
          <a:bodyPr wrap="square" lIns="0" tIns="0" rIns="0" bIns="0" rtlCol="0" anchor="ctr"/>
          <a:lstStyle/>
          <a:p>
            <a:pPr algn="l" indent="0" marL="0">
              <a:buNone/>
            </a:pPr>
            <a:r>
              <a:rPr lang="en-US" sz="1200" b="1" spc="300" kern="0" dirty="0">
                <a:solidFill>
                  <a:srgbClr val="AEBBD0"/>
                </a:solidFill>
              </a:rPr>
              <a:t>LEVEL 1 · EVALUATION</a:t>
            </a:r>
            <a:endParaRPr lang="en-US" sz="1200" dirty="0"/>
          </a:p>
        </p:txBody>
      </p:sp>
      <p:sp>
        <p:nvSpPr>
          <p:cNvPr id="3" name="Text 0"/>
          <p:cNvSpPr/>
          <p:nvPr>
            <p:ph idx="102" type="title" hasCustomPrompt="1"/>
          </p:nvPr>
        </p:nvSpPr>
        <p:spPr>
          <a:xfrm>
            <a:off x="548640" y="658368"/>
            <a:ext cx="11094415" cy="731520"/>
          </a:xfrm>
          <a:prstGeom prst="rect">
            <a:avLst/>
          </a:prstGeom>
          <a:noFill/>
          <a:ln/>
        </p:spPr>
        <p:txBody>
          <a:bodyPr wrap="square" lIns="0" tIns="0" rIns="0" bIns="0" rtlCol="0" anchor="ctr"/>
          <a:lstStyle/>
          <a:p>
            <a:pPr algn="l" indent="0" marL="0">
              <a:buNone/>
            </a:pPr>
            <a:r>
              <a:rPr lang="en-US" sz="3200" b="1" dirty="0">
                <a:solidFill>
                  <a:srgbClr val="EEF3FA"/>
                </a:solidFill>
              </a:rPr>
              <a:t>Testing on 2,000 unseen targets</a:t>
            </a:r>
            <a:endParaRPr lang="en-US" sz="3200" dirty="0"/>
          </a:p>
        </p:txBody>
      </p:sp>
      <p:graphicFrame>
        <p:nvGraphicFramePr>
          <p:cNvPr id="5" name="ev_chart" descr=""/>
          <p:cNvGraphicFramePr/>
          <p:nvPr/>
        </p:nvGraphicFramePr>
        <p:xfrm>
          <a:off x="548640" y="1691640"/>
          <a:ext cx="6309360" cy="4297680"/>
        </p:xfrm>
        <a:graphic xmlns:a="http://schemas.openxmlformats.org/drawingml/2006/main">
          <a:graphicData uri="http://schemas.openxmlformats.org/drawingml/2006/chart">
            <c:chart xmlns:c="http://schemas.openxmlformats.org/drawingml/2006/chart" r:id="rId1"/>
          </a:graphicData>
        </a:graphic>
      </p:graphicFrame>
      <p:sp>
        <p:nvSpPr>
          <p:cNvPr id="6" name="ev_tt"/>
          <p:cNvSpPr txBox="1"/>
          <p:nvPr/>
        </p:nvSpPr>
        <p:spPr>
          <a:xfrm>
            <a:off x="7178040" y="1691640"/>
            <a:ext cx="4465015" cy="502920"/>
          </a:xfrm>
          <a:prstGeom prst="rect">
            <a:avLst/>
          </a:prstGeom>
          <a:noFill/>
          <a:ln/>
        </p:spPr>
        <p:txBody>
          <a:bodyPr wrap="square" lIns="0" tIns="0" rIns="0" bIns="0" rtlCol="0" anchor="t"/>
          <a:lstStyle/>
          <a:p>
            <a:pPr indent="0" marL="0">
              <a:buNone/>
            </a:pPr>
            <a:r>
              <a:rPr lang="en-US" sz="1300" b="1" dirty="0">
                <a:solidFill>
                  <a:srgbClr val="EEF3FA"/>
                </a:solidFill>
                <a:latin typeface="Calibri" pitchFamily="34" charset="0"/>
                <a:ea typeface="Calibri" pitchFamily="34" charset="-122"/>
                <a:cs typeface="Calibri" pitchFamily="34" charset="-120"/>
              </a:rPr>
              <a:t>Valid answers within 1 mm and 1° (no self-collision, inside limits)</a:t>
            </a:r>
            <a:endParaRPr lang="en-US" sz="1300" dirty="0"/>
          </a:p>
        </p:txBody>
      </p:sp>
      <p:graphicFrame>
        <p:nvGraphicFramePr>
          <p:cNvPr id="15" name="ev_table"/>
          <p:cNvGraphicFramePr>
            <a:graphicFrameLocks noGrp="1"/>
          </p:cNvGraphicFramePr>
          <p:nvPr>
            <p:extLst>
              <p:ext uri="{D42A27DB-BD31-4B8C-83A1-F6EECF244321}">
                <p14:modId xmlns:p14="http://schemas.microsoft.com/office/powerpoint/2010/main" val="1579011935"/>
              </p:ext>
            </p:extLst>
          </p:nvPr>
        </p:nvGraphicFramePr>
        <p:xfrm>
          <a:off x="7178040" y="2240280"/>
          <a:ext cx="4465015" cy="914400"/>
        </p:xfrm>
        <a:graphic>
          <a:graphicData uri="http://schemas.openxmlformats.org/drawingml/2006/table">
            <a:tbl>
              <a:tblPr/>
              <a:tblGrid>
                <a:gridCol w="1463040"/>
                <a:gridCol w="731520"/>
                <a:gridCol w="731520"/>
                <a:gridCol w="758952"/>
                <a:gridCol w="777240"/>
              </a:tblGrid>
              <a:tr h="384048">
                <a:tc>
                  <a:txBody>
                    <a:bodyPr/>
                    <a:lstStyle/>
                    <a:p>
                      <a:pPr algn="l" indent="0" marL="0">
                        <a:buNone/>
                      </a:pPr>
                      <a:r>
                        <a:rPr lang="en-US" sz="1250" b="1" dirty="0">
                          <a:solidFill>
                            <a:srgbClr val="EEF3FA"/>
                          </a:solidFill>
                          <a:latin typeface="Calibri" pitchFamily="34" charset="0"/>
                          <a:ea typeface="Calibri" pitchFamily="34" charset="-122"/>
                          <a:cs typeface="Calibri" pitchFamily="34" charset="-120"/>
                        </a:rPr>
                        <a:t>Starting pose</a:t>
                      </a:r>
                      <a:endParaRPr lang="en-US" sz="1250" dirty="0">
                        <a:latin typeface="Calibri" charset="0"/>
                        <a:ea typeface="Calibri" charset="0"/>
                        <a:cs typeface="Calibri" charset="0"/>
                      </a:endParaRPr>
                    </a:p>
                  </a:txBody>
                  <a:tcPr marL="73152" marR="73152" marT="0" marB="0" anchor="ctr">
                    <a:lnL w="9525" cap="flat" cmpd="sng" algn="ctr">
                      <a:solidFill>
                        <a:srgbClr val="23344F"/>
                      </a:solidFill>
                      <a:prstDash val="solid"/>
                      <a:round/>
                      <a:headEnd type="none" w="med" len="med"/>
                      <a:tailEnd type="none" w="med" len="med"/>
                    </a:lnL>
                    <a:lnR w="9525" cap="flat" cmpd="sng" algn="ctr">
                      <a:solidFill>
                        <a:srgbClr val="23344F"/>
                      </a:solidFill>
                      <a:prstDash val="solid"/>
                      <a:round/>
                      <a:headEnd type="none" w="med" len="med"/>
                      <a:tailEnd type="none" w="med" len="med"/>
                    </a:lnR>
                    <a:lnT w="9525" cap="flat" cmpd="sng" algn="ctr">
                      <a:solidFill>
                        <a:srgbClr val="23344F"/>
                      </a:solidFill>
                      <a:prstDash val="solid"/>
                      <a:round/>
                      <a:headEnd type="none" w="med" len="med"/>
                      <a:tailEnd type="none" w="med" len="med"/>
                    </a:lnT>
                    <a:lnB w="9525" cap="flat" cmpd="sng" algn="ctr">
                      <a:solidFill>
                        <a:srgbClr val="23344F"/>
                      </a:solidFill>
                      <a:prstDash val="solid"/>
                      <a:round/>
                      <a:headEnd type="none" w="med" len="med"/>
                      <a:tailEnd type="none" w="med" len="med"/>
                    </a:lnB>
                    <a:solidFill>
                      <a:srgbClr val="0F1B2D"/>
                    </a:solidFill>
                  </a:tcPr>
                </a:tc>
                <a:tc>
                  <a:txBody>
                    <a:bodyPr/>
                    <a:lstStyle/>
                    <a:p>
                      <a:pPr algn="ctr" indent="0" marL="0">
                        <a:buNone/>
                      </a:pPr>
                      <a:r>
                        <a:rPr lang="en-US" sz="1250" b="1" dirty="0">
                          <a:solidFill>
                            <a:srgbClr val="EEF3FA"/>
                          </a:solidFill>
                          <a:latin typeface="Calibri" pitchFamily="34" charset="0"/>
                          <a:ea typeface="Calibri" pitchFamily="34" charset="-122"/>
                          <a:cs typeface="Calibri" pitchFamily="34" charset="-120"/>
                        </a:rPr>
                        <a:t>Network</a:t>
                      </a:r>
                      <a:endParaRPr lang="en-US" sz="1250" dirty="0">
                        <a:latin typeface="Calibri" charset="0"/>
                        <a:ea typeface="Calibri" charset="0"/>
                        <a:cs typeface="Calibri" charset="0"/>
                      </a:endParaRPr>
                    </a:p>
                  </a:txBody>
                  <a:tcPr marL="73152" marR="73152" marT="0" marB="0" anchor="ctr">
                    <a:lnL w="9525" cap="flat" cmpd="sng" algn="ctr">
                      <a:solidFill>
                        <a:srgbClr val="23344F"/>
                      </a:solidFill>
                      <a:prstDash val="solid"/>
                      <a:round/>
                      <a:headEnd type="none" w="med" len="med"/>
                      <a:tailEnd type="none" w="med" len="med"/>
                    </a:lnL>
                    <a:lnR w="9525" cap="flat" cmpd="sng" algn="ctr">
                      <a:solidFill>
                        <a:srgbClr val="23344F"/>
                      </a:solidFill>
                      <a:prstDash val="solid"/>
                      <a:round/>
                      <a:headEnd type="none" w="med" len="med"/>
                      <a:tailEnd type="none" w="med" len="med"/>
                    </a:lnR>
                    <a:lnT w="9525" cap="flat" cmpd="sng" algn="ctr">
                      <a:solidFill>
                        <a:srgbClr val="23344F"/>
                      </a:solidFill>
                      <a:prstDash val="solid"/>
                      <a:round/>
                      <a:headEnd type="none" w="med" len="med"/>
                      <a:tailEnd type="none" w="med" len="med"/>
                    </a:lnT>
                    <a:lnB w="9525" cap="flat" cmpd="sng" algn="ctr">
                      <a:solidFill>
                        <a:srgbClr val="23344F"/>
                      </a:solidFill>
                      <a:prstDash val="solid"/>
                      <a:round/>
                      <a:headEnd type="none" w="med" len="med"/>
                      <a:tailEnd type="none" w="med" len="med"/>
                    </a:lnB>
                    <a:solidFill>
                      <a:srgbClr val="0F1B2D"/>
                    </a:solidFill>
                  </a:tcPr>
                </a:tc>
                <a:tc>
                  <a:txBody>
                    <a:bodyPr/>
                    <a:lstStyle/>
                    <a:p>
                      <a:pPr algn="ctr" indent="0" marL="0">
                        <a:buNone/>
                      </a:pPr>
                      <a:r>
                        <a:rPr lang="en-US" sz="1250" b="1" dirty="0">
                          <a:solidFill>
                            <a:srgbClr val="EEF3FA"/>
                          </a:solidFill>
                          <a:latin typeface="Calibri" pitchFamily="34" charset="0"/>
                          <a:ea typeface="Calibri" pitchFamily="34" charset="-122"/>
                          <a:cs typeface="Calibri" pitchFamily="34" charset="-120"/>
                        </a:rPr>
                        <a:t>DLS</a:t>
                      </a:r>
                      <a:endParaRPr lang="en-US" sz="1250" dirty="0">
                        <a:latin typeface="Calibri" charset="0"/>
                        <a:ea typeface="Calibri" charset="0"/>
                        <a:cs typeface="Calibri" charset="0"/>
                      </a:endParaRPr>
                    </a:p>
                  </a:txBody>
                  <a:tcPr marL="73152" marR="73152" marT="0" marB="0" anchor="ctr">
                    <a:lnL w="9525" cap="flat" cmpd="sng" algn="ctr">
                      <a:solidFill>
                        <a:srgbClr val="23344F"/>
                      </a:solidFill>
                      <a:prstDash val="solid"/>
                      <a:round/>
                      <a:headEnd type="none" w="med" len="med"/>
                      <a:tailEnd type="none" w="med" len="med"/>
                    </a:lnL>
                    <a:lnR w="9525" cap="flat" cmpd="sng" algn="ctr">
                      <a:solidFill>
                        <a:srgbClr val="23344F"/>
                      </a:solidFill>
                      <a:prstDash val="solid"/>
                      <a:round/>
                      <a:headEnd type="none" w="med" len="med"/>
                      <a:tailEnd type="none" w="med" len="med"/>
                    </a:lnR>
                    <a:lnT w="9525" cap="flat" cmpd="sng" algn="ctr">
                      <a:solidFill>
                        <a:srgbClr val="23344F"/>
                      </a:solidFill>
                      <a:prstDash val="solid"/>
                      <a:round/>
                      <a:headEnd type="none" w="med" len="med"/>
                      <a:tailEnd type="none" w="med" len="med"/>
                    </a:lnT>
                    <a:lnB w="9525" cap="flat" cmpd="sng" algn="ctr">
                      <a:solidFill>
                        <a:srgbClr val="23344F"/>
                      </a:solidFill>
                      <a:prstDash val="solid"/>
                      <a:round/>
                      <a:headEnd type="none" w="med" len="med"/>
                      <a:tailEnd type="none" w="med" len="med"/>
                    </a:lnB>
                    <a:solidFill>
                      <a:srgbClr val="0F1B2D"/>
                    </a:solidFill>
                  </a:tcPr>
                </a:tc>
                <a:tc>
                  <a:txBody>
                    <a:bodyPr/>
                    <a:lstStyle/>
                    <a:p>
                      <a:pPr algn="ctr" indent="0" marL="0">
                        <a:buNone/>
                      </a:pPr>
                      <a:r>
                        <a:rPr lang="en-US" sz="1250" b="1" dirty="0">
                          <a:solidFill>
                            <a:srgbClr val="EEF3FA"/>
                          </a:solidFill>
                          <a:latin typeface="Calibri" pitchFamily="34" charset="0"/>
                          <a:ea typeface="Calibri" pitchFamily="34" charset="-122"/>
                          <a:cs typeface="Calibri" pitchFamily="34" charset="-120"/>
                        </a:rPr>
                        <a:t>Net + LM</a:t>
                      </a:r>
                      <a:endParaRPr lang="en-US" sz="1250" dirty="0">
                        <a:latin typeface="Calibri" charset="0"/>
                        <a:ea typeface="Calibri" charset="0"/>
                        <a:cs typeface="Calibri" charset="0"/>
                      </a:endParaRPr>
                    </a:p>
                  </a:txBody>
                  <a:tcPr marL="73152" marR="73152" marT="0" marB="0" anchor="ctr">
                    <a:lnL w="9525" cap="flat" cmpd="sng" algn="ctr">
                      <a:solidFill>
                        <a:srgbClr val="23344F"/>
                      </a:solidFill>
                      <a:prstDash val="solid"/>
                      <a:round/>
                      <a:headEnd type="none" w="med" len="med"/>
                      <a:tailEnd type="none" w="med" len="med"/>
                    </a:lnL>
                    <a:lnR w="9525" cap="flat" cmpd="sng" algn="ctr">
                      <a:solidFill>
                        <a:srgbClr val="23344F"/>
                      </a:solidFill>
                      <a:prstDash val="solid"/>
                      <a:round/>
                      <a:headEnd type="none" w="med" len="med"/>
                      <a:tailEnd type="none" w="med" len="med"/>
                    </a:lnR>
                    <a:lnT w="9525" cap="flat" cmpd="sng" algn="ctr">
                      <a:solidFill>
                        <a:srgbClr val="23344F"/>
                      </a:solidFill>
                      <a:prstDash val="solid"/>
                      <a:round/>
                      <a:headEnd type="none" w="med" len="med"/>
                      <a:tailEnd type="none" w="med" len="med"/>
                    </a:lnT>
                    <a:lnB w="9525" cap="flat" cmpd="sng" algn="ctr">
                      <a:solidFill>
                        <a:srgbClr val="23344F"/>
                      </a:solidFill>
                      <a:prstDash val="solid"/>
                      <a:round/>
                      <a:headEnd type="none" w="med" len="med"/>
                      <a:tailEnd type="none" w="med" len="med"/>
                    </a:lnB>
                    <a:solidFill>
                      <a:srgbClr val="0F1B2D"/>
                    </a:solidFill>
                  </a:tcPr>
                </a:tc>
                <a:tc>
                  <a:txBody>
                    <a:bodyPr/>
                    <a:lstStyle/>
                    <a:p>
                      <a:pPr algn="ctr" indent="0" marL="0">
                        <a:buNone/>
                      </a:pPr>
                      <a:r>
                        <a:rPr lang="en-US" sz="1250" b="1" dirty="0">
                          <a:solidFill>
                            <a:srgbClr val="EEF3FA"/>
                          </a:solidFill>
                          <a:latin typeface="Calibri" pitchFamily="34" charset="0"/>
                          <a:ea typeface="Calibri" pitchFamily="34" charset="-122"/>
                          <a:cs typeface="Calibri" pitchFamily="34" charset="-120"/>
                        </a:rPr>
                        <a:t>LM only</a:t>
                      </a:r>
                      <a:endParaRPr lang="en-US" sz="1250" dirty="0">
                        <a:latin typeface="Calibri" charset="0"/>
                        <a:ea typeface="Calibri" charset="0"/>
                        <a:cs typeface="Calibri" charset="0"/>
                      </a:endParaRPr>
                    </a:p>
                  </a:txBody>
                  <a:tcPr marL="73152" marR="73152" marT="0" marB="0" anchor="ctr">
                    <a:lnL w="9525" cap="flat" cmpd="sng" algn="ctr">
                      <a:solidFill>
                        <a:srgbClr val="23344F"/>
                      </a:solidFill>
                      <a:prstDash val="solid"/>
                      <a:round/>
                      <a:headEnd type="none" w="med" len="med"/>
                      <a:tailEnd type="none" w="med" len="med"/>
                    </a:lnL>
                    <a:lnR w="9525" cap="flat" cmpd="sng" algn="ctr">
                      <a:solidFill>
                        <a:srgbClr val="23344F"/>
                      </a:solidFill>
                      <a:prstDash val="solid"/>
                      <a:round/>
                      <a:headEnd type="none" w="med" len="med"/>
                      <a:tailEnd type="none" w="med" len="med"/>
                    </a:lnR>
                    <a:lnT w="9525" cap="flat" cmpd="sng" algn="ctr">
                      <a:solidFill>
                        <a:srgbClr val="23344F"/>
                      </a:solidFill>
                      <a:prstDash val="solid"/>
                      <a:round/>
                      <a:headEnd type="none" w="med" len="med"/>
                      <a:tailEnd type="none" w="med" len="med"/>
                    </a:lnT>
                    <a:lnB w="9525" cap="flat" cmpd="sng" algn="ctr">
                      <a:solidFill>
                        <a:srgbClr val="23344F"/>
                      </a:solidFill>
                      <a:prstDash val="solid"/>
                      <a:round/>
                      <a:headEnd type="none" w="med" len="med"/>
                      <a:tailEnd type="none" w="med" len="med"/>
                    </a:lnB>
                    <a:solidFill>
                      <a:srgbClr val="0F1B2D"/>
                    </a:solidFill>
                  </a:tcPr>
                </a:tc>
              </a:tr>
              <a:tr h="384048">
                <a:tc>
                  <a:txBody>
                    <a:bodyPr/>
                    <a:lstStyle/>
                    <a:p>
                      <a:pPr indent="0" marL="0">
                        <a:buNone/>
                      </a:pPr>
                      <a:r>
                        <a:rPr lang="en-US" sz="1250" dirty="0">
                          <a:solidFill>
                            <a:srgbClr val="AEBBD0"/>
                          </a:solidFill>
                          <a:latin typeface="Calibri" pitchFamily="34" charset="0"/>
                          <a:ea typeface="Calibri" pitchFamily="34" charset="-122"/>
                          <a:cs typeface="Calibri" pitchFamily="34" charset="-120"/>
                        </a:rPr>
                        <a:t>warm (as trained)</a:t>
                      </a:r>
                      <a:endParaRPr lang="en-US" sz="1250" dirty="0">
                        <a:latin typeface="Calibri" charset="0"/>
                        <a:ea typeface="Calibri" charset="0"/>
                        <a:cs typeface="Calibri" charset="0"/>
                      </a:endParaRPr>
                    </a:p>
                  </a:txBody>
                  <a:tcPr marL="73152" marR="73152" marT="0" marB="0" anchor="ctr">
                    <a:lnL w="9525" cap="flat" cmpd="sng" algn="ctr">
                      <a:solidFill>
                        <a:srgbClr val="23344F"/>
                      </a:solidFill>
                      <a:prstDash val="solid"/>
                      <a:round/>
                      <a:headEnd type="none" w="med" len="med"/>
                      <a:tailEnd type="none" w="med" len="med"/>
                    </a:lnL>
                    <a:lnR w="9525" cap="flat" cmpd="sng" algn="ctr">
                      <a:solidFill>
                        <a:srgbClr val="23344F"/>
                      </a:solidFill>
                      <a:prstDash val="solid"/>
                      <a:round/>
                      <a:headEnd type="none" w="med" len="med"/>
                      <a:tailEnd type="none" w="med" len="med"/>
                    </a:lnR>
                    <a:lnT w="9525" cap="flat" cmpd="sng" algn="ctr">
                      <a:solidFill>
                        <a:srgbClr val="23344F"/>
                      </a:solidFill>
                      <a:prstDash val="solid"/>
                      <a:round/>
                      <a:headEnd type="none" w="med" len="med"/>
                      <a:tailEnd type="none" w="med" len="med"/>
                    </a:lnT>
                    <a:lnB w="9525" cap="flat" cmpd="sng" algn="ctr">
                      <a:solidFill>
                        <a:srgbClr val="23344F"/>
                      </a:solidFill>
                      <a:prstDash val="solid"/>
                      <a:round/>
                      <a:headEnd type="none" w="med" len="med"/>
                      <a:tailEnd type="none" w="med" len="med"/>
                    </a:lnB>
                    <a:solidFill>
                      <a:srgbClr val="0F1B2D"/>
                    </a:solidFill>
                  </a:tcPr>
                </a:tc>
                <a:tc>
                  <a:txBody>
                    <a:bodyPr/>
                    <a:lstStyle/>
                    <a:p>
                      <a:pPr algn="ctr" indent="0" marL="0">
                        <a:buNone/>
                      </a:pPr>
                      <a:r>
                        <a:rPr lang="en-US" sz="1250" dirty="0">
                          <a:solidFill>
                            <a:srgbClr val="AEBBD0"/>
                          </a:solidFill>
                          <a:latin typeface="Calibri" pitchFamily="34" charset="0"/>
                          <a:ea typeface="Calibri" pitchFamily="34" charset="-122"/>
                          <a:cs typeface="Calibri" pitchFamily="34" charset="-120"/>
                        </a:rPr>
                        <a:t>0.0 %</a:t>
                      </a:r>
                      <a:endParaRPr lang="en-US" sz="1250" dirty="0">
                        <a:latin typeface="Calibri" charset="0"/>
                        <a:ea typeface="Calibri" charset="0"/>
                        <a:cs typeface="Calibri" charset="0"/>
                      </a:endParaRPr>
                    </a:p>
                  </a:txBody>
                  <a:tcPr marL="73152" marR="73152" marT="0" marB="0" anchor="ctr">
                    <a:lnL w="9525" cap="flat" cmpd="sng" algn="ctr">
                      <a:solidFill>
                        <a:srgbClr val="23344F"/>
                      </a:solidFill>
                      <a:prstDash val="solid"/>
                      <a:round/>
                      <a:headEnd type="none" w="med" len="med"/>
                      <a:tailEnd type="none" w="med" len="med"/>
                    </a:lnL>
                    <a:lnR w="9525" cap="flat" cmpd="sng" algn="ctr">
                      <a:solidFill>
                        <a:srgbClr val="23344F"/>
                      </a:solidFill>
                      <a:prstDash val="solid"/>
                      <a:round/>
                      <a:headEnd type="none" w="med" len="med"/>
                      <a:tailEnd type="none" w="med" len="med"/>
                    </a:lnR>
                    <a:lnT w="9525" cap="flat" cmpd="sng" algn="ctr">
                      <a:solidFill>
                        <a:srgbClr val="23344F"/>
                      </a:solidFill>
                      <a:prstDash val="solid"/>
                      <a:round/>
                      <a:headEnd type="none" w="med" len="med"/>
                      <a:tailEnd type="none" w="med" len="med"/>
                    </a:lnT>
                    <a:lnB w="9525" cap="flat" cmpd="sng" algn="ctr">
                      <a:solidFill>
                        <a:srgbClr val="23344F"/>
                      </a:solidFill>
                      <a:prstDash val="solid"/>
                      <a:round/>
                      <a:headEnd type="none" w="med" len="med"/>
                      <a:tailEnd type="none" w="med" len="med"/>
                    </a:lnB>
                    <a:solidFill>
                      <a:srgbClr val="0F1B2D"/>
                    </a:solidFill>
                  </a:tcPr>
                </a:tc>
                <a:tc>
                  <a:txBody>
                    <a:bodyPr/>
                    <a:lstStyle/>
                    <a:p>
                      <a:pPr algn="ctr" indent="0" marL="0">
                        <a:buNone/>
                      </a:pPr>
                      <a:r>
                        <a:rPr lang="en-US" sz="1250" dirty="0">
                          <a:solidFill>
                            <a:srgbClr val="AEBBD0"/>
                          </a:solidFill>
                          <a:latin typeface="Calibri" pitchFamily="34" charset="0"/>
                          <a:ea typeface="Calibri" pitchFamily="34" charset="-122"/>
                          <a:cs typeface="Calibri" pitchFamily="34" charset="-120"/>
                        </a:rPr>
                        <a:t>25.7 %</a:t>
                      </a:r>
                      <a:endParaRPr lang="en-US" sz="1250" dirty="0">
                        <a:latin typeface="Calibri" charset="0"/>
                        <a:ea typeface="Calibri" charset="0"/>
                        <a:cs typeface="Calibri" charset="0"/>
                      </a:endParaRPr>
                    </a:p>
                  </a:txBody>
                  <a:tcPr marL="73152" marR="73152" marT="0" marB="0" anchor="ctr">
                    <a:lnL w="9525" cap="flat" cmpd="sng" algn="ctr">
                      <a:solidFill>
                        <a:srgbClr val="23344F"/>
                      </a:solidFill>
                      <a:prstDash val="solid"/>
                      <a:round/>
                      <a:headEnd type="none" w="med" len="med"/>
                      <a:tailEnd type="none" w="med" len="med"/>
                    </a:lnL>
                    <a:lnR w="9525" cap="flat" cmpd="sng" algn="ctr">
                      <a:solidFill>
                        <a:srgbClr val="23344F"/>
                      </a:solidFill>
                      <a:prstDash val="solid"/>
                      <a:round/>
                      <a:headEnd type="none" w="med" len="med"/>
                      <a:tailEnd type="none" w="med" len="med"/>
                    </a:lnR>
                    <a:lnT w="9525" cap="flat" cmpd="sng" algn="ctr">
                      <a:solidFill>
                        <a:srgbClr val="23344F"/>
                      </a:solidFill>
                      <a:prstDash val="solid"/>
                      <a:round/>
                      <a:headEnd type="none" w="med" len="med"/>
                      <a:tailEnd type="none" w="med" len="med"/>
                    </a:lnT>
                    <a:lnB w="9525" cap="flat" cmpd="sng" algn="ctr">
                      <a:solidFill>
                        <a:srgbClr val="23344F"/>
                      </a:solidFill>
                      <a:prstDash val="solid"/>
                      <a:round/>
                      <a:headEnd type="none" w="med" len="med"/>
                      <a:tailEnd type="none" w="med" len="med"/>
                    </a:lnB>
                    <a:solidFill>
                      <a:srgbClr val="0F1B2D"/>
                    </a:solidFill>
                  </a:tcPr>
                </a:tc>
                <a:tc>
                  <a:txBody>
                    <a:bodyPr/>
                    <a:lstStyle/>
                    <a:p>
                      <a:pPr algn="ctr" indent="0" marL="0">
                        <a:buNone/>
                      </a:pPr>
                      <a:r>
                        <a:rPr lang="en-US" sz="1250" b="1" dirty="0">
                          <a:solidFill>
                            <a:srgbClr val="8FF08F"/>
                          </a:solidFill>
                          <a:latin typeface="Calibri" pitchFamily="34" charset="0"/>
                          <a:ea typeface="Calibri" pitchFamily="34" charset="-122"/>
                          <a:cs typeface="Calibri" pitchFamily="34" charset="-120"/>
                        </a:rPr>
                        <a:t>100.0 %</a:t>
                      </a:r>
                      <a:endParaRPr lang="en-US" sz="1250" dirty="0">
                        <a:latin typeface="Calibri" charset="0"/>
                        <a:ea typeface="Calibri" charset="0"/>
                        <a:cs typeface="Calibri" charset="0"/>
                      </a:endParaRPr>
                    </a:p>
                  </a:txBody>
                  <a:tcPr marL="73152" marR="73152" marT="0" marB="0" anchor="ctr">
                    <a:lnL w="9525" cap="flat" cmpd="sng" algn="ctr">
                      <a:solidFill>
                        <a:srgbClr val="23344F"/>
                      </a:solidFill>
                      <a:prstDash val="solid"/>
                      <a:round/>
                      <a:headEnd type="none" w="med" len="med"/>
                      <a:tailEnd type="none" w="med" len="med"/>
                    </a:lnL>
                    <a:lnR w="9525" cap="flat" cmpd="sng" algn="ctr">
                      <a:solidFill>
                        <a:srgbClr val="23344F"/>
                      </a:solidFill>
                      <a:prstDash val="solid"/>
                      <a:round/>
                      <a:headEnd type="none" w="med" len="med"/>
                      <a:tailEnd type="none" w="med" len="med"/>
                    </a:lnR>
                    <a:lnT w="9525" cap="flat" cmpd="sng" algn="ctr">
                      <a:solidFill>
                        <a:srgbClr val="23344F"/>
                      </a:solidFill>
                      <a:prstDash val="solid"/>
                      <a:round/>
                      <a:headEnd type="none" w="med" len="med"/>
                      <a:tailEnd type="none" w="med" len="med"/>
                    </a:lnT>
                    <a:lnB w="9525" cap="flat" cmpd="sng" algn="ctr">
                      <a:solidFill>
                        <a:srgbClr val="23344F"/>
                      </a:solidFill>
                      <a:prstDash val="solid"/>
                      <a:round/>
                      <a:headEnd type="none" w="med" len="med"/>
                      <a:tailEnd type="none" w="med" len="med"/>
                    </a:lnB>
                    <a:solidFill>
                      <a:srgbClr val="0F1B2D"/>
                    </a:solidFill>
                  </a:tcPr>
                </a:tc>
                <a:tc>
                  <a:txBody>
                    <a:bodyPr/>
                    <a:lstStyle/>
                    <a:p>
                      <a:pPr algn="ctr" indent="0" marL="0">
                        <a:buNone/>
                      </a:pPr>
                      <a:r>
                        <a:rPr lang="en-US" sz="1250" b="1" dirty="0">
                          <a:solidFill>
                            <a:srgbClr val="8FF08F"/>
                          </a:solidFill>
                          <a:latin typeface="Calibri" pitchFamily="34" charset="0"/>
                          <a:ea typeface="Calibri" pitchFamily="34" charset="-122"/>
                          <a:cs typeface="Calibri" pitchFamily="34" charset="-120"/>
                        </a:rPr>
                        <a:t>100.0 %</a:t>
                      </a:r>
                      <a:endParaRPr lang="en-US" sz="1250" dirty="0">
                        <a:latin typeface="Calibri" charset="0"/>
                        <a:ea typeface="Calibri" charset="0"/>
                        <a:cs typeface="Calibri" charset="0"/>
                      </a:endParaRPr>
                    </a:p>
                  </a:txBody>
                  <a:tcPr marL="73152" marR="73152" marT="0" marB="0" anchor="ctr">
                    <a:lnL w="9525" cap="flat" cmpd="sng" algn="ctr">
                      <a:solidFill>
                        <a:srgbClr val="23344F"/>
                      </a:solidFill>
                      <a:prstDash val="solid"/>
                      <a:round/>
                      <a:headEnd type="none" w="med" len="med"/>
                      <a:tailEnd type="none" w="med" len="med"/>
                    </a:lnL>
                    <a:lnR w="9525" cap="flat" cmpd="sng" algn="ctr">
                      <a:solidFill>
                        <a:srgbClr val="23344F"/>
                      </a:solidFill>
                      <a:prstDash val="solid"/>
                      <a:round/>
                      <a:headEnd type="none" w="med" len="med"/>
                      <a:tailEnd type="none" w="med" len="med"/>
                    </a:lnR>
                    <a:lnT w="9525" cap="flat" cmpd="sng" algn="ctr">
                      <a:solidFill>
                        <a:srgbClr val="23344F"/>
                      </a:solidFill>
                      <a:prstDash val="solid"/>
                      <a:round/>
                      <a:headEnd type="none" w="med" len="med"/>
                      <a:tailEnd type="none" w="med" len="med"/>
                    </a:lnT>
                    <a:lnB w="9525" cap="flat" cmpd="sng" algn="ctr">
                      <a:solidFill>
                        <a:srgbClr val="23344F"/>
                      </a:solidFill>
                      <a:prstDash val="solid"/>
                      <a:round/>
                      <a:headEnd type="none" w="med" len="med"/>
                      <a:tailEnd type="none" w="med" len="med"/>
                    </a:lnB>
                    <a:solidFill>
                      <a:srgbClr val="0F1B2D"/>
                    </a:solidFill>
                  </a:tcPr>
                </a:tc>
              </a:tr>
              <a:tr h="384048">
                <a:tc>
                  <a:txBody>
                    <a:bodyPr/>
                    <a:lstStyle/>
                    <a:p>
                      <a:pPr indent="0" marL="0">
                        <a:buNone/>
                      </a:pPr>
                      <a:r>
                        <a:rPr lang="en-US" sz="1250" dirty="0">
                          <a:solidFill>
                            <a:srgbClr val="AEBBD0"/>
                          </a:solidFill>
                          <a:latin typeface="Calibri" pitchFamily="34" charset="0"/>
                          <a:ea typeface="Calibri" pitchFamily="34" charset="-122"/>
                          <a:cs typeface="Calibri" pitchFamily="34" charset="-120"/>
                        </a:rPr>
                        <a:t>home (all 0°)</a:t>
                      </a:r>
                      <a:endParaRPr lang="en-US" sz="1250" dirty="0">
                        <a:latin typeface="Calibri" charset="0"/>
                        <a:ea typeface="Calibri" charset="0"/>
                        <a:cs typeface="Calibri" charset="0"/>
                      </a:endParaRPr>
                    </a:p>
                  </a:txBody>
                  <a:tcPr marL="73152" marR="73152" marT="0" marB="0" anchor="ctr">
                    <a:lnL w="9525" cap="flat" cmpd="sng" algn="ctr">
                      <a:solidFill>
                        <a:srgbClr val="23344F"/>
                      </a:solidFill>
                      <a:prstDash val="solid"/>
                      <a:round/>
                      <a:headEnd type="none" w="med" len="med"/>
                      <a:tailEnd type="none" w="med" len="med"/>
                    </a:lnL>
                    <a:lnR w="9525" cap="flat" cmpd="sng" algn="ctr">
                      <a:solidFill>
                        <a:srgbClr val="23344F"/>
                      </a:solidFill>
                      <a:prstDash val="solid"/>
                      <a:round/>
                      <a:headEnd type="none" w="med" len="med"/>
                      <a:tailEnd type="none" w="med" len="med"/>
                    </a:lnR>
                    <a:lnT w="9525" cap="flat" cmpd="sng" algn="ctr">
                      <a:solidFill>
                        <a:srgbClr val="23344F"/>
                      </a:solidFill>
                      <a:prstDash val="solid"/>
                      <a:round/>
                      <a:headEnd type="none" w="med" len="med"/>
                      <a:tailEnd type="none" w="med" len="med"/>
                    </a:lnT>
                    <a:lnB w="9525" cap="flat" cmpd="sng" algn="ctr">
                      <a:solidFill>
                        <a:srgbClr val="23344F"/>
                      </a:solidFill>
                      <a:prstDash val="solid"/>
                      <a:round/>
                      <a:headEnd type="none" w="med" len="med"/>
                      <a:tailEnd type="none" w="med" len="med"/>
                    </a:lnB>
                    <a:solidFill>
                      <a:srgbClr val="0F1B2D"/>
                    </a:solidFill>
                  </a:tcPr>
                </a:tc>
                <a:tc>
                  <a:txBody>
                    <a:bodyPr/>
                    <a:lstStyle/>
                    <a:p>
                      <a:pPr algn="ctr" indent="0" marL="0">
                        <a:buNone/>
                      </a:pPr>
                      <a:r>
                        <a:rPr lang="en-US" sz="1250" dirty="0">
                          <a:solidFill>
                            <a:srgbClr val="AEBBD0"/>
                          </a:solidFill>
                          <a:latin typeface="Calibri" pitchFamily="34" charset="0"/>
                          <a:ea typeface="Calibri" pitchFamily="34" charset="-122"/>
                          <a:cs typeface="Calibri" pitchFamily="34" charset="-120"/>
                        </a:rPr>
                        <a:t>0.0 %</a:t>
                      </a:r>
                      <a:endParaRPr lang="en-US" sz="1250" dirty="0">
                        <a:latin typeface="Calibri" charset="0"/>
                        <a:ea typeface="Calibri" charset="0"/>
                        <a:cs typeface="Calibri" charset="0"/>
                      </a:endParaRPr>
                    </a:p>
                  </a:txBody>
                  <a:tcPr marL="73152" marR="73152" marT="0" marB="0" anchor="ctr">
                    <a:lnL w="9525" cap="flat" cmpd="sng" algn="ctr">
                      <a:solidFill>
                        <a:srgbClr val="23344F"/>
                      </a:solidFill>
                      <a:prstDash val="solid"/>
                      <a:round/>
                      <a:headEnd type="none" w="med" len="med"/>
                      <a:tailEnd type="none" w="med" len="med"/>
                    </a:lnL>
                    <a:lnR w="9525" cap="flat" cmpd="sng" algn="ctr">
                      <a:solidFill>
                        <a:srgbClr val="23344F"/>
                      </a:solidFill>
                      <a:prstDash val="solid"/>
                      <a:round/>
                      <a:headEnd type="none" w="med" len="med"/>
                      <a:tailEnd type="none" w="med" len="med"/>
                    </a:lnR>
                    <a:lnT w="9525" cap="flat" cmpd="sng" algn="ctr">
                      <a:solidFill>
                        <a:srgbClr val="23344F"/>
                      </a:solidFill>
                      <a:prstDash val="solid"/>
                      <a:round/>
                      <a:headEnd type="none" w="med" len="med"/>
                      <a:tailEnd type="none" w="med" len="med"/>
                    </a:lnT>
                    <a:lnB w="9525" cap="flat" cmpd="sng" algn="ctr">
                      <a:solidFill>
                        <a:srgbClr val="23344F"/>
                      </a:solidFill>
                      <a:prstDash val="solid"/>
                      <a:round/>
                      <a:headEnd type="none" w="med" len="med"/>
                      <a:tailEnd type="none" w="med" len="med"/>
                    </a:lnB>
                    <a:solidFill>
                      <a:srgbClr val="0F1B2D"/>
                    </a:solidFill>
                  </a:tcPr>
                </a:tc>
                <a:tc>
                  <a:txBody>
                    <a:bodyPr/>
                    <a:lstStyle/>
                    <a:p>
                      <a:pPr algn="ctr" indent="0" marL="0">
                        <a:buNone/>
                      </a:pPr>
                      <a:r>
                        <a:rPr lang="en-US" sz="1250" dirty="0">
                          <a:solidFill>
                            <a:srgbClr val="AEBBD0"/>
                          </a:solidFill>
                          <a:latin typeface="Calibri" pitchFamily="34" charset="0"/>
                          <a:ea typeface="Calibri" pitchFamily="34" charset="-122"/>
                          <a:cs typeface="Calibri" pitchFamily="34" charset="-120"/>
                        </a:rPr>
                        <a:t>2.6 %</a:t>
                      </a:r>
                      <a:endParaRPr lang="en-US" sz="1250" dirty="0">
                        <a:latin typeface="Calibri" charset="0"/>
                        <a:ea typeface="Calibri" charset="0"/>
                        <a:cs typeface="Calibri" charset="0"/>
                      </a:endParaRPr>
                    </a:p>
                  </a:txBody>
                  <a:tcPr marL="73152" marR="73152" marT="0" marB="0" anchor="ctr">
                    <a:lnL w="9525" cap="flat" cmpd="sng" algn="ctr">
                      <a:solidFill>
                        <a:srgbClr val="23344F"/>
                      </a:solidFill>
                      <a:prstDash val="solid"/>
                      <a:round/>
                      <a:headEnd type="none" w="med" len="med"/>
                      <a:tailEnd type="none" w="med" len="med"/>
                    </a:lnL>
                    <a:lnR w="9525" cap="flat" cmpd="sng" algn="ctr">
                      <a:solidFill>
                        <a:srgbClr val="23344F"/>
                      </a:solidFill>
                      <a:prstDash val="solid"/>
                      <a:round/>
                      <a:headEnd type="none" w="med" len="med"/>
                      <a:tailEnd type="none" w="med" len="med"/>
                    </a:lnR>
                    <a:lnT w="9525" cap="flat" cmpd="sng" algn="ctr">
                      <a:solidFill>
                        <a:srgbClr val="23344F"/>
                      </a:solidFill>
                      <a:prstDash val="solid"/>
                      <a:round/>
                      <a:headEnd type="none" w="med" len="med"/>
                      <a:tailEnd type="none" w="med" len="med"/>
                    </a:lnT>
                    <a:lnB w="9525" cap="flat" cmpd="sng" algn="ctr">
                      <a:solidFill>
                        <a:srgbClr val="23344F"/>
                      </a:solidFill>
                      <a:prstDash val="solid"/>
                      <a:round/>
                      <a:headEnd type="none" w="med" len="med"/>
                      <a:tailEnd type="none" w="med" len="med"/>
                    </a:lnB>
                    <a:solidFill>
                      <a:srgbClr val="0F1B2D"/>
                    </a:solidFill>
                  </a:tcPr>
                </a:tc>
                <a:tc>
                  <a:txBody>
                    <a:bodyPr/>
                    <a:lstStyle/>
                    <a:p>
                      <a:pPr algn="ctr" indent="0" marL="0">
                        <a:buNone/>
                      </a:pPr>
                      <a:r>
                        <a:rPr lang="en-US" sz="1250" b="1" dirty="0">
                          <a:solidFill>
                            <a:srgbClr val="8FF08F"/>
                          </a:solidFill>
                          <a:latin typeface="Calibri" pitchFamily="34" charset="0"/>
                          <a:ea typeface="Calibri" pitchFamily="34" charset="-122"/>
                          <a:cs typeface="Calibri" pitchFamily="34" charset="-120"/>
                        </a:rPr>
                        <a:t>100.0 %</a:t>
                      </a:r>
                      <a:endParaRPr lang="en-US" sz="1250" dirty="0">
                        <a:latin typeface="Calibri" charset="0"/>
                        <a:ea typeface="Calibri" charset="0"/>
                        <a:cs typeface="Calibri" charset="0"/>
                      </a:endParaRPr>
                    </a:p>
                  </a:txBody>
                  <a:tcPr marL="73152" marR="73152" marT="0" marB="0" anchor="ctr">
                    <a:lnL w="9525" cap="flat" cmpd="sng" algn="ctr">
                      <a:solidFill>
                        <a:srgbClr val="23344F"/>
                      </a:solidFill>
                      <a:prstDash val="solid"/>
                      <a:round/>
                      <a:headEnd type="none" w="med" len="med"/>
                      <a:tailEnd type="none" w="med" len="med"/>
                    </a:lnL>
                    <a:lnR w="9525" cap="flat" cmpd="sng" algn="ctr">
                      <a:solidFill>
                        <a:srgbClr val="23344F"/>
                      </a:solidFill>
                      <a:prstDash val="solid"/>
                      <a:round/>
                      <a:headEnd type="none" w="med" len="med"/>
                      <a:tailEnd type="none" w="med" len="med"/>
                    </a:lnR>
                    <a:lnT w="9525" cap="flat" cmpd="sng" algn="ctr">
                      <a:solidFill>
                        <a:srgbClr val="23344F"/>
                      </a:solidFill>
                      <a:prstDash val="solid"/>
                      <a:round/>
                      <a:headEnd type="none" w="med" len="med"/>
                      <a:tailEnd type="none" w="med" len="med"/>
                    </a:lnT>
                    <a:lnB w="9525" cap="flat" cmpd="sng" algn="ctr">
                      <a:solidFill>
                        <a:srgbClr val="23344F"/>
                      </a:solidFill>
                      <a:prstDash val="solid"/>
                      <a:round/>
                      <a:headEnd type="none" w="med" len="med"/>
                      <a:tailEnd type="none" w="med" len="med"/>
                    </a:lnB>
                    <a:solidFill>
                      <a:srgbClr val="0F1B2D"/>
                    </a:solidFill>
                  </a:tcPr>
                </a:tc>
                <a:tc>
                  <a:txBody>
                    <a:bodyPr/>
                    <a:lstStyle/>
                    <a:p>
                      <a:pPr algn="ctr" indent="0" marL="0">
                        <a:buNone/>
                      </a:pPr>
                      <a:r>
                        <a:rPr lang="en-US" sz="1250" b="1" dirty="0">
                          <a:solidFill>
                            <a:srgbClr val="8FF08F"/>
                          </a:solidFill>
                          <a:latin typeface="Calibri" pitchFamily="34" charset="0"/>
                          <a:ea typeface="Calibri" pitchFamily="34" charset="-122"/>
                          <a:cs typeface="Calibri" pitchFamily="34" charset="-120"/>
                        </a:rPr>
                        <a:t>100.0 %</a:t>
                      </a:r>
                      <a:endParaRPr lang="en-US" sz="1250" dirty="0">
                        <a:latin typeface="Calibri" charset="0"/>
                        <a:ea typeface="Calibri" charset="0"/>
                        <a:cs typeface="Calibri" charset="0"/>
                      </a:endParaRPr>
                    </a:p>
                  </a:txBody>
                  <a:tcPr marL="73152" marR="73152" marT="0" marB="0" anchor="ctr">
                    <a:lnL w="9525" cap="flat" cmpd="sng" algn="ctr">
                      <a:solidFill>
                        <a:srgbClr val="23344F"/>
                      </a:solidFill>
                      <a:prstDash val="solid"/>
                      <a:round/>
                      <a:headEnd type="none" w="med" len="med"/>
                      <a:tailEnd type="none" w="med" len="med"/>
                    </a:lnL>
                    <a:lnR w="9525" cap="flat" cmpd="sng" algn="ctr">
                      <a:solidFill>
                        <a:srgbClr val="23344F"/>
                      </a:solidFill>
                      <a:prstDash val="solid"/>
                      <a:round/>
                      <a:headEnd type="none" w="med" len="med"/>
                      <a:tailEnd type="none" w="med" len="med"/>
                    </a:lnR>
                    <a:lnT w="9525" cap="flat" cmpd="sng" algn="ctr">
                      <a:solidFill>
                        <a:srgbClr val="23344F"/>
                      </a:solidFill>
                      <a:prstDash val="solid"/>
                      <a:round/>
                      <a:headEnd type="none" w="med" len="med"/>
                      <a:tailEnd type="none" w="med" len="med"/>
                    </a:lnT>
                    <a:lnB w="9525" cap="flat" cmpd="sng" algn="ctr">
                      <a:solidFill>
                        <a:srgbClr val="23344F"/>
                      </a:solidFill>
                      <a:prstDash val="solid"/>
                      <a:round/>
                      <a:headEnd type="none" w="med" len="med"/>
                      <a:tailEnd type="none" w="med" len="med"/>
                    </a:lnB>
                    <a:solidFill>
                      <a:srgbClr val="0F1B2D"/>
                    </a:solidFill>
                  </a:tcPr>
                </a:tc>
              </a:tr>
              <a:tr h="384048">
                <a:tc>
                  <a:txBody>
                    <a:bodyPr/>
                    <a:lstStyle/>
                    <a:p>
                      <a:pPr indent="0" marL="0">
                        <a:buNone/>
                      </a:pPr>
                      <a:r>
                        <a:rPr lang="en-US" sz="1250" dirty="0">
                          <a:solidFill>
                            <a:srgbClr val="AEBBD0"/>
                          </a:solidFill>
                          <a:latin typeface="Calibri" pitchFamily="34" charset="0"/>
                          <a:ea typeface="Calibri" pitchFamily="34" charset="-122"/>
                          <a:cs typeface="Calibri" pitchFamily="34" charset="-120"/>
                        </a:rPr>
                        <a:t>random</a:t>
                      </a:r>
                      <a:endParaRPr lang="en-US" sz="1250" dirty="0">
                        <a:latin typeface="Calibri" charset="0"/>
                        <a:ea typeface="Calibri" charset="0"/>
                        <a:cs typeface="Calibri" charset="0"/>
                      </a:endParaRPr>
                    </a:p>
                  </a:txBody>
                  <a:tcPr marL="73152" marR="73152" marT="0" marB="0" anchor="ctr">
                    <a:lnL w="9525" cap="flat" cmpd="sng" algn="ctr">
                      <a:solidFill>
                        <a:srgbClr val="23344F"/>
                      </a:solidFill>
                      <a:prstDash val="solid"/>
                      <a:round/>
                      <a:headEnd type="none" w="med" len="med"/>
                      <a:tailEnd type="none" w="med" len="med"/>
                    </a:lnL>
                    <a:lnR w="9525" cap="flat" cmpd="sng" algn="ctr">
                      <a:solidFill>
                        <a:srgbClr val="23344F"/>
                      </a:solidFill>
                      <a:prstDash val="solid"/>
                      <a:round/>
                      <a:headEnd type="none" w="med" len="med"/>
                      <a:tailEnd type="none" w="med" len="med"/>
                    </a:lnR>
                    <a:lnT w="9525" cap="flat" cmpd="sng" algn="ctr">
                      <a:solidFill>
                        <a:srgbClr val="23344F"/>
                      </a:solidFill>
                      <a:prstDash val="solid"/>
                      <a:round/>
                      <a:headEnd type="none" w="med" len="med"/>
                      <a:tailEnd type="none" w="med" len="med"/>
                    </a:lnT>
                    <a:lnB w="9525" cap="flat" cmpd="sng" algn="ctr">
                      <a:solidFill>
                        <a:srgbClr val="23344F"/>
                      </a:solidFill>
                      <a:prstDash val="solid"/>
                      <a:round/>
                      <a:headEnd type="none" w="med" len="med"/>
                      <a:tailEnd type="none" w="med" len="med"/>
                    </a:lnB>
                    <a:solidFill>
                      <a:srgbClr val="0F1B2D"/>
                    </a:solidFill>
                  </a:tcPr>
                </a:tc>
                <a:tc>
                  <a:txBody>
                    <a:bodyPr/>
                    <a:lstStyle/>
                    <a:p>
                      <a:pPr algn="ctr" indent="0" marL="0">
                        <a:buNone/>
                      </a:pPr>
                      <a:r>
                        <a:rPr lang="en-US" sz="1250" dirty="0">
                          <a:solidFill>
                            <a:srgbClr val="AEBBD0"/>
                          </a:solidFill>
                          <a:latin typeface="Calibri" pitchFamily="34" charset="0"/>
                          <a:ea typeface="Calibri" pitchFamily="34" charset="-122"/>
                          <a:cs typeface="Calibri" pitchFamily="34" charset="-120"/>
                        </a:rPr>
                        <a:t>0.0 %</a:t>
                      </a:r>
                      <a:endParaRPr lang="en-US" sz="1250" dirty="0">
                        <a:latin typeface="Calibri" charset="0"/>
                        <a:ea typeface="Calibri" charset="0"/>
                        <a:cs typeface="Calibri" charset="0"/>
                      </a:endParaRPr>
                    </a:p>
                  </a:txBody>
                  <a:tcPr marL="73152" marR="73152" marT="0" marB="0" anchor="ctr">
                    <a:lnL w="9525" cap="flat" cmpd="sng" algn="ctr">
                      <a:solidFill>
                        <a:srgbClr val="23344F"/>
                      </a:solidFill>
                      <a:prstDash val="solid"/>
                      <a:round/>
                      <a:headEnd type="none" w="med" len="med"/>
                      <a:tailEnd type="none" w="med" len="med"/>
                    </a:lnL>
                    <a:lnR w="9525" cap="flat" cmpd="sng" algn="ctr">
                      <a:solidFill>
                        <a:srgbClr val="23344F"/>
                      </a:solidFill>
                      <a:prstDash val="solid"/>
                      <a:round/>
                      <a:headEnd type="none" w="med" len="med"/>
                      <a:tailEnd type="none" w="med" len="med"/>
                    </a:lnR>
                    <a:lnT w="9525" cap="flat" cmpd="sng" algn="ctr">
                      <a:solidFill>
                        <a:srgbClr val="23344F"/>
                      </a:solidFill>
                      <a:prstDash val="solid"/>
                      <a:round/>
                      <a:headEnd type="none" w="med" len="med"/>
                      <a:tailEnd type="none" w="med" len="med"/>
                    </a:lnT>
                    <a:lnB w="9525" cap="flat" cmpd="sng" algn="ctr">
                      <a:solidFill>
                        <a:srgbClr val="23344F"/>
                      </a:solidFill>
                      <a:prstDash val="solid"/>
                      <a:round/>
                      <a:headEnd type="none" w="med" len="med"/>
                      <a:tailEnd type="none" w="med" len="med"/>
                    </a:lnB>
                    <a:solidFill>
                      <a:srgbClr val="0F1B2D"/>
                    </a:solidFill>
                  </a:tcPr>
                </a:tc>
                <a:tc>
                  <a:txBody>
                    <a:bodyPr/>
                    <a:lstStyle/>
                    <a:p>
                      <a:pPr algn="ctr" indent="0" marL="0">
                        <a:buNone/>
                      </a:pPr>
                      <a:r>
                        <a:rPr lang="en-US" sz="1250" dirty="0">
                          <a:solidFill>
                            <a:srgbClr val="AEBBD0"/>
                          </a:solidFill>
                          <a:latin typeface="Calibri" pitchFamily="34" charset="0"/>
                          <a:ea typeface="Calibri" pitchFamily="34" charset="-122"/>
                          <a:cs typeface="Calibri" pitchFamily="34" charset="-120"/>
                        </a:rPr>
                        <a:t>3.7 %</a:t>
                      </a:r>
                      <a:endParaRPr lang="en-US" sz="1250" dirty="0">
                        <a:latin typeface="Calibri" charset="0"/>
                        <a:ea typeface="Calibri" charset="0"/>
                        <a:cs typeface="Calibri" charset="0"/>
                      </a:endParaRPr>
                    </a:p>
                  </a:txBody>
                  <a:tcPr marL="73152" marR="73152" marT="0" marB="0" anchor="ctr">
                    <a:lnL w="9525" cap="flat" cmpd="sng" algn="ctr">
                      <a:solidFill>
                        <a:srgbClr val="23344F"/>
                      </a:solidFill>
                      <a:prstDash val="solid"/>
                      <a:round/>
                      <a:headEnd type="none" w="med" len="med"/>
                      <a:tailEnd type="none" w="med" len="med"/>
                    </a:lnL>
                    <a:lnR w="9525" cap="flat" cmpd="sng" algn="ctr">
                      <a:solidFill>
                        <a:srgbClr val="23344F"/>
                      </a:solidFill>
                      <a:prstDash val="solid"/>
                      <a:round/>
                      <a:headEnd type="none" w="med" len="med"/>
                      <a:tailEnd type="none" w="med" len="med"/>
                    </a:lnR>
                    <a:lnT w="9525" cap="flat" cmpd="sng" algn="ctr">
                      <a:solidFill>
                        <a:srgbClr val="23344F"/>
                      </a:solidFill>
                      <a:prstDash val="solid"/>
                      <a:round/>
                      <a:headEnd type="none" w="med" len="med"/>
                      <a:tailEnd type="none" w="med" len="med"/>
                    </a:lnT>
                    <a:lnB w="9525" cap="flat" cmpd="sng" algn="ctr">
                      <a:solidFill>
                        <a:srgbClr val="23344F"/>
                      </a:solidFill>
                      <a:prstDash val="solid"/>
                      <a:round/>
                      <a:headEnd type="none" w="med" len="med"/>
                      <a:tailEnd type="none" w="med" len="med"/>
                    </a:lnB>
                    <a:solidFill>
                      <a:srgbClr val="0F1B2D"/>
                    </a:solidFill>
                  </a:tcPr>
                </a:tc>
                <a:tc>
                  <a:txBody>
                    <a:bodyPr/>
                    <a:lstStyle/>
                    <a:p>
                      <a:pPr algn="ctr" indent="0" marL="0">
                        <a:buNone/>
                      </a:pPr>
                      <a:r>
                        <a:rPr lang="en-US" sz="1250" b="1" dirty="0">
                          <a:solidFill>
                            <a:srgbClr val="8FF08F"/>
                          </a:solidFill>
                          <a:latin typeface="Calibri" pitchFamily="34" charset="0"/>
                          <a:ea typeface="Calibri" pitchFamily="34" charset="-122"/>
                          <a:cs typeface="Calibri" pitchFamily="34" charset="-120"/>
                        </a:rPr>
                        <a:t>100.0 %</a:t>
                      </a:r>
                      <a:endParaRPr lang="en-US" sz="1250" dirty="0">
                        <a:latin typeface="Calibri" charset="0"/>
                        <a:ea typeface="Calibri" charset="0"/>
                        <a:cs typeface="Calibri" charset="0"/>
                      </a:endParaRPr>
                    </a:p>
                  </a:txBody>
                  <a:tcPr marL="73152" marR="73152" marT="0" marB="0" anchor="ctr">
                    <a:lnL w="9525" cap="flat" cmpd="sng" algn="ctr">
                      <a:solidFill>
                        <a:srgbClr val="23344F"/>
                      </a:solidFill>
                      <a:prstDash val="solid"/>
                      <a:round/>
                      <a:headEnd type="none" w="med" len="med"/>
                      <a:tailEnd type="none" w="med" len="med"/>
                    </a:lnL>
                    <a:lnR w="9525" cap="flat" cmpd="sng" algn="ctr">
                      <a:solidFill>
                        <a:srgbClr val="23344F"/>
                      </a:solidFill>
                      <a:prstDash val="solid"/>
                      <a:round/>
                      <a:headEnd type="none" w="med" len="med"/>
                      <a:tailEnd type="none" w="med" len="med"/>
                    </a:lnR>
                    <a:lnT w="9525" cap="flat" cmpd="sng" algn="ctr">
                      <a:solidFill>
                        <a:srgbClr val="23344F"/>
                      </a:solidFill>
                      <a:prstDash val="solid"/>
                      <a:round/>
                      <a:headEnd type="none" w="med" len="med"/>
                      <a:tailEnd type="none" w="med" len="med"/>
                    </a:lnT>
                    <a:lnB w="9525" cap="flat" cmpd="sng" algn="ctr">
                      <a:solidFill>
                        <a:srgbClr val="23344F"/>
                      </a:solidFill>
                      <a:prstDash val="solid"/>
                      <a:round/>
                      <a:headEnd type="none" w="med" len="med"/>
                      <a:tailEnd type="none" w="med" len="med"/>
                    </a:lnB>
                    <a:solidFill>
                      <a:srgbClr val="0F1B2D"/>
                    </a:solidFill>
                  </a:tcPr>
                </a:tc>
                <a:tc>
                  <a:txBody>
                    <a:bodyPr/>
                    <a:lstStyle/>
                    <a:p>
                      <a:pPr algn="ctr" indent="0" marL="0">
                        <a:buNone/>
                      </a:pPr>
                      <a:r>
                        <a:rPr lang="en-US" sz="1250" b="1" dirty="0">
                          <a:solidFill>
                            <a:srgbClr val="8FF08F"/>
                          </a:solidFill>
                          <a:latin typeface="Calibri" pitchFamily="34" charset="0"/>
                          <a:ea typeface="Calibri" pitchFamily="34" charset="-122"/>
                          <a:cs typeface="Calibri" pitchFamily="34" charset="-120"/>
                        </a:rPr>
                        <a:t>100.0 %</a:t>
                      </a:r>
                      <a:endParaRPr lang="en-US" sz="1250" dirty="0">
                        <a:latin typeface="Calibri" charset="0"/>
                        <a:ea typeface="Calibri" charset="0"/>
                        <a:cs typeface="Calibri" charset="0"/>
                      </a:endParaRPr>
                    </a:p>
                  </a:txBody>
                  <a:tcPr marL="73152" marR="73152" marT="0" marB="0" anchor="ctr">
                    <a:lnL w="9525" cap="flat" cmpd="sng" algn="ctr">
                      <a:solidFill>
                        <a:srgbClr val="23344F"/>
                      </a:solidFill>
                      <a:prstDash val="solid"/>
                      <a:round/>
                      <a:headEnd type="none" w="med" len="med"/>
                      <a:tailEnd type="none" w="med" len="med"/>
                    </a:lnL>
                    <a:lnR w="9525" cap="flat" cmpd="sng" algn="ctr">
                      <a:solidFill>
                        <a:srgbClr val="23344F"/>
                      </a:solidFill>
                      <a:prstDash val="solid"/>
                      <a:round/>
                      <a:headEnd type="none" w="med" len="med"/>
                      <a:tailEnd type="none" w="med" len="med"/>
                    </a:lnR>
                    <a:lnT w="9525" cap="flat" cmpd="sng" algn="ctr">
                      <a:solidFill>
                        <a:srgbClr val="23344F"/>
                      </a:solidFill>
                      <a:prstDash val="solid"/>
                      <a:round/>
                      <a:headEnd type="none" w="med" len="med"/>
                      <a:tailEnd type="none" w="med" len="med"/>
                    </a:lnT>
                    <a:lnB w="9525" cap="flat" cmpd="sng" algn="ctr">
                      <a:solidFill>
                        <a:srgbClr val="23344F"/>
                      </a:solidFill>
                      <a:prstDash val="solid"/>
                      <a:round/>
                      <a:headEnd type="none" w="med" len="med"/>
                      <a:tailEnd type="none" w="med" len="med"/>
                    </a:lnB>
                    <a:solidFill>
                      <a:srgbClr val="0F1B2D"/>
                    </a:solidFill>
                  </a:tcPr>
                </a:tc>
              </a:tr>
            </a:tbl>
          </a:graphicData>
        </a:graphic>
      </p:graphicFrame>
      <p:sp>
        <p:nvSpPr>
          <p:cNvPr id="8" name="ev_read#box"/>
          <p:cNvSpPr/>
          <p:nvPr/>
        </p:nvSpPr>
        <p:spPr>
          <a:xfrm>
            <a:off x="7178040" y="3977640"/>
            <a:ext cx="4465015" cy="2011680"/>
          </a:xfrm>
          <a:prstGeom prst="roundRect">
            <a:avLst>
              <a:gd name="adj" fmla="val 4545"/>
            </a:avLst>
          </a:prstGeom>
          <a:solidFill>
            <a:srgbClr val="0F1B2D"/>
          </a:solidFill>
          <a:ln w="12700">
            <a:solidFill>
              <a:srgbClr val="23344F"/>
            </a:solidFill>
            <a:prstDash val="solid"/>
          </a:ln>
        </p:spPr>
      </p:sp>
      <p:sp>
        <p:nvSpPr>
          <p:cNvPr id="9" name="ev_read#k"/>
          <p:cNvSpPr txBox="1"/>
          <p:nvPr/>
        </p:nvSpPr>
        <p:spPr>
          <a:xfrm>
            <a:off x="7379208" y="4160520"/>
            <a:ext cx="4062679" cy="228600"/>
          </a:xfrm>
          <a:prstGeom prst="rect">
            <a:avLst/>
          </a:prstGeom>
          <a:noFill/>
          <a:ln/>
        </p:spPr>
        <p:txBody>
          <a:bodyPr wrap="square" lIns="0" tIns="0" rIns="0" bIns="0" rtlCol="0" anchor="t"/>
          <a:lstStyle/>
          <a:p>
            <a:pPr indent="0" marL="0">
              <a:buNone/>
            </a:pPr>
            <a:r>
              <a:rPr lang="en-US" sz="1050" b="1" spc="200" kern="0" dirty="0">
                <a:solidFill>
                  <a:srgbClr val="4FD6F2"/>
                </a:solidFill>
                <a:latin typeface="Calibri" pitchFamily="34" charset="0"/>
                <a:ea typeface="Calibri" pitchFamily="34" charset="-122"/>
                <a:cs typeface="Calibri" pitchFamily="34" charset="-120"/>
              </a:rPr>
              <a:t>HOW TO READ IT</a:t>
            </a:r>
            <a:endParaRPr lang="en-US" sz="1050" dirty="0"/>
          </a:p>
        </p:txBody>
      </p:sp>
      <p:sp>
        <p:nvSpPr>
          <p:cNvPr id="10" name="ev_read#b"/>
          <p:cNvSpPr txBox="1"/>
          <p:nvPr/>
        </p:nvSpPr>
        <p:spPr>
          <a:xfrm>
            <a:off x="7379208" y="4453128"/>
            <a:ext cx="4062679" cy="1426464"/>
          </a:xfrm>
          <a:prstGeom prst="rect">
            <a:avLst/>
          </a:prstGeom>
          <a:noFill/>
          <a:ln/>
        </p:spPr>
        <p:txBody>
          <a:bodyPr wrap="square" lIns="0" tIns="0" rIns="0" bIns="0" rtlCol="0" anchor="t"/>
          <a:lstStyle/>
          <a:p>
            <a:pPr indent="0" marL="0">
              <a:spcAft>
                <a:spcPts val="400"/>
              </a:spcAft>
              <a:buNone/>
            </a:pPr>
            <a:r>
              <a:rPr lang="en-US" sz="1250" dirty="0">
                <a:solidFill>
                  <a:srgbClr val="AEBBD0"/>
                </a:solidFill>
                <a:latin typeface="Calibri" pitchFamily="34" charset="0"/>
                <a:ea typeface="Calibri" pitchFamily="34" charset="-122"/>
                <a:cs typeface="Calibri" pitchFamily="34" charset="-120"/>
              </a:rPr>
              <a:t>Warm seeds sit near the true answer, so they model "the arm is already close". Home and random starts are the honest cold-start test. The network alone never reaches 1 mm: precision comes from the LM solver.</a:t>
            </a:r>
            <a:endParaRPr lang="en-US" sz="1250" dirty="0"/>
          </a:p>
        </p:txBody>
      </p:sp>
      <p:sp>
        <p:nvSpPr>
          <p:cNvPr id="25" name="Slide Number Placeholder 0"/>
          <p:cNvSpPr>
            <a:spLocks noGrp="1"/>
          </p:cNvSpPr>
          <p:nvPr>
            <p:ph type="sldNum" sz="quarter" idx="4294967295"/>
          </p:nvPr>
        </p:nvSpPr>
        <p:spPr>
          <a:xfrm>
            <a:off x="11094415" y="6446520"/>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7F8FA8"/>
                </a:solidFill>
              </a:defRPr>
            </a:lvl1pPr>
          </a:lstStyle>
          <a:p>
            <a:pPr algn="r"/>
            <a:fld id="{F7021451-1387-4CA6-816F-3879F97B5CBC}" type="slidenum">
              <a:rPr b="0" lang="en-US"/>
              <a:t>14</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7" fill="hold">
                            <p:stCondLst>
                              <p:cond delay="0"/>
                            </p:stCondLst>
                            <p:childTnLst>
                              <p:par>
                                <p:cTn id="4" presetID="10" presetClass="entr" presetSubtype="0" fill="hold" grpId="0" nodeType="afterEffect">
                                  <p:stCondLst>
                                    <p:cond delay="0"/>
                                  </p:stCondLst>
                                  <p:childTnLst>
                                    <p:set>
                                      <p:cBhvr>
                                        <p:cTn id="5" dur="1" fill="hold">
                                          <p:stCondLst>
                                            <p:cond delay="0"/>
                                          </p:stCondLst>
                                        </p:cTn>
                                        <p:tgtEl>
                                          <p:spTgt spid="5"/>
                                        </p:tgtEl>
                                        <p:attrNameLst>
                                          <p:attrName>style.visibility</p:attrName>
                                        </p:attrNameLst>
                                      </p:cBhvr>
                                      <p:to>
                                        <p:strVal val="visible"/>
                                      </p:to>
                                    </p:set>
                                    <p:animEffect transition="in" filter="fade">
                                      <p:cBhvr>
                                        <p:cTn id="6" dur="420"/>
                                        <p:tgtEl>
                                          <p:spTgt spid="5"/>
                                        </p:tgtEl>
                                      </p:cBhvr>
                                    </p:animEffect>
                                  </p:childTnLst>
                                </p:cTn>
                              </p:par>
                            </p:childTnLst>
                          </p:cTn>
                        </p:par>
                        <p:par>
                          <p:cTn id="11" fill="hold">
                            <p:stCondLst>
                              <p:cond delay="0"/>
                            </p:stCondLst>
                            <p:childTnLst>
                              <p:par>
                                <p:cTn id="8" presetID="10" presetClass="entr" presetSubtype="0" fill="hold" grpId="0" nodeType="afterEffect">
                                  <p:stCondLst>
                                    <p:cond delay="0"/>
                                  </p:stCondLst>
                                  <p:childTnLst>
                                    <p:set>
                                      <p:cBhvr>
                                        <p:cTn id="9" dur="1" fill="hold">
                                          <p:stCondLst>
                                            <p:cond delay="0"/>
                                          </p:stCondLst>
                                        </p:cTn>
                                        <p:tgtEl>
                                          <p:spTgt spid="6"/>
                                        </p:tgtEl>
                                        <p:attrNameLst>
                                          <p:attrName>style.visibility</p:attrName>
                                        </p:attrNameLst>
                                      </p:cBhvr>
                                      <p:to>
                                        <p:strVal val="visible"/>
                                      </p:to>
                                    </p:set>
                                    <p:animEffect transition="in" filter="fade">
                                      <p:cBhvr>
                                        <p:cTn id="10" dur="420"/>
                                        <p:tgtEl>
                                          <p:spTgt spid="6"/>
                                        </p:tgtEl>
                                      </p:cBhvr>
                                    </p:animEffect>
                                  </p:childTnLst>
                                </p:cTn>
                              </p:par>
                            </p:childTnLst>
                          </p:cTn>
                        </p:par>
                        <p:par>
                          <p:cTn id="15" fill="hold">
                            <p:stCondLst>
                              <p:cond delay="260"/>
                            </p:stCondLst>
                            <p:childTnLst>
                              <p:par>
                                <p:cTn id="12" presetID="10" presetClass="entr" presetSubtype="0" fill="hold" grpId="0" nodeType="afterEffect">
                                  <p:stCondLst>
                                    <p:cond delay="0"/>
                                  </p:stCondLst>
                                  <p:childTnLst>
                                    <p:set>
                                      <p:cBhvr>
                                        <p:cTn id="13" dur="1" fill="hold">
                                          <p:stCondLst>
                                            <p:cond delay="0"/>
                                          </p:stCondLst>
                                        </p:cTn>
                                        <p:tgtEl>
                                          <p:spTgt spid="15"/>
                                        </p:tgtEl>
                                        <p:attrNameLst>
                                          <p:attrName>style.visibility</p:attrName>
                                        </p:attrNameLst>
                                      </p:cBhvr>
                                      <p:to>
                                        <p:strVal val="visible"/>
                                      </p:to>
                                    </p:set>
                                    <p:animEffect transition="in" filter="fade">
                                      <p:cBhvr>
                                        <p:cTn id="14" dur="420"/>
                                        <p:tgtEl>
                                          <p:spTgt spid="15"/>
                                        </p:tgtEl>
                                      </p:cBhvr>
                                    </p:animEffect>
                                  </p:childTnLst>
                                </p:cTn>
                              </p:par>
                            </p:childTnLst>
                          </p:cTn>
                        </p:par>
                        <p:par>
                          <p:cTn id="25" fill="hold">
                            <p:stCondLst>
                              <p:cond delay="520"/>
                            </p:stCondLst>
                            <p:childTnLst>
                              <p:par>
                                <p:cTn id="16" presetID="10" presetClass="entr" presetSubtype="0" fill="hold" grpId="0" nodeType="afterEffect">
                                  <p:stCondLst>
                                    <p:cond delay="0"/>
                                  </p:stCondLst>
                                  <p:childTnLst>
                                    <p:set>
                                      <p:cBhvr>
                                        <p:cTn id="17" dur="1" fill="hold">
                                          <p:stCondLst>
                                            <p:cond delay="0"/>
                                          </p:stCondLst>
                                        </p:cTn>
                                        <p:tgtEl>
                                          <p:spTgt spid="8"/>
                                        </p:tgtEl>
                                        <p:attrNameLst>
                                          <p:attrName>style.visibility</p:attrName>
                                        </p:attrNameLst>
                                      </p:cBhvr>
                                      <p:to>
                                        <p:strVal val="visible"/>
                                      </p:to>
                                    </p:set>
                                    <p:animEffect transition="in" filter="fade">
                                      <p:cBhvr>
                                        <p:cTn id="18" dur="420"/>
                                        <p:tgtEl>
                                          <p:spTgt spid="8"/>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420"/>
                                        <p:tgtEl>
                                          <p:spTgt spid="9"/>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fade">
                                      <p:cBhvr>
                                        <p:cTn id="24" dur="42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5" grpId="0">
        <p:bldAsOne/>
      </p:bldGraphic>
      <p:bldP spid="6" grpId="0" animBg="1"/>
      <p:bldGraphic spid="15" grpId="0">
        <p:bldAsOne/>
      </p:bldGraphic>
      <p:bldP spid="8" grpId="0"/>
      <p:bldP spid="9" grpId="0" animBg="1"/>
      <p:bldP spid="10"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1" type="body" hasCustomPrompt="1"/>
          </p:nvPr>
        </p:nvSpPr>
        <p:spPr>
          <a:xfrm>
            <a:off x="731520" y="310896"/>
            <a:ext cx="8686800" cy="329184"/>
          </a:xfrm>
          <a:prstGeom prst="rect">
            <a:avLst/>
          </a:prstGeom>
          <a:noFill/>
          <a:ln/>
        </p:spPr>
        <p:txBody>
          <a:bodyPr wrap="square" lIns="0" tIns="0" rIns="0" bIns="0" rtlCol="0" anchor="ctr"/>
          <a:lstStyle/>
          <a:p>
            <a:pPr algn="l" indent="0" marL="0">
              <a:buNone/>
            </a:pPr>
            <a:r>
              <a:rPr lang="en-US" sz="1200" b="1" spc="300" kern="0" dirty="0">
                <a:solidFill>
                  <a:srgbClr val="AEBBD0"/>
                </a:solidFill>
              </a:rPr>
              <a:t>LEVEL 1 · COMPARISON</a:t>
            </a:r>
            <a:endParaRPr lang="en-US" sz="1200" dirty="0"/>
          </a:p>
        </p:txBody>
      </p:sp>
      <p:sp>
        <p:nvSpPr>
          <p:cNvPr id="3" name="Text 0"/>
          <p:cNvSpPr/>
          <p:nvPr>
            <p:ph idx="102" type="title" hasCustomPrompt="1"/>
          </p:nvPr>
        </p:nvSpPr>
        <p:spPr>
          <a:xfrm>
            <a:off x="548640" y="658368"/>
            <a:ext cx="11094415" cy="731520"/>
          </a:xfrm>
          <a:prstGeom prst="rect">
            <a:avLst/>
          </a:prstGeom>
          <a:noFill/>
          <a:ln/>
        </p:spPr>
        <p:txBody>
          <a:bodyPr wrap="square" lIns="0" tIns="0" rIns="0" bIns="0" rtlCol="0" anchor="ctr"/>
          <a:lstStyle/>
          <a:p>
            <a:pPr algn="l" indent="0" marL="0">
              <a:buNone/>
            </a:pPr>
            <a:r>
              <a:rPr lang="en-US" sz="3200" b="1" dirty="0">
                <a:solidFill>
                  <a:srgbClr val="EEF3FA"/>
                </a:solidFill>
              </a:rPr>
              <a:t>Neural vs classical vs hybrid: the trade-off</a:t>
            </a:r>
            <a:endParaRPr lang="en-US" sz="3200" dirty="0"/>
          </a:p>
        </p:txBody>
      </p:sp>
      <p:sp>
        <p:nvSpPr>
          <p:cNvPr id="5" name="video_method_comparison#frame"/>
          <p:cNvSpPr/>
          <p:nvPr/>
        </p:nvSpPr>
        <p:spPr>
          <a:xfrm>
            <a:off x="521208" y="1664208"/>
            <a:ext cx="5998464" cy="3398139"/>
          </a:xfrm>
          <a:prstGeom prst="roundRect">
            <a:avLst>
              <a:gd name="adj" fmla="val 1076"/>
            </a:avLst>
          </a:prstGeom>
          <a:solidFill>
            <a:srgbClr val="0A1527"/>
          </a:solidFill>
          <a:ln w="12700">
            <a:solidFill>
              <a:srgbClr val="23344F"/>
            </a:solidFill>
            <a:prstDash val="solid"/>
          </a:ln>
        </p:spPr>
      </p:sp>
      <p:pic>
        <p:nvPicPr>
          <p:cNvPr id="6" name="video_method_comparison#media" descr="/tmp/claude-0/nik_work/stills/method_comparison/method_comparison_030.00.png">    </p:cNvPr>
          <p:cNvPicPr>
            <a:picLocks noChangeAspect="1"/>
          </p:cNvPicPr>
          <p:nvPr/>
        </p:nvPicPr>
        <p:blipFill>
          <a:blip r:embed="rId1"/>
          <a:stretch>
            <a:fillRect/>
          </a:stretch>
        </p:blipFill>
        <p:spPr>
          <a:xfrm>
            <a:off x="548640" y="1691640"/>
            <a:ext cx="5943600" cy="3343275"/>
          </a:xfrm>
          <a:prstGeom prst="rect">
            <a:avLst/>
          </a:prstGeom>
        </p:spPr>
      </p:pic>
      <p:sp>
        <p:nvSpPr>
          <p:cNvPr id="7" name="video_method_comparison#cap"/>
          <p:cNvSpPr txBox="1"/>
          <p:nvPr/>
        </p:nvSpPr>
        <p:spPr>
          <a:xfrm>
            <a:off x="548640" y="5126355"/>
            <a:ext cx="5943600" cy="274320"/>
          </a:xfrm>
          <a:prstGeom prst="rect">
            <a:avLst/>
          </a:prstGeom>
          <a:noFill/>
          <a:ln/>
        </p:spPr>
        <p:txBody>
          <a:bodyPr wrap="square" lIns="0" tIns="0" rIns="0" bIns="0" rtlCol="0" anchor="t"/>
          <a:lstStyle/>
          <a:p>
            <a:pPr indent="0" marL="0">
              <a:buNone/>
            </a:pPr>
            <a:r>
              <a:rPr lang="en-US" sz="1050" dirty="0">
                <a:solidFill>
                  <a:srgbClr val="7F8FA8"/>
                </a:solidFill>
                <a:latin typeface="Calibri" pitchFamily="34" charset="0"/>
                <a:ea typeface="Calibri" pitchFamily="34" charset="-122"/>
                <a:cs typeface="Calibri" pitchFamily="34" charset="-120"/>
              </a:rPr>
              <a:t>Simulation 9 · same target, same home pose, three solvers; then rates over 2,000 targets</a:t>
            </a:r>
            <a:endParaRPr lang="en-US" sz="1050" dirty="0"/>
          </a:p>
        </p:txBody>
      </p:sp>
      <p:graphicFrame>
        <p:nvGraphicFramePr>
          <p:cNvPr id="8" name="cm_chart" descr=""/>
          <p:cNvGraphicFramePr/>
          <p:nvPr/>
        </p:nvGraphicFramePr>
        <p:xfrm>
          <a:off x="6812280" y="1691640"/>
          <a:ext cx="4830775" cy="3429000"/>
        </p:xfrm>
        <a:graphic xmlns:a="http://schemas.openxmlformats.org/drawingml/2006/main">
          <a:graphicData uri="http://schemas.openxmlformats.org/drawingml/2006/chart">
            <c:chart xmlns:c="http://schemas.openxmlformats.org/drawingml/2006/chart" r:id="rId2"/>
          </a:graphicData>
        </a:graphic>
      </p:graphicFrame>
      <p:sp>
        <p:nvSpPr>
          <p:cNvPr id="9" name="cm_t0#box"/>
          <p:cNvSpPr/>
          <p:nvPr/>
        </p:nvSpPr>
        <p:spPr>
          <a:xfrm>
            <a:off x="548640" y="5504688"/>
            <a:ext cx="3576218" cy="804672"/>
          </a:xfrm>
          <a:prstGeom prst="roundRect">
            <a:avLst>
              <a:gd name="adj" fmla="val 11364"/>
            </a:avLst>
          </a:prstGeom>
          <a:solidFill>
            <a:srgbClr val="0F1B2D"/>
          </a:solidFill>
          <a:ln w="12700">
            <a:solidFill>
              <a:srgbClr val="23344F"/>
            </a:solidFill>
            <a:prstDash val="solid"/>
          </a:ln>
        </p:spPr>
      </p:sp>
      <p:sp>
        <p:nvSpPr>
          <p:cNvPr id="10" name="cm_t0#h"/>
          <p:cNvSpPr txBox="1"/>
          <p:nvPr/>
        </p:nvSpPr>
        <p:spPr>
          <a:xfrm>
            <a:off x="749808" y="5687568"/>
            <a:ext cx="3173882" cy="384048"/>
          </a:xfrm>
          <a:prstGeom prst="rect">
            <a:avLst/>
          </a:prstGeom>
          <a:noFill/>
          <a:ln/>
        </p:spPr>
        <p:txBody>
          <a:bodyPr wrap="square" lIns="0" tIns="0" rIns="0" bIns="0" rtlCol="0" anchor="t"/>
          <a:lstStyle/>
          <a:p>
            <a:pPr indent="0" marL="0">
              <a:buNone/>
            </a:pPr>
            <a:r>
              <a:rPr lang="en-US" sz="1350" b="1" dirty="0">
                <a:solidFill>
                  <a:srgbClr val="EEF3FA"/>
                </a:solidFill>
                <a:latin typeface="Calibri" pitchFamily="34" charset="0"/>
                <a:ea typeface="Calibri" pitchFamily="34" charset="-122"/>
                <a:cs typeface="Calibri" pitchFamily="34" charset="-120"/>
              </a:rPr>
              <a:t>Network alone · ≈ 1 ms</a:t>
            </a:r>
            <a:endParaRPr lang="en-US" sz="1350" dirty="0"/>
          </a:p>
        </p:txBody>
      </p:sp>
      <p:sp>
        <p:nvSpPr>
          <p:cNvPr id="11" name="cm_t0#b"/>
          <p:cNvSpPr txBox="1"/>
          <p:nvPr/>
        </p:nvSpPr>
        <p:spPr>
          <a:xfrm>
            <a:off x="749808" y="5980176"/>
            <a:ext cx="3173882" cy="274320"/>
          </a:xfrm>
          <a:prstGeom prst="rect">
            <a:avLst/>
          </a:prstGeom>
          <a:noFill/>
          <a:ln/>
        </p:spPr>
        <p:txBody>
          <a:bodyPr wrap="square" lIns="0" tIns="0" rIns="0" bIns="0" rtlCol="0" anchor="t"/>
          <a:lstStyle/>
          <a:p>
            <a:pPr indent="0" marL="0">
              <a:spcAft>
                <a:spcPts val="400"/>
              </a:spcAft>
              <a:buNone/>
            </a:pPr>
            <a:r>
              <a:rPr lang="en-US" sz="1200" dirty="0">
                <a:solidFill>
                  <a:srgbClr val="AEBBD0"/>
                </a:solidFill>
                <a:latin typeface="Calibri" pitchFamily="34" charset="0"/>
                <a:ea typeface="Calibri" pitchFamily="34" charset="-122"/>
                <a:cs typeface="Calibri" pitchFamily="34" charset="-120"/>
              </a:rPr>
              <a:t>fast, but centimetres off</a:t>
            </a:r>
            <a:endParaRPr lang="en-US" sz="1200" dirty="0"/>
          </a:p>
        </p:txBody>
      </p:sp>
      <p:sp>
        <p:nvSpPr>
          <p:cNvPr id="12" name="cm_t1#box"/>
          <p:cNvSpPr/>
          <p:nvPr/>
        </p:nvSpPr>
        <p:spPr>
          <a:xfrm>
            <a:off x="4307738" y="5504688"/>
            <a:ext cx="3576218" cy="804672"/>
          </a:xfrm>
          <a:prstGeom prst="roundRect">
            <a:avLst>
              <a:gd name="adj" fmla="val 11364"/>
            </a:avLst>
          </a:prstGeom>
          <a:solidFill>
            <a:srgbClr val="0F1B2D"/>
          </a:solidFill>
          <a:ln w="12700">
            <a:solidFill>
              <a:srgbClr val="23344F"/>
            </a:solidFill>
            <a:prstDash val="solid"/>
          </a:ln>
        </p:spPr>
      </p:sp>
      <p:sp>
        <p:nvSpPr>
          <p:cNvPr id="13" name="cm_t1#h"/>
          <p:cNvSpPr txBox="1"/>
          <p:nvPr/>
        </p:nvSpPr>
        <p:spPr>
          <a:xfrm>
            <a:off x="4508906" y="5687568"/>
            <a:ext cx="3173882" cy="384048"/>
          </a:xfrm>
          <a:prstGeom prst="rect">
            <a:avLst/>
          </a:prstGeom>
          <a:noFill/>
          <a:ln/>
        </p:spPr>
        <p:txBody>
          <a:bodyPr wrap="square" lIns="0" tIns="0" rIns="0" bIns="0" rtlCol="0" anchor="t"/>
          <a:lstStyle/>
          <a:p>
            <a:pPr indent="0" marL="0">
              <a:buNone/>
            </a:pPr>
            <a:r>
              <a:rPr lang="en-US" sz="1350" b="1" dirty="0">
                <a:solidFill>
                  <a:srgbClr val="EEF3FA"/>
                </a:solidFill>
                <a:latin typeface="Calibri" pitchFamily="34" charset="0"/>
                <a:ea typeface="Calibri" pitchFamily="34" charset="-122"/>
                <a:cs typeface="Calibri" pitchFamily="34" charset="-120"/>
              </a:rPr>
              <a:t>Classical DLS · 0.27 ms</a:t>
            </a:r>
            <a:endParaRPr lang="en-US" sz="1350" dirty="0"/>
          </a:p>
        </p:txBody>
      </p:sp>
      <p:sp>
        <p:nvSpPr>
          <p:cNvPr id="14" name="cm_t1#b"/>
          <p:cNvSpPr txBox="1"/>
          <p:nvPr/>
        </p:nvSpPr>
        <p:spPr>
          <a:xfrm>
            <a:off x="4508906" y="5980176"/>
            <a:ext cx="3173882" cy="274320"/>
          </a:xfrm>
          <a:prstGeom prst="rect">
            <a:avLst/>
          </a:prstGeom>
          <a:noFill/>
          <a:ln/>
        </p:spPr>
        <p:txBody>
          <a:bodyPr wrap="square" lIns="0" tIns="0" rIns="0" bIns="0" rtlCol="0" anchor="t"/>
          <a:lstStyle/>
          <a:p>
            <a:pPr indent="0" marL="0">
              <a:spcAft>
                <a:spcPts val="400"/>
              </a:spcAft>
              <a:buNone/>
            </a:pPr>
            <a:r>
              <a:rPr lang="en-US" sz="1200" dirty="0">
                <a:solidFill>
                  <a:srgbClr val="AEBBD0"/>
                </a:solidFill>
                <a:latin typeface="Calibri" pitchFamily="34" charset="0"/>
                <a:ea typeface="Calibri" pitchFamily="34" charset="-122"/>
                <a:cs typeface="Calibri" pitchFamily="34" charset="-120"/>
              </a:rPr>
              <a:t>collision- and limit-blind</a:t>
            </a:r>
            <a:endParaRPr lang="en-US" sz="1200" dirty="0"/>
          </a:p>
        </p:txBody>
      </p:sp>
      <p:sp>
        <p:nvSpPr>
          <p:cNvPr id="15" name="cm_t2#box"/>
          <p:cNvSpPr/>
          <p:nvPr/>
        </p:nvSpPr>
        <p:spPr>
          <a:xfrm>
            <a:off x="8066837" y="5504688"/>
            <a:ext cx="3576218" cy="804672"/>
          </a:xfrm>
          <a:prstGeom prst="roundRect">
            <a:avLst>
              <a:gd name="adj" fmla="val 11364"/>
            </a:avLst>
          </a:prstGeom>
          <a:solidFill>
            <a:srgbClr val="0F1B2D"/>
          </a:solidFill>
          <a:ln w="12700">
            <a:solidFill>
              <a:srgbClr val="23344F"/>
            </a:solidFill>
            <a:prstDash val="solid"/>
          </a:ln>
        </p:spPr>
      </p:sp>
      <p:sp>
        <p:nvSpPr>
          <p:cNvPr id="16" name="cm_t2#h"/>
          <p:cNvSpPr txBox="1"/>
          <p:nvPr/>
        </p:nvSpPr>
        <p:spPr>
          <a:xfrm>
            <a:off x="8268005" y="5687568"/>
            <a:ext cx="3173882" cy="384048"/>
          </a:xfrm>
          <a:prstGeom prst="rect">
            <a:avLst/>
          </a:prstGeom>
          <a:noFill/>
          <a:ln/>
        </p:spPr>
        <p:txBody>
          <a:bodyPr wrap="square" lIns="0" tIns="0" rIns="0" bIns="0" rtlCol="0" anchor="t"/>
          <a:lstStyle/>
          <a:p>
            <a:pPr indent="0" marL="0">
              <a:buNone/>
            </a:pPr>
            <a:r>
              <a:rPr lang="en-US" sz="1350" b="1" dirty="0">
                <a:solidFill>
                  <a:srgbClr val="EEF3FA"/>
                </a:solidFill>
                <a:latin typeface="Calibri" pitchFamily="34" charset="0"/>
                <a:ea typeface="Calibri" pitchFamily="34" charset="-122"/>
                <a:cs typeface="Calibri" pitchFamily="34" charset="-120"/>
              </a:rPr>
              <a:t>Network + LM · 37.8 ms</a:t>
            </a:r>
            <a:endParaRPr lang="en-US" sz="1350" dirty="0"/>
          </a:p>
        </p:txBody>
      </p:sp>
      <p:sp>
        <p:nvSpPr>
          <p:cNvPr id="17" name="cm_t2#b"/>
          <p:cNvSpPr txBox="1"/>
          <p:nvPr/>
        </p:nvSpPr>
        <p:spPr>
          <a:xfrm>
            <a:off x="8268005" y="5980176"/>
            <a:ext cx="3173882" cy="274320"/>
          </a:xfrm>
          <a:prstGeom prst="rect">
            <a:avLst/>
          </a:prstGeom>
          <a:noFill/>
          <a:ln/>
        </p:spPr>
        <p:txBody>
          <a:bodyPr wrap="square" lIns="0" tIns="0" rIns="0" bIns="0" rtlCol="0" anchor="t"/>
          <a:lstStyle/>
          <a:p>
            <a:pPr indent="0" marL="0">
              <a:spcAft>
                <a:spcPts val="400"/>
              </a:spcAft>
              <a:buNone/>
            </a:pPr>
            <a:r>
              <a:rPr lang="en-US" sz="1200" dirty="0">
                <a:solidFill>
                  <a:srgbClr val="AEBBD0"/>
                </a:solidFill>
                <a:latin typeface="Calibri" pitchFamily="34" charset="0"/>
                <a:ea typeface="Calibri" pitchFamily="34" charset="-122"/>
                <a:cs typeface="Calibri" pitchFamily="34" charset="-120"/>
              </a:rPr>
              <a:t>100 % valid · LM alone: 50.5 ms</a:t>
            </a:r>
            <a:endParaRPr lang="en-US" sz="1200" dirty="0"/>
          </a:p>
        </p:txBody>
      </p:sp>
      <p:sp>
        <p:nvSpPr>
          <p:cNvPr id="25" name="Slide Number Placeholder 0"/>
          <p:cNvSpPr>
            <a:spLocks noGrp="1"/>
          </p:cNvSpPr>
          <p:nvPr>
            <p:ph type="sldNum" sz="quarter" idx="4294967295"/>
          </p:nvPr>
        </p:nvSpPr>
        <p:spPr>
          <a:xfrm>
            <a:off x="11094415" y="6446520"/>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7F8FA8"/>
                </a:solidFill>
              </a:defRPr>
            </a:lvl1pPr>
          </a:lstStyle>
          <a:p>
            <a:pPr algn="r"/>
            <a:fld id="{F7021451-1387-4CA6-816F-3879F97B5CBC}" type="slidenum">
              <a:rPr b="0" lang="en-US"/>
              <a:t>15</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13" fill="hold">
                            <p:stCondLst>
                              <p:cond delay="0"/>
                            </p:stCondLst>
                            <p:childTnLst>
                              <p:par>
                                <p:cTn id="4" presetID="10" presetClass="entr" presetSubtype="0" fill="hold" grpId="0" nodeType="afterEffect">
                                  <p:stCondLst>
                                    <p:cond delay="0"/>
                                  </p:stCondLst>
                                  <p:childTnLst>
                                    <p:set>
                                      <p:cBhvr>
                                        <p:cTn id="5" dur="1" fill="hold">
                                          <p:stCondLst>
                                            <p:cond delay="0"/>
                                          </p:stCondLst>
                                        </p:cTn>
                                        <p:tgtEl>
                                          <p:spTgt spid="5"/>
                                        </p:tgtEl>
                                        <p:attrNameLst>
                                          <p:attrName>style.visibility</p:attrName>
                                        </p:attrNameLst>
                                      </p:cBhvr>
                                      <p:to>
                                        <p:strVal val="visible"/>
                                      </p:to>
                                    </p:set>
                                    <p:animEffect transition="in" filter="fade">
                                      <p:cBhvr>
                                        <p:cTn id="6" dur="420"/>
                                        <p:tgtEl>
                                          <p:spTgt spid="5"/>
                                        </p:tgtEl>
                                      </p:cBhvr>
                                    </p:animEffect>
                                  </p:childTnLst>
                                </p:cTn>
                              </p:par>
                              <p:par>
                                <p:cTn id="7" presetID="10"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animEffect transition="in" filter="fade">
                                      <p:cBhvr>
                                        <p:cTn id="9" dur="420"/>
                                        <p:tgtEl>
                                          <p:spTgt spid="6"/>
                                        </p:tgtEl>
                                      </p:cBhvr>
                                    </p:animEffect>
                                  </p:childTnLst>
                                </p:cTn>
                              </p:par>
                              <p:par>
                                <p:cTn id="10" presetID="10" presetClass="entr" presetSubtype="0" fill="hold" grpId="0" nodeType="with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420"/>
                                        <p:tgtEl>
                                          <p:spTgt spid="7"/>
                                        </p:tgtEl>
                                      </p:cBhvr>
                                    </p:animEffect>
                                  </p:childTnLst>
                                </p:cTn>
                              </p:par>
                            </p:childTnLst>
                          </p:cTn>
                        </p:par>
                        <p:par>
                          <p:cTn id="17" fill="hold">
                            <p:stCondLst>
                              <p:cond delay="0"/>
                            </p:stCondLst>
                            <p:childTnLst>
                              <p:par>
                                <p:cTn id="14" presetID="10" presetClass="entr" presetSubtype="0" fill="hold" grpId="0" nodeType="after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20"/>
                                        <p:tgtEl>
                                          <p:spTgt spid="8"/>
                                        </p:tgtEl>
                                      </p:cBhvr>
                                    </p:animEffect>
                                  </p:childTnLst>
                                </p:cTn>
                              </p:par>
                            </p:childTnLst>
                          </p:cTn>
                        </p:par>
                        <p:par>
                          <p:cTn id="27" fill="hold">
                            <p:stCondLst>
                              <p:cond delay="260"/>
                            </p:stCondLst>
                            <p:childTnLst>
                              <p:par>
                                <p:cTn id="18" presetID="10" presetClass="entr" presetSubtype="0" fill="hold" grpId="0" nodeType="after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420"/>
                                        <p:tgtEl>
                                          <p:spTgt spid="9"/>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420"/>
                                        <p:tgtEl>
                                          <p:spTgt spid="10"/>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420"/>
                                        <p:tgtEl>
                                          <p:spTgt spid="11"/>
                                        </p:tgtEl>
                                      </p:cBhvr>
                                    </p:animEffect>
                                  </p:childTnLst>
                                </p:cTn>
                              </p:par>
                            </p:childTnLst>
                          </p:cTn>
                        </p:par>
                        <p:par>
                          <p:cTn id="37" fill="hold">
                            <p:stCondLst>
                              <p:cond delay="520"/>
                            </p:stCondLst>
                            <p:childTnLst>
                              <p:par>
                                <p:cTn id="28" presetID="10" presetClass="entr" presetSubtype="0" fill="hold" grpId="0" nodeType="after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2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2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20"/>
                                        <p:tgtEl>
                                          <p:spTgt spid="14"/>
                                        </p:tgtEl>
                                      </p:cBhvr>
                                    </p:animEffect>
                                  </p:childTnLst>
                                </p:cTn>
                              </p:par>
                            </p:childTnLst>
                          </p:cTn>
                        </p:par>
                        <p:par>
                          <p:cTn id="47" fill="hold">
                            <p:stCondLst>
                              <p:cond delay="780"/>
                            </p:stCondLst>
                            <p:childTnLst>
                              <p:par>
                                <p:cTn id="38" presetID="10" presetClass="entr" presetSubtype="0" fill="hold" grpId="0" nodeType="after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420"/>
                                        <p:tgtEl>
                                          <p:spTgt spid="15"/>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6"/>
                                        </p:tgtEl>
                                        <p:attrNameLst>
                                          <p:attrName>style.visibility</p:attrName>
                                        </p:attrNameLst>
                                      </p:cBhvr>
                                      <p:to>
                                        <p:strVal val="visible"/>
                                      </p:to>
                                    </p:set>
                                    <p:animEffect transition="in" filter="fade">
                                      <p:cBhvr>
                                        <p:cTn id="43" dur="420"/>
                                        <p:tgtEl>
                                          <p:spTgt spid="16"/>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7"/>
                                        </p:tgtEl>
                                        <p:attrNameLst>
                                          <p:attrName>style.visibility</p:attrName>
                                        </p:attrNameLst>
                                      </p:cBhvr>
                                      <p:to>
                                        <p:strVal val="visible"/>
                                      </p:to>
                                    </p:set>
                                    <p:animEffect transition="in" filter="fade">
                                      <p:cBhvr>
                                        <p:cTn id="46" dur="42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animBg="1"/>
      <p:bldGraphic spid="8" grpId="0">
        <p:bldAsOne/>
      </p:bldGraphic>
      <p:bldP spid="9" grpId="0"/>
      <p:bldP spid="10" grpId="0" animBg="1"/>
      <p:bldP spid="11" grpId="0" animBg="1"/>
      <p:bldP spid="12" grpId="0"/>
      <p:bldP spid="13" grpId="0" animBg="1"/>
      <p:bldP spid="14" grpId="0" animBg="1"/>
      <p:bldP spid="15" grpId="0"/>
      <p:bldP spid="16" grpId="0" animBg="1"/>
      <p:bldP spid="17" grpId="0" animBg="1"/>
    </p:bldLst>
  </p:timing>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1" type="body" hasCustomPrompt="1"/>
          </p:nvPr>
        </p:nvSpPr>
        <p:spPr>
          <a:xfrm>
            <a:off x="731520" y="310896"/>
            <a:ext cx="8686800" cy="329184"/>
          </a:xfrm>
          <a:prstGeom prst="rect">
            <a:avLst/>
          </a:prstGeom>
          <a:noFill/>
          <a:ln/>
        </p:spPr>
        <p:txBody>
          <a:bodyPr wrap="square" lIns="0" tIns="0" rIns="0" bIns="0" rtlCol="0" anchor="ctr"/>
          <a:lstStyle/>
          <a:p>
            <a:pPr algn="l" indent="0" marL="0">
              <a:buNone/>
            </a:pPr>
            <a:r>
              <a:rPr lang="en-US" sz="1200" b="1" spc="300" kern="0" dirty="0">
                <a:solidFill>
                  <a:srgbClr val="AEBBD0"/>
                </a:solidFill>
              </a:rPr>
              <a:t>LEVEL 2 · DRL RE-ROUTING (IMPLEMENTED)</a:t>
            </a:r>
            <a:endParaRPr lang="en-US" sz="1200" dirty="0"/>
          </a:p>
        </p:txBody>
      </p:sp>
      <p:sp>
        <p:nvSpPr>
          <p:cNvPr id="3" name="Text 0"/>
          <p:cNvSpPr/>
          <p:nvPr>
            <p:ph idx="102" type="title" hasCustomPrompt="1"/>
          </p:nvPr>
        </p:nvSpPr>
        <p:spPr>
          <a:xfrm>
            <a:off x="548640" y="658368"/>
            <a:ext cx="11094415" cy="731520"/>
          </a:xfrm>
          <a:prstGeom prst="rect">
            <a:avLst/>
          </a:prstGeom>
          <a:noFill/>
          <a:ln/>
        </p:spPr>
        <p:txBody>
          <a:bodyPr wrap="square" lIns="0" tIns="0" rIns="0" bIns="0" rtlCol="0" anchor="ctr"/>
          <a:lstStyle/>
          <a:p>
            <a:pPr algn="l" indent="0" marL="0">
              <a:buNone/>
            </a:pPr>
            <a:r>
              <a:rPr lang="en-US" sz="3200" b="1" dirty="0">
                <a:solidFill>
                  <a:srgbClr val="EEF3FA"/>
                </a:solidFill>
              </a:rPr>
              <a:t>Level 2: steering around the unexpected</a:t>
            </a:r>
            <a:endParaRPr lang="en-US" sz="3200" dirty="0"/>
          </a:p>
        </p:txBody>
      </p:sp>
      <p:sp>
        <p:nvSpPr>
          <p:cNvPr id="5" name="video_level2_ppo_rerouting#frame"/>
          <p:cNvSpPr/>
          <p:nvPr/>
        </p:nvSpPr>
        <p:spPr>
          <a:xfrm>
            <a:off x="521208" y="1664208"/>
            <a:ext cx="5998464" cy="3398139"/>
          </a:xfrm>
          <a:prstGeom prst="roundRect">
            <a:avLst>
              <a:gd name="adj" fmla="val 1076"/>
            </a:avLst>
          </a:prstGeom>
          <a:solidFill>
            <a:srgbClr val="0A1527"/>
          </a:solidFill>
          <a:ln w="12700">
            <a:solidFill>
              <a:srgbClr val="23344F"/>
            </a:solidFill>
            <a:prstDash val="solid"/>
          </a:ln>
        </p:spPr>
      </p:sp>
      <p:pic>
        <p:nvPicPr>
          <p:cNvPr id="6" name="video_level2_ppo_rerouting#media" descr="/tmp/claude-0/nik_work/stills/level2_ppo/level2_ppo_029.00.png">    </p:cNvPr>
          <p:cNvPicPr>
            <a:picLocks noChangeAspect="1"/>
          </p:cNvPicPr>
          <p:nvPr/>
        </p:nvPicPr>
        <p:blipFill>
          <a:blip r:embed="rId1"/>
          <a:stretch>
            <a:fillRect/>
          </a:stretch>
        </p:blipFill>
        <p:spPr>
          <a:xfrm>
            <a:off x="548640" y="1691640"/>
            <a:ext cx="5943600" cy="3343275"/>
          </a:xfrm>
          <a:prstGeom prst="rect">
            <a:avLst/>
          </a:prstGeom>
        </p:spPr>
      </p:pic>
      <p:sp>
        <p:nvSpPr>
          <p:cNvPr id="7" name="video_level2_ppo_rerouting#cap"/>
          <p:cNvSpPr txBox="1"/>
          <p:nvPr/>
        </p:nvSpPr>
        <p:spPr>
          <a:xfrm>
            <a:off x="548640" y="5126355"/>
            <a:ext cx="5943600" cy="274320"/>
          </a:xfrm>
          <a:prstGeom prst="rect">
            <a:avLst/>
          </a:prstGeom>
          <a:noFill/>
          <a:ln/>
        </p:spPr>
        <p:txBody>
          <a:bodyPr wrap="square" lIns="0" tIns="0" rIns="0" bIns="0" rtlCol="0" anchor="t"/>
          <a:lstStyle/>
          <a:p>
            <a:pPr indent="0" marL="0">
              <a:buNone/>
            </a:pPr>
            <a:r>
              <a:rPr lang="en-US" sz="1050" dirty="0">
                <a:solidFill>
                  <a:srgbClr val="7F8FA8"/>
                </a:solidFill>
                <a:latin typeface="Calibri" pitchFamily="34" charset="0"/>
                <a:ea typeface="Calibri" pitchFamily="34" charset="-122"/>
                <a:cs typeface="Calibri" pitchFamily="34" charset="-120"/>
              </a:rPr>
              <a:t>Simulation 10 · one recorded episode: straight path, potential field and the PPO agent</a:t>
            </a:r>
            <a:endParaRPr lang="en-US" sz="1050" dirty="0"/>
          </a:p>
        </p:txBody>
      </p:sp>
      <p:graphicFrame>
        <p:nvGraphicFramePr>
          <p:cNvPr id="8" name="l2_chart" descr=""/>
          <p:cNvGraphicFramePr/>
          <p:nvPr/>
        </p:nvGraphicFramePr>
        <p:xfrm>
          <a:off x="6812280" y="1691640"/>
          <a:ext cx="4830775" cy="3429000"/>
        </p:xfrm>
        <a:graphic xmlns:a="http://schemas.openxmlformats.org/drawingml/2006/main">
          <a:graphicData uri="http://schemas.openxmlformats.org/drawingml/2006/chart">
            <c:chart xmlns:c="http://schemas.openxmlformats.org/drawingml/2006/chart" r:id="rId2"/>
          </a:graphicData>
        </a:graphic>
      </p:graphicFrame>
      <p:sp>
        <p:nvSpPr>
          <p:cNvPr id="9" name="l2_t0#box"/>
          <p:cNvSpPr/>
          <p:nvPr/>
        </p:nvSpPr>
        <p:spPr>
          <a:xfrm>
            <a:off x="548640" y="5504688"/>
            <a:ext cx="3576218" cy="804672"/>
          </a:xfrm>
          <a:prstGeom prst="roundRect">
            <a:avLst>
              <a:gd name="adj" fmla="val 11364"/>
            </a:avLst>
          </a:prstGeom>
          <a:solidFill>
            <a:srgbClr val="0F1B2D"/>
          </a:solidFill>
          <a:ln w="12700">
            <a:solidFill>
              <a:srgbClr val="23344F"/>
            </a:solidFill>
            <a:prstDash val="solid"/>
          </a:ln>
        </p:spPr>
      </p:sp>
      <p:sp>
        <p:nvSpPr>
          <p:cNvPr id="10" name="l2_t0#h"/>
          <p:cNvSpPr txBox="1"/>
          <p:nvPr/>
        </p:nvSpPr>
        <p:spPr>
          <a:xfrm>
            <a:off x="749808" y="5687568"/>
            <a:ext cx="3173882" cy="384048"/>
          </a:xfrm>
          <a:prstGeom prst="rect">
            <a:avLst/>
          </a:prstGeom>
          <a:noFill/>
          <a:ln/>
        </p:spPr>
        <p:txBody>
          <a:bodyPr wrap="square" lIns="0" tIns="0" rIns="0" bIns="0" rtlCol="0" anchor="t"/>
          <a:lstStyle/>
          <a:p>
            <a:pPr indent="0" marL="0">
              <a:buNone/>
            </a:pPr>
            <a:r>
              <a:rPr lang="en-US" sz="1350" b="1" dirty="0">
                <a:solidFill>
                  <a:srgbClr val="EEF3FA"/>
                </a:solidFill>
                <a:latin typeface="Calibri" pitchFamily="34" charset="0"/>
                <a:ea typeface="Calibri" pitchFamily="34" charset="-122"/>
                <a:cs typeface="Calibri" pitchFamily="34" charset="-120"/>
              </a:rPr>
              <a:t>11,078 parameters</a:t>
            </a:r>
            <a:endParaRPr lang="en-US" sz="1350" dirty="0"/>
          </a:p>
        </p:txBody>
      </p:sp>
      <p:sp>
        <p:nvSpPr>
          <p:cNvPr id="11" name="l2_t0#b"/>
          <p:cNvSpPr txBox="1"/>
          <p:nvPr/>
        </p:nvSpPr>
        <p:spPr>
          <a:xfrm>
            <a:off x="749808" y="5980176"/>
            <a:ext cx="3173882" cy="274320"/>
          </a:xfrm>
          <a:prstGeom prst="rect">
            <a:avLst/>
          </a:prstGeom>
          <a:noFill/>
          <a:ln/>
        </p:spPr>
        <p:txBody>
          <a:bodyPr wrap="square" lIns="0" tIns="0" rIns="0" bIns="0" rtlCol="0" anchor="t"/>
          <a:lstStyle/>
          <a:p>
            <a:pPr indent="0" marL="0">
              <a:spcAft>
                <a:spcPts val="400"/>
              </a:spcAft>
              <a:buNone/>
            </a:pPr>
            <a:r>
              <a:rPr lang="en-US" sz="1200" dirty="0">
                <a:solidFill>
                  <a:srgbClr val="AEBBD0"/>
                </a:solidFill>
                <a:latin typeface="Calibri" pitchFamily="34" charset="0"/>
                <a:ea typeface="Calibri" pitchFamily="34" charset="-122"/>
                <a:cs typeface="Calibri" pitchFamily="34" charset="-120"/>
              </a:rPr>
              <a:t>17.5 µs per decision, 1 CPU core</a:t>
            </a:r>
            <a:endParaRPr lang="en-US" sz="1200" dirty="0"/>
          </a:p>
        </p:txBody>
      </p:sp>
      <p:sp>
        <p:nvSpPr>
          <p:cNvPr id="12" name="l2_t1#box"/>
          <p:cNvSpPr/>
          <p:nvPr/>
        </p:nvSpPr>
        <p:spPr>
          <a:xfrm>
            <a:off x="4307738" y="5504688"/>
            <a:ext cx="3576218" cy="804672"/>
          </a:xfrm>
          <a:prstGeom prst="roundRect">
            <a:avLst>
              <a:gd name="adj" fmla="val 11364"/>
            </a:avLst>
          </a:prstGeom>
          <a:solidFill>
            <a:srgbClr val="0F1B2D"/>
          </a:solidFill>
          <a:ln w="12700">
            <a:solidFill>
              <a:srgbClr val="23344F"/>
            </a:solidFill>
            <a:prstDash val="solid"/>
          </a:ln>
        </p:spPr>
      </p:sp>
      <p:sp>
        <p:nvSpPr>
          <p:cNvPr id="13" name="l2_t1#h"/>
          <p:cNvSpPr txBox="1"/>
          <p:nvPr/>
        </p:nvSpPr>
        <p:spPr>
          <a:xfrm>
            <a:off x="4508906" y="5687568"/>
            <a:ext cx="3173882" cy="384048"/>
          </a:xfrm>
          <a:prstGeom prst="rect">
            <a:avLst/>
          </a:prstGeom>
          <a:noFill/>
          <a:ln/>
        </p:spPr>
        <p:txBody>
          <a:bodyPr wrap="square" lIns="0" tIns="0" rIns="0" bIns="0" rtlCol="0" anchor="t"/>
          <a:lstStyle/>
          <a:p>
            <a:pPr indent="0" marL="0">
              <a:buNone/>
            </a:pPr>
            <a:r>
              <a:rPr lang="en-US" sz="1350" b="1" dirty="0">
                <a:solidFill>
                  <a:srgbClr val="EEF3FA"/>
                </a:solidFill>
                <a:latin typeface="Calibri" pitchFamily="34" charset="0"/>
                <a:ea typeface="Calibri" pitchFamily="34" charset="-122"/>
                <a:cs typeface="Calibri" pitchFamily="34" charset="-120"/>
              </a:rPr>
              <a:t>Residual RL</a:t>
            </a:r>
            <a:endParaRPr lang="en-US" sz="1350" dirty="0"/>
          </a:p>
        </p:txBody>
      </p:sp>
      <p:sp>
        <p:nvSpPr>
          <p:cNvPr id="14" name="l2_t1#b"/>
          <p:cNvSpPr txBox="1"/>
          <p:nvPr/>
        </p:nvSpPr>
        <p:spPr>
          <a:xfrm>
            <a:off x="4508906" y="5980176"/>
            <a:ext cx="3173882" cy="274320"/>
          </a:xfrm>
          <a:prstGeom prst="rect">
            <a:avLst/>
          </a:prstGeom>
          <a:noFill/>
          <a:ln/>
        </p:spPr>
        <p:txBody>
          <a:bodyPr wrap="square" lIns="0" tIns="0" rIns="0" bIns="0" rtlCol="0" anchor="t"/>
          <a:lstStyle/>
          <a:p>
            <a:pPr indent="0" marL="0">
              <a:spcAft>
                <a:spcPts val="400"/>
              </a:spcAft>
              <a:buNone/>
            </a:pPr>
            <a:r>
              <a:rPr lang="en-US" sz="1200" dirty="0">
                <a:solidFill>
                  <a:srgbClr val="AEBBD0"/>
                </a:solidFill>
                <a:latin typeface="Calibri" pitchFamily="34" charset="0"/>
                <a:ea typeface="Calibri" pitchFamily="34" charset="-122"/>
                <a:cs typeface="Calibri" pitchFamily="34" charset="-120"/>
              </a:rPr>
              <a:t>potential field + 2 × learned correction</a:t>
            </a:r>
            <a:endParaRPr lang="en-US" sz="1200" dirty="0"/>
          </a:p>
        </p:txBody>
      </p:sp>
      <p:sp>
        <p:nvSpPr>
          <p:cNvPr id="15" name="l2_t2#box"/>
          <p:cNvSpPr/>
          <p:nvPr/>
        </p:nvSpPr>
        <p:spPr>
          <a:xfrm>
            <a:off x="8066837" y="5504688"/>
            <a:ext cx="3576218" cy="804672"/>
          </a:xfrm>
          <a:prstGeom prst="roundRect">
            <a:avLst>
              <a:gd name="adj" fmla="val 11364"/>
            </a:avLst>
          </a:prstGeom>
          <a:solidFill>
            <a:srgbClr val="0F1B2D"/>
          </a:solidFill>
          <a:ln w="12700">
            <a:solidFill>
              <a:srgbClr val="23344F"/>
            </a:solidFill>
            <a:prstDash val="solid"/>
          </a:ln>
        </p:spPr>
      </p:sp>
      <p:sp>
        <p:nvSpPr>
          <p:cNvPr id="16" name="l2_t2#h"/>
          <p:cNvSpPr txBox="1"/>
          <p:nvPr/>
        </p:nvSpPr>
        <p:spPr>
          <a:xfrm>
            <a:off x="8268005" y="5687568"/>
            <a:ext cx="3173882" cy="384048"/>
          </a:xfrm>
          <a:prstGeom prst="rect">
            <a:avLst/>
          </a:prstGeom>
          <a:noFill/>
          <a:ln/>
        </p:spPr>
        <p:txBody>
          <a:bodyPr wrap="square" lIns="0" tIns="0" rIns="0" bIns="0" rtlCol="0" anchor="t"/>
          <a:lstStyle/>
          <a:p>
            <a:pPr indent="0" marL="0">
              <a:buNone/>
            </a:pPr>
            <a:r>
              <a:rPr lang="en-US" sz="1350" b="1" dirty="0">
                <a:solidFill>
                  <a:srgbClr val="EEF3FA"/>
                </a:solidFill>
                <a:latin typeface="Calibri" pitchFamily="34" charset="0"/>
                <a:ea typeface="Calibri" pitchFamily="34" charset="-122"/>
                <a:cs typeface="Calibri" pitchFamily="34" charset="-120"/>
              </a:rPr>
              <a:t>20 M PPO steps</a:t>
            </a:r>
            <a:endParaRPr lang="en-US" sz="1350" dirty="0"/>
          </a:p>
        </p:txBody>
      </p:sp>
      <p:sp>
        <p:nvSpPr>
          <p:cNvPr id="17" name="l2_t2#b"/>
          <p:cNvSpPr txBox="1"/>
          <p:nvPr/>
        </p:nvSpPr>
        <p:spPr>
          <a:xfrm>
            <a:off x="8268005" y="5980176"/>
            <a:ext cx="3173882" cy="274320"/>
          </a:xfrm>
          <a:prstGeom prst="rect">
            <a:avLst/>
          </a:prstGeom>
          <a:noFill/>
          <a:ln/>
        </p:spPr>
        <p:txBody>
          <a:bodyPr wrap="square" lIns="0" tIns="0" rIns="0" bIns="0" rtlCol="0" anchor="t"/>
          <a:lstStyle/>
          <a:p>
            <a:pPr indent="0" marL="0">
              <a:spcAft>
                <a:spcPts val="400"/>
              </a:spcAft>
              <a:buNone/>
            </a:pPr>
            <a:r>
              <a:rPr lang="en-US" sz="1200" dirty="0">
                <a:solidFill>
                  <a:srgbClr val="AEBBD0"/>
                </a:solidFill>
                <a:latin typeface="Calibri" pitchFamily="34" charset="0"/>
                <a:ea typeface="Calibri" pitchFamily="34" charset="-122"/>
                <a:cs typeface="Calibri" pitchFamily="34" charset="-120"/>
              </a:rPr>
              <a:t>134 min training</a:t>
            </a:r>
            <a:endParaRPr lang="en-US" sz="1200" dirty="0"/>
          </a:p>
        </p:txBody>
      </p:sp>
      <p:sp>
        <p:nvSpPr>
          <p:cNvPr id="25" name="Slide Number Placeholder 0"/>
          <p:cNvSpPr>
            <a:spLocks noGrp="1"/>
          </p:cNvSpPr>
          <p:nvPr>
            <p:ph type="sldNum" sz="quarter" idx="4294967295"/>
          </p:nvPr>
        </p:nvSpPr>
        <p:spPr>
          <a:xfrm>
            <a:off x="11094415" y="6446520"/>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7F8FA8"/>
                </a:solidFill>
              </a:defRPr>
            </a:lvl1pPr>
          </a:lstStyle>
          <a:p>
            <a:pPr algn="r"/>
            <a:fld id="{F7021451-1387-4CA6-816F-3879F97B5CBC}" type="slidenum">
              <a:rPr b="0" lang="en-US"/>
              <a:t>16</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13" fill="hold">
                            <p:stCondLst>
                              <p:cond delay="0"/>
                            </p:stCondLst>
                            <p:childTnLst>
                              <p:par>
                                <p:cTn id="4" presetID="10" presetClass="entr" presetSubtype="0" fill="hold" grpId="0" nodeType="afterEffect">
                                  <p:stCondLst>
                                    <p:cond delay="0"/>
                                  </p:stCondLst>
                                  <p:childTnLst>
                                    <p:set>
                                      <p:cBhvr>
                                        <p:cTn id="5" dur="1" fill="hold">
                                          <p:stCondLst>
                                            <p:cond delay="0"/>
                                          </p:stCondLst>
                                        </p:cTn>
                                        <p:tgtEl>
                                          <p:spTgt spid="5"/>
                                        </p:tgtEl>
                                        <p:attrNameLst>
                                          <p:attrName>style.visibility</p:attrName>
                                        </p:attrNameLst>
                                      </p:cBhvr>
                                      <p:to>
                                        <p:strVal val="visible"/>
                                      </p:to>
                                    </p:set>
                                    <p:animEffect transition="in" filter="fade">
                                      <p:cBhvr>
                                        <p:cTn id="6" dur="420"/>
                                        <p:tgtEl>
                                          <p:spTgt spid="5"/>
                                        </p:tgtEl>
                                      </p:cBhvr>
                                    </p:animEffect>
                                  </p:childTnLst>
                                </p:cTn>
                              </p:par>
                              <p:par>
                                <p:cTn id="7" presetID="10" presetClass="entr" presetSubtype="0" fill="hold" nodeType="withEffect">
                                  <p:stCondLst>
                                    <p:cond delay="0"/>
                                  </p:stCondLst>
                                  <p:childTnLst>
                                    <p:set>
                                      <p:cBhvr>
                                        <p:cTn id="8" dur="1" fill="hold">
                                          <p:stCondLst>
                                            <p:cond delay="0"/>
                                          </p:stCondLst>
                                        </p:cTn>
                                        <p:tgtEl>
                                          <p:spTgt spid="6"/>
                                        </p:tgtEl>
                                        <p:attrNameLst>
                                          <p:attrName>style.visibility</p:attrName>
                                        </p:attrNameLst>
                                      </p:cBhvr>
                                      <p:to>
                                        <p:strVal val="visible"/>
                                      </p:to>
                                    </p:set>
                                    <p:animEffect transition="in" filter="fade">
                                      <p:cBhvr>
                                        <p:cTn id="9" dur="420"/>
                                        <p:tgtEl>
                                          <p:spTgt spid="6"/>
                                        </p:tgtEl>
                                      </p:cBhvr>
                                    </p:animEffect>
                                  </p:childTnLst>
                                </p:cTn>
                              </p:par>
                              <p:par>
                                <p:cTn id="10" presetID="10" presetClass="entr" presetSubtype="0" fill="hold" grpId="0" nodeType="with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420"/>
                                        <p:tgtEl>
                                          <p:spTgt spid="7"/>
                                        </p:tgtEl>
                                      </p:cBhvr>
                                    </p:animEffect>
                                  </p:childTnLst>
                                </p:cTn>
                              </p:par>
                            </p:childTnLst>
                          </p:cTn>
                        </p:par>
                        <p:par>
                          <p:cTn id="17" fill="hold">
                            <p:stCondLst>
                              <p:cond delay="0"/>
                            </p:stCondLst>
                            <p:childTnLst>
                              <p:par>
                                <p:cTn id="14" presetID="10" presetClass="entr" presetSubtype="0" fill="hold" grpId="0" nodeType="after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420"/>
                                        <p:tgtEl>
                                          <p:spTgt spid="8"/>
                                        </p:tgtEl>
                                      </p:cBhvr>
                                    </p:animEffect>
                                  </p:childTnLst>
                                </p:cTn>
                              </p:par>
                            </p:childTnLst>
                          </p:cTn>
                        </p:par>
                        <p:par>
                          <p:cTn id="27" fill="hold">
                            <p:stCondLst>
                              <p:cond delay="260"/>
                            </p:stCondLst>
                            <p:childTnLst>
                              <p:par>
                                <p:cTn id="18" presetID="10" presetClass="entr" presetSubtype="0" fill="hold" grpId="0" nodeType="afterEffect">
                                  <p:stCondLst>
                                    <p:cond delay="0"/>
                                  </p:stCondLst>
                                  <p:childTnLst>
                                    <p:set>
                                      <p:cBhvr>
                                        <p:cTn id="19" dur="1" fill="hold">
                                          <p:stCondLst>
                                            <p:cond delay="0"/>
                                          </p:stCondLst>
                                        </p:cTn>
                                        <p:tgtEl>
                                          <p:spTgt spid="9"/>
                                        </p:tgtEl>
                                        <p:attrNameLst>
                                          <p:attrName>style.visibility</p:attrName>
                                        </p:attrNameLst>
                                      </p:cBhvr>
                                      <p:to>
                                        <p:strVal val="visible"/>
                                      </p:to>
                                    </p:set>
                                    <p:animEffect transition="in" filter="fade">
                                      <p:cBhvr>
                                        <p:cTn id="20" dur="420"/>
                                        <p:tgtEl>
                                          <p:spTgt spid="9"/>
                                        </p:tgtEl>
                                      </p:cBhvr>
                                    </p:animEffect>
                                  </p:childTnLst>
                                </p:cTn>
                              </p:par>
                              <p:par>
                                <p:cTn id="21" presetID="10" presetClass="entr" presetSubtype="0" fill="hold" grpId="0" nodeType="with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420"/>
                                        <p:tgtEl>
                                          <p:spTgt spid="10"/>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1"/>
                                        </p:tgtEl>
                                        <p:attrNameLst>
                                          <p:attrName>style.visibility</p:attrName>
                                        </p:attrNameLst>
                                      </p:cBhvr>
                                      <p:to>
                                        <p:strVal val="visible"/>
                                      </p:to>
                                    </p:set>
                                    <p:animEffect transition="in" filter="fade">
                                      <p:cBhvr>
                                        <p:cTn id="26" dur="420"/>
                                        <p:tgtEl>
                                          <p:spTgt spid="11"/>
                                        </p:tgtEl>
                                      </p:cBhvr>
                                    </p:animEffect>
                                  </p:childTnLst>
                                </p:cTn>
                              </p:par>
                            </p:childTnLst>
                          </p:cTn>
                        </p:par>
                        <p:par>
                          <p:cTn id="37" fill="hold">
                            <p:stCondLst>
                              <p:cond delay="520"/>
                            </p:stCondLst>
                            <p:childTnLst>
                              <p:par>
                                <p:cTn id="28" presetID="10" presetClass="entr" presetSubtype="0" fill="hold" grpId="0" nodeType="afterEffect">
                                  <p:stCondLst>
                                    <p:cond delay="0"/>
                                  </p:stCondLst>
                                  <p:childTnLst>
                                    <p:set>
                                      <p:cBhvr>
                                        <p:cTn id="29" dur="1" fill="hold">
                                          <p:stCondLst>
                                            <p:cond delay="0"/>
                                          </p:stCondLst>
                                        </p:cTn>
                                        <p:tgtEl>
                                          <p:spTgt spid="12"/>
                                        </p:tgtEl>
                                        <p:attrNameLst>
                                          <p:attrName>style.visibility</p:attrName>
                                        </p:attrNameLst>
                                      </p:cBhvr>
                                      <p:to>
                                        <p:strVal val="visible"/>
                                      </p:to>
                                    </p:set>
                                    <p:animEffect transition="in" filter="fade">
                                      <p:cBhvr>
                                        <p:cTn id="30" dur="420"/>
                                        <p:tgtEl>
                                          <p:spTgt spid="12"/>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3"/>
                                        </p:tgtEl>
                                        <p:attrNameLst>
                                          <p:attrName>style.visibility</p:attrName>
                                        </p:attrNameLst>
                                      </p:cBhvr>
                                      <p:to>
                                        <p:strVal val="visible"/>
                                      </p:to>
                                    </p:set>
                                    <p:animEffect transition="in" filter="fade">
                                      <p:cBhvr>
                                        <p:cTn id="33" dur="420"/>
                                        <p:tgtEl>
                                          <p:spTgt spid="13"/>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4"/>
                                        </p:tgtEl>
                                        <p:attrNameLst>
                                          <p:attrName>style.visibility</p:attrName>
                                        </p:attrNameLst>
                                      </p:cBhvr>
                                      <p:to>
                                        <p:strVal val="visible"/>
                                      </p:to>
                                    </p:set>
                                    <p:animEffect transition="in" filter="fade">
                                      <p:cBhvr>
                                        <p:cTn id="36" dur="420"/>
                                        <p:tgtEl>
                                          <p:spTgt spid="14"/>
                                        </p:tgtEl>
                                      </p:cBhvr>
                                    </p:animEffect>
                                  </p:childTnLst>
                                </p:cTn>
                              </p:par>
                            </p:childTnLst>
                          </p:cTn>
                        </p:par>
                        <p:par>
                          <p:cTn id="47" fill="hold">
                            <p:stCondLst>
                              <p:cond delay="780"/>
                            </p:stCondLst>
                            <p:childTnLst>
                              <p:par>
                                <p:cTn id="38" presetID="10" presetClass="entr" presetSubtype="0" fill="hold" grpId="0" nodeType="afterEffect">
                                  <p:stCondLst>
                                    <p:cond delay="0"/>
                                  </p:stCondLst>
                                  <p:childTnLst>
                                    <p:set>
                                      <p:cBhvr>
                                        <p:cTn id="39" dur="1" fill="hold">
                                          <p:stCondLst>
                                            <p:cond delay="0"/>
                                          </p:stCondLst>
                                        </p:cTn>
                                        <p:tgtEl>
                                          <p:spTgt spid="15"/>
                                        </p:tgtEl>
                                        <p:attrNameLst>
                                          <p:attrName>style.visibility</p:attrName>
                                        </p:attrNameLst>
                                      </p:cBhvr>
                                      <p:to>
                                        <p:strVal val="visible"/>
                                      </p:to>
                                    </p:set>
                                    <p:animEffect transition="in" filter="fade">
                                      <p:cBhvr>
                                        <p:cTn id="40" dur="420"/>
                                        <p:tgtEl>
                                          <p:spTgt spid="15"/>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16"/>
                                        </p:tgtEl>
                                        <p:attrNameLst>
                                          <p:attrName>style.visibility</p:attrName>
                                        </p:attrNameLst>
                                      </p:cBhvr>
                                      <p:to>
                                        <p:strVal val="visible"/>
                                      </p:to>
                                    </p:set>
                                    <p:animEffect transition="in" filter="fade">
                                      <p:cBhvr>
                                        <p:cTn id="43" dur="420"/>
                                        <p:tgtEl>
                                          <p:spTgt spid="16"/>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17"/>
                                        </p:tgtEl>
                                        <p:attrNameLst>
                                          <p:attrName>style.visibility</p:attrName>
                                        </p:attrNameLst>
                                      </p:cBhvr>
                                      <p:to>
                                        <p:strVal val="visible"/>
                                      </p:to>
                                    </p:set>
                                    <p:animEffect transition="in" filter="fade">
                                      <p:cBhvr>
                                        <p:cTn id="46" dur="420"/>
                                        <p:tgtEl>
                                          <p:spTgt spid="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7" grpId="0" animBg="1"/>
      <p:bldGraphic spid="8" grpId="0">
        <p:bldAsOne/>
      </p:bldGraphic>
      <p:bldP spid="9" grpId="0"/>
      <p:bldP spid="10" grpId="0" animBg="1"/>
      <p:bldP spid="11" grpId="0" animBg="1"/>
      <p:bldP spid="12" grpId="0"/>
      <p:bldP spid="13" grpId="0" animBg="1"/>
      <p:bldP spid="14" grpId="0" animBg="1"/>
      <p:bldP spid="15" grpId="0"/>
      <p:bldP spid="16" grpId="0" animBg="1"/>
      <p:bldP spid="17"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1" type="body" hasCustomPrompt="1"/>
          </p:nvPr>
        </p:nvSpPr>
        <p:spPr>
          <a:xfrm>
            <a:off x="731520" y="310896"/>
            <a:ext cx="8686800" cy="329184"/>
          </a:xfrm>
          <a:prstGeom prst="rect">
            <a:avLst/>
          </a:prstGeom>
          <a:noFill/>
          <a:ln/>
        </p:spPr>
        <p:txBody>
          <a:bodyPr wrap="square" lIns="0" tIns="0" rIns="0" bIns="0" rtlCol="0" anchor="ctr"/>
          <a:lstStyle/>
          <a:p>
            <a:pPr algn="l" indent="0" marL="0">
              <a:buNone/>
            </a:pPr>
            <a:r>
              <a:rPr lang="en-US" sz="1200" b="1" spc="300" kern="0" dirty="0">
                <a:solidFill>
                  <a:srgbClr val="AEBBD0"/>
                </a:solidFill>
              </a:rPr>
              <a:t>CONCLUSION</a:t>
            </a:r>
            <a:endParaRPr lang="en-US" sz="1200" dirty="0"/>
          </a:p>
        </p:txBody>
      </p:sp>
      <p:sp>
        <p:nvSpPr>
          <p:cNvPr id="3" name="Text 0"/>
          <p:cNvSpPr/>
          <p:nvPr>
            <p:ph idx="102" type="title" hasCustomPrompt="1"/>
          </p:nvPr>
        </p:nvSpPr>
        <p:spPr>
          <a:xfrm>
            <a:off x="548640" y="658368"/>
            <a:ext cx="11094415" cy="731520"/>
          </a:xfrm>
          <a:prstGeom prst="rect">
            <a:avLst/>
          </a:prstGeom>
          <a:noFill/>
          <a:ln/>
        </p:spPr>
        <p:txBody>
          <a:bodyPr wrap="square" lIns="0" tIns="0" rIns="0" bIns="0" rtlCol="0" anchor="ctr"/>
          <a:lstStyle/>
          <a:p>
            <a:pPr algn="l" indent="0" marL="0">
              <a:buNone/>
            </a:pPr>
            <a:r>
              <a:rPr lang="en-US" sz="3200" b="1" dirty="0">
                <a:solidFill>
                  <a:srgbClr val="EEF3FA"/>
                </a:solidFill>
              </a:rPr>
              <a:t>What we achieved, and what is still open</a:t>
            </a:r>
            <a:endParaRPr lang="en-US" sz="3200" dirty="0"/>
          </a:p>
        </p:txBody>
      </p:sp>
      <p:sp>
        <p:nvSpPr>
          <p:cNvPr id="5" name="k_ach#box"/>
          <p:cNvSpPr/>
          <p:nvPr/>
        </p:nvSpPr>
        <p:spPr>
          <a:xfrm>
            <a:off x="548640" y="1691640"/>
            <a:ext cx="3566160" cy="3520440"/>
          </a:xfrm>
          <a:prstGeom prst="roundRect">
            <a:avLst>
              <a:gd name="adj" fmla="val 2597"/>
            </a:avLst>
          </a:prstGeom>
          <a:solidFill>
            <a:srgbClr val="0F1B2D"/>
          </a:solidFill>
          <a:ln w="12700">
            <a:solidFill>
              <a:srgbClr val="23344F"/>
            </a:solidFill>
            <a:prstDash val="solid"/>
          </a:ln>
        </p:spPr>
      </p:sp>
      <p:sp>
        <p:nvSpPr>
          <p:cNvPr id="6" name="k_ach#k"/>
          <p:cNvSpPr txBox="1"/>
          <p:nvPr/>
        </p:nvSpPr>
        <p:spPr>
          <a:xfrm>
            <a:off x="749808" y="1874520"/>
            <a:ext cx="3163824" cy="228600"/>
          </a:xfrm>
          <a:prstGeom prst="rect">
            <a:avLst/>
          </a:prstGeom>
          <a:noFill/>
          <a:ln/>
        </p:spPr>
        <p:txBody>
          <a:bodyPr wrap="square" lIns="0" tIns="0" rIns="0" bIns="0" rtlCol="0" anchor="t"/>
          <a:lstStyle/>
          <a:p>
            <a:pPr indent="0" marL="0">
              <a:buNone/>
            </a:pPr>
            <a:r>
              <a:rPr lang="en-US" sz="1050" b="1" spc="200" kern="0" dirty="0">
                <a:solidFill>
                  <a:srgbClr val="8FF08F"/>
                </a:solidFill>
                <a:latin typeface="Calibri" pitchFamily="34" charset="0"/>
                <a:ea typeface="Calibri" pitchFamily="34" charset="-122"/>
                <a:cs typeface="Calibri" pitchFamily="34" charset="-120"/>
              </a:rPr>
              <a:t>ACHIEVED</a:t>
            </a:r>
            <a:endParaRPr lang="en-US" sz="1050" dirty="0"/>
          </a:p>
        </p:txBody>
      </p:sp>
      <p:sp>
        <p:nvSpPr>
          <p:cNvPr id="7" name="k_ach#h"/>
          <p:cNvSpPr txBox="1"/>
          <p:nvPr/>
        </p:nvSpPr>
        <p:spPr>
          <a:xfrm>
            <a:off x="749808" y="2167128"/>
            <a:ext cx="3163824" cy="384048"/>
          </a:xfrm>
          <a:prstGeom prst="rect">
            <a:avLst/>
          </a:prstGeom>
          <a:noFill/>
          <a:ln/>
        </p:spPr>
        <p:txBody>
          <a:bodyPr wrap="square" lIns="0" tIns="0" rIns="0" bIns="0" rtlCol="0" anchor="t"/>
          <a:lstStyle/>
          <a:p>
            <a:pPr indent="0" marL="0">
              <a:buNone/>
            </a:pPr>
            <a:r>
              <a:rPr lang="en-US" sz="1700" b="1" dirty="0">
                <a:solidFill>
                  <a:srgbClr val="EEF3FA"/>
                </a:solidFill>
                <a:latin typeface="Calibri" pitchFamily="34" charset="0"/>
                <a:ea typeface="Calibri" pitchFamily="34" charset="-122"/>
                <a:cs typeface="Calibri" pitchFamily="34" charset="-120"/>
              </a:rPr>
              <a:t>Level 1 complete, Level 2 working</a:t>
            </a:r>
            <a:endParaRPr lang="en-US" sz="1700" dirty="0"/>
          </a:p>
        </p:txBody>
      </p:sp>
      <p:sp>
        <p:nvSpPr>
          <p:cNvPr id="8" name="k_ach#b"/>
          <p:cNvSpPr txBox="1"/>
          <p:nvPr/>
        </p:nvSpPr>
        <p:spPr>
          <a:xfrm>
            <a:off x="749808" y="2587752"/>
            <a:ext cx="3163824" cy="2514600"/>
          </a:xfrm>
          <a:prstGeom prst="rect">
            <a:avLst/>
          </a:prstGeom>
          <a:noFill/>
          <a:ln/>
        </p:spPr>
        <p:txBody>
          <a:bodyPr wrap="square" lIns="0" tIns="0" rIns="0" bIns="0" rtlCol="0" anchor="t"/>
          <a:lstStyle/>
          <a:p>
            <a:pPr marL="152400" indent="-152400">
              <a:spcAft>
                <a:spcPts val="400"/>
              </a:spcAft>
              <a:buSzPct val="100000"/>
              <a:buChar char="•"/>
            </a:pPr>
            <a:r>
              <a:rPr lang="en-US" sz="1300" dirty="0">
                <a:solidFill>
                  <a:srgbClr val="AEBBD0"/>
                </a:solidFill>
                <a:latin typeface="Calibri" pitchFamily="34" charset="0"/>
                <a:ea typeface="Calibri" pitchFamily="34" charset="-122"/>
                <a:cs typeface="Calibri" pitchFamily="34" charset="-120"/>
              </a:rPr>
              <a:t>100 % of 2,000 held-out targets within 1 mm and 1°, 0 % self-collision (network + LM)</a:t>
            </a:r>
            <a:endParaRPr lang="en-US" sz="1300" dirty="0"/>
          </a:p>
          <a:p>
            <a:pPr marL="152400" indent="-152400">
              <a:spcAft>
                <a:spcPts val="400"/>
              </a:spcAft>
              <a:buSzPct val="100000"/>
              <a:buChar char="•"/>
            </a:pPr>
            <a:r>
              <a:rPr lang="en-US" sz="1300" dirty="0">
                <a:solidFill>
                  <a:srgbClr val="AEBBD0"/>
                </a:solidFill>
                <a:latin typeface="Calibri" pitchFamily="34" charset="0"/>
                <a:ea typeface="Calibri" pitchFamily="34" charset="-122"/>
                <a:cs typeface="Calibri" pitchFamily="34" charset="-120"/>
              </a:rPr>
              <a:t>Classifier 98.4 % accurate, used in training and Level 2</a:t>
            </a:r>
            <a:endParaRPr lang="en-US" sz="1300" dirty="0"/>
          </a:p>
          <a:p>
            <a:pPr marL="152400" indent="-152400">
              <a:spcAft>
                <a:spcPts val="400"/>
              </a:spcAft>
              <a:buSzPct val="100000"/>
              <a:buChar char="•"/>
            </a:pPr>
            <a:r>
              <a:rPr lang="en-US" sz="1300" dirty="0">
                <a:solidFill>
                  <a:srgbClr val="AEBBD0"/>
                </a:solidFill>
                <a:latin typeface="Calibri" pitchFamily="34" charset="0"/>
                <a:ea typeface="Calibri" pitchFamily="34" charset="-122"/>
                <a:cs typeface="Calibri" pitchFamily="34" charset="-120"/>
              </a:rPr>
              <a:t>Network alone: 23 mm mean error; the plan's network: 114 mm on the same targets</a:t>
            </a:r>
            <a:endParaRPr lang="en-US" sz="1300" dirty="0"/>
          </a:p>
          <a:p>
            <a:pPr marL="152400" indent="-152400">
              <a:spcAft>
                <a:spcPts val="400"/>
              </a:spcAft>
              <a:buSzPct val="100000"/>
              <a:buChar char="•"/>
            </a:pPr>
            <a:r>
              <a:rPr lang="en-US" sz="1300" dirty="0">
                <a:solidFill>
                  <a:srgbClr val="AEBBD0"/>
                </a:solidFill>
                <a:latin typeface="Calibri" pitchFamily="34" charset="0"/>
                <a:ea typeface="Calibri" pitchFamily="34" charset="-122"/>
                <a:cs typeface="Calibri" pitchFamily="34" charset="-120"/>
              </a:rPr>
              <a:t>Level 2: collisions 50 % → 2 %, goals 50 % → 84 %</a:t>
            </a:r>
            <a:endParaRPr lang="en-US" sz="1300" dirty="0"/>
          </a:p>
        </p:txBody>
      </p:sp>
      <p:sp>
        <p:nvSpPr>
          <p:cNvPr id="9" name="k_lim#box"/>
          <p:cNvSpPr/>
          <p:nvPr/>
        </p:nvSpPr>
        <p:spPr>
          <a:xfrm>
            <a:off x="4297680" y="1691640"/>
            <a:ext cx="3611880" cy="3520440"/>
          </a:xfrm>
          <a:prstGeom prst="roundRect">
            <a:avLst>
              <a:gd name="adj" fmla="val 2597"/>
            </a:avLst>
          </a:prstGeom>
          <a:solidFill>
            <a:srgbClr val="0F1B2D"/>
          </a:solidFill>
          <a:ln w="12700">
            <a:solidFill>
              <a:srgbClr val="23344F"/>
            </a:solidFill>
            <a:prstDash val="solid"/>
          </a:ln>
        </p:spPr>
      </p:sp>
      <p:sp>
        <p:nvSpPr>
          <p:cNvPr id="10" name="k_lim#k"/>
          <p:cNvSpPr txBox="1"/>
          <p:nvPr/>
        </p:nvSpPr>
        <p:spPr>
          <a:xfrm>
            <a:off x="4498848" y="1874520"/>
            <a:ext cx="3209544" cy="228600"/>
          </a:xfrm>
          <a:prstGeom prst="rect">
            <a:avLst/>
          </a:prstGeom>
          <a:noFill/>
          <a:ln/>
        </p:spPr>
        <p:txBody>
          <a:bodyPr wrap="square" lIns="0" tIns="0" rIns="0" bIns="0" rtlCol="0" anchor="t"/>
          <a:lstStyle/>
          <a:p>
            <a:pPr indent="0" marL="0">
              <a:buNone/>
            </a:pPr>
            <a:r>
              <a:rPr lang="en-US" sz="1050" b="1" spc="200" kern="0" dirty="0">
                <a:solidFill>
                  <a:srgbClr val="FFD47A"/>
                </a:solidFill>
                <a:latin typeface="Calibri" pitchFamily="34" charset="0"/>
                <a:ea typeface="Calibri" pitchFamily="34" charset="-122"/>
                <a:cs typeface="Calibri" pitchFamily="34" charset="-120"/>
              </a:rPr>
              <a:t>LIMITATIONS</a:t>
            </a:r>
            <a:endParaRPr lang="en-US" sz="1050" dirty="0"/>
          </a:p>
        </p:txBody>
      </p:sp>
      <p:sp>
        <p:nvSpPr>
          <p:cNvPr id="11" name="k_lim#h"/>
          <p:cNvSpPr txBox="1"/>
          <p:nvPr/>
        </p:nvSpPr>
        <p:spPr>
          <a:xfrm>
            <a:off x="4498848" y="2167128"/>
            <a:ext cx="3209544" cy="384048"/>
          </a:xfrm>
          <a:prstGeom prst="rect">
            <a:avLst/>
          </a:prstGeom>
          <a:noFill/>
          <a:ln/>
        </p:spPr>
        <p:txBody>
          <a:bodyPr wrap="square" lIns="0" tIns="0" rIns="0" bIns="0" rtlCol="0" anchor="t"/>
          <a:lstStyle/>
          <a:p>
            <a:pPr indent="0" marL="0">
              <a:buNone/>
            </a:pPr>
            <a:r>
              <a:rPr lang="en-US" sz="1700" b="1" dirty="0">
                <a:solidFill>
                  <a:srgbClr val="EEF3FA"/>
                </a:solidFill>
                <a:latin typeface="Calibri" pitchFamily="34" charset="0"/>
                <a:ea typeface="Calibri" pitchFamily="34" charset="-122"/>
                <a:cs typeface="Calibri" pitchFamily="34" charset="-120"/>
              </a:rPr>
              <a:t>What the numbers do not show</a:t>
            </a:r>
            <a:endParaRPr lang="en-US" sz="1700" dirty="0"/>
          </a:p>
        </p:txBody>
      </p:sp>
      <p:sp>
        <p:nvSpPr>
          <p:cNvPr id="12" name="k_lim#b"/>
          <p:cNvSpPr txBox="1"/>
          <p:nvPr/>
        </p:nvSpPr>
        <p:spPr>
          <a:xfrm>
            <a:off x="4498848" y="2587752"/>
            <a:ext cx="3209544" cy="2514600"/>
          </a:xfrm>
          <a:prstGeom prst="rect">
            <a:avLst/>
          </a:prstGeom>
          <a:noFill/>
          <a:ln/>
        </p:spPr>
        <p:txBody>
          <a:bodyPr wrap="square" lIns="0" tIns="0" rIns="0" bIns="0" rtlCol="0" anchor="t"/>
          <a:lstStyle/>
          <a:p>
            <a:pPr marL="152400" indent="-152400">
              <a:spcAft>
                <a:spcPts val="400"/>
              </a:spcAft>
              <a:buSzPct val="100000"/>
              <a:buChar char="•"/>
            </a:pPr>
            <a:r>
              <a:rPr lang="en-US" sz="1300" dirty="0">
                <a:solidFill>
                  <a:srgbClr val="AEBBD0"/>
                </a:solidFill>
                <a:latin typeface="Calibri" pitchFamily="34" charset="0"/>
                <a:ea typeface="Calibri" pitchFamily="34" charset="-122"/>
                <a:cs typeface="Calibri" pitchFamily="34" charset="-120"/>
              </a:rPr>
              <a:t>Simulation only, kinematic motion</a:t>
            </a:r>
            <a:endParaRPr lang="en-US" sz="1300" dirty="0"/>
          </a:p>
          <a:p>
            <a:pPr marL="152400" indent="-152400">
              <a:spcAft>
                <a:spcPts val="400"/>
              </a:spcAft>
              <a:buSzPct val="100000"/>
              <a:buChar char="•"/>
            </a:pPr>
            <a:r>
              <a:rPr lang="en-US" sz="1300" dirty="0">
                <a:solidFill>
                  <a:srgbClr val="AEBBD0"/>
                </a:solidFill>
                <a:latin typeface="Calibri" pitchFamily="34" charset="0"/>
                <a:ea typeface="Calibri" pitchFamily="34" charset="-122"/>
                <a:cs typeface="Calibri" pitchFamily="34" charset="-120"/>
              </a:rPr>
              <a:t>xArm6, not yet the space arm; no satellite body</a:t>
            </a:r>
            <a:endParaRPr lang="en-US" sz="1300" dirty="0"/>
          </a:p>
          <a:p>
            <a:pPr marL="152400" indent="-152400">
              <a:spcAft>
                <a:spcPts val="400"/>
              </a:spcAft>
              <a:buSzPct val="100000"/>
              <a:buChar char="•"/>
            </a:pPr>
            <a:r>
              <a:rPr lang="en-US" sz="1300" dirty="0">
                <a:solidFill>
                  <a:srgbClr val="AEBBD0"/>
                </a:solidFill>
                <a:latin typeface="Calibri" pitchFamily="34" charset="0"/>
                <a:ea typeface="Calibri" pitchFamily="34" charset="-122"/>
                <a:cs typeface="Calibri" pitchFamily="34" charset="-120"/>
              </a:rPr>
              <a:t>Collisions checked per pose, not along the path</a:t>
            </a:r>
            <a:endParaRPr lang="en-US" sz="1300" dirty="0"/>
          </a:p>
          <a:p>
            <a:pPr marL="152400" indent="-152400">
              <a:spcAft>
                <a:spcPts val="400"/>
              </a:spcAft>
              <a:buSzPct val="100000"/>
              <a:buChar char="•"/>
            </a:pPr>
            <a:r>
              <a:rPr lang="en-US" sz="1300" dirty="0">
                <a:solidFill>
                  <a:srgbClr val="AEBBD0"/>
                </a:solidFill>
                <a:latin typeface="Calibri" pitchFamily="34" charset="0"/>
                <a:ea typeface="Calibri" pitchFamily="34" charset="-122"/>
                <a:cs typeface="Calibri" pitchFamily="34" charset="-120"/>
              </a:rPr>
              <a:t>Warm seeds assume the arm starts near the answer</a:t>
            </a:r>
            <a:endParaRPr lang="en-US" sz="1300" dirty="0"/>
          </a:p>
          <a:p>
            <a:pPr marL="152400" indent="-152400">
              <a:spcAft>
                <a:spcPts val="400"/>
              </a:spcAft>
              <a:buSzPct val="100000"/>
              <a:buChar char="•"/>
            </a:pPr>
            <a:r>
              <a:rPr lang="en-US" sz="1300" dirty="0">
                <a:solidFill>
                  <a:srgbClr val="AEBBD0"/>
                </a:solidFill>
                <a:latin typeface="Calibri" pitchFamily="34" charset="0"/>
                <a:ea typeface="Calibri" pitchFamily="34" charset="-122"/>
                <a:cs typeface="Calibri" pitchFamily="34" charset="-120"/>
              </a:rPr>
              <a:t>Precision comes from the solver, not the network</a:t>
            </a:r>
            <a:endParaRPr lang="en-US" sz="1300" dirty="0"/>
          </a:p>
          <a:p>
            <a:pPr marL="152400" indent="-152400">
              <a:spcAft>
                <a:spcPts val="400"/>
              </a:spcAft>
              <a:buSzPct val="100000"/>
              <a:buChar char="•"/>
            </a:pPr>
            <a:r>
              <a:rPr lang="en-US" sz="1300" dirty="0">
                <a:solidFill>
                  <a:srgbClr val="AEBBD0"/>
                </a:solidFill>
                <a:latin typeface="Calibri" pitchFamily="34" charset="0"/>
                <a:ea typeface="Calibri" pitchFamily="34" charset="-122"/>
                <a:cs typeface="Calibri" pitchFamily="34" charset="-120"/>
              </a:rPr>
              <a:t>Level 2 agent stuck in 14 % of hardest episodes</a:t>
            </a:r>
            <a:endParaRPr lang="en-US" sz="1300" dirty="0"/>
          </a:p>
        </p:txBody>
      </p:sp>
      <p:sp>
        <p:nvSpPr>
          <p:cNvPr id="13" name="k_next#box"/>
          <p:cNvSpPr/>
          <p:nvPr/>
        </p:nvSpPr>
        <p:spPr>
          <a:xfrm>
            <a:off x="8092440" y="1691640"/>
            <a:ext cx="3550615" cy="3520440"/>
          </a:xfrm>
          <a:prstGeom prst="roundRect">
            <a:avLst>
              <a:gd name="adj" fmla="val 2597"/>
            </a:avLst>
          </a:prstGeom>
          <a:solidFill>
            <a:srgbClr val="0F1B2D"/>
          </a:solidFill>
          <a:ln w="12700">
            <a:solidFill>
              <a:srgbClr val="23344F"/>
            </a:solidFill>
            <a:prstDash val="solid"/>
          </a:ln>
        </p:spPr>
      </p:sp>
      <p:sp>
        <p:nvSpPr>
          <p:cNvPr id="14" name="k_next#k"/>
          <p:cNvSpPr txBox="1"/>
          <p:nvPr/>
        </p:nvSpPr>
        <p:spPr>
          <a:xfrm>
            <a:off x="8293608" y="1874520"/>
            <a:ext cx="3148279" cy="228600"/>
          </a:xfrm>
          <a:prstGeom prst="rect">
            <a:avLst/>
          </a:prstGeom>
          <a:noFill/>
          <a:ln/>
        </p:spPr>
        <p:txBody>
          <a:bodyPr wrap="square" lIns="0" tIns="0" rIns="0" bIns="0" rtlCol="0" anchor="t"/>
          <a:lstStyle/>
          <a:p>
            <a:pPr indent="0" marL="0">
              <a:buNone/>
            </a:pPr>
            <a:r>
              <a:rPr lang="en-US" sz="1050" b="1" spc="200" kern="0" dirty="0">
                <a:solidFill>
                  <a:srgbClr val="4FD6F2"/>
                </a:solidFill>
                <a:latin typeface="Calibri" pitchFamily="34" charset="0"/>
                <a:ea typeface="Calibri" pitchFamily="34" charset="-122"/>
                <a:cs typeface="Calibri" pitchFamily="34" charset="-120"/>
              </a:rPr>
              <a:t>NEXT</a:t>
            </a:r>
            <a:endParaRPr lang="en-US" sz="1050" dirty="0"/>
          </a:p>
        </p:txBody>
      </p:sp>
      <p:sp>
        <p:nvSpPr>
          <p:cNvPr id="15" name="k_next#h"/>
          <p:cNvSpPr txBox="1"/>
          <p:nvPr/>
        </p:nvSpPr>
        <p:spPr>
          <a:xfrm>
            <a:off x="8293608" y="2167128"/>
            <a:ext cx="3148279" cy="384048"/>
          </a:xfrm>
          <a:prstGeom prst="rect">
            <a:avLst/>
          </a:prstGeom>
          <a:noFill/>
          <a:ln/>
        </p:spPr>
        <p:txBody>
          <a:bodyPr wrap="square" lIns="0" tIns="0" rIns="0" bIns="0" rtlCol="0" anchor="t"/>
          <a:lstStyle/>
          <a:p>
            <a:pPr indent="0" marL="0">
              <a:buNone/>
            </a:pPr>
            <a:r>
              <a:rPr lang="en-US" sz="1700" b="1" dirty="0">
                <a:solidFill>
                  <a:srgbClr val="EEF3FA"/>
                </a:solidFill>
                <a:latin typeface="Calibri" pitchFamily="34" charset="0"/>
                <a:ea typeface="Calibri" pitchFamily="34" charset="-122"/>
                <a:cs typeface="Calibri" pitchFamily="34" charset="-120"/>
              </a:rPr>
              <a:t>Towards the space manipulator</a:t>
            </a:r>
            <a:endParaRPr lang="en-US" sz="1700" dirty="0"/>
          </a:p>
        </p:txBody>
      </p:sp>
      <p:sp>
        <p:nvSpPr>
          <p:cNvPr id="16" name="k_next#b"/>
          <p:cNvSpPr txBox="1"/>
          <p:nvPr/>
        </p:nvSpPr>
        <p:spPr>
          <a:xfrm>
            <a:off x="8293608" y="2587752"/>
            <a:ext cx="3148279" cy="2514600"/>
          </a:xfrm>
          <a:prstGeom prst="rect">
            <a:avLst/>
          </a:prstGeom>
          <a:noFill/>
          <a:ln/>
        </p:spPr>
        <p:txBody>
          <a:bodyPr wrap="square" lIns="0" tIns="0" rIns="0" bIns="0" rtlCol="0" anchor="t"/>
          <a:lstStyle/>
          <a:p>
            <a:pPr marL="152400" indent="-152400">
              <a:spcAft>
                <a:spcPts val="400"/>
              </a:spcAft>
              <a:buSzPct val="100000"/>
              <a:buChar char="•"/>
            </a:pPr>
            <a:r>
              <a:rPr lang="en-US" sz="1300" dirty="0">
                <a:solidFill>
                  <a:srgbClr val="AEBBD0"/>
                </a:solidFill>
                <a:latin typeface="Calibri" pitchFamily="34" charset="0"/>
                <a:ea typeface="Calibri" pitchFamily="34" charset="-122"/>
                <a:cs typeface="Calibri" pitchFamily="34" charset="-120"/>
              </a:rPr>
              <a:t>Space-arm URDF + satellite body as collision geometry</a:t>
            </a:r>
            <a:endParaRPr lang="en-US" sz="1300" dirty="0"/>
          </a:p>
          <a:p>
            <a:pPr marL="152400" indent="-152400">
              <a:spcAft>
                <a:spcPts val="400"/>
              </a:spcAft>
              <a:buSzPct val="100000"/>
              <a:buChar char="•"/>
            </a:pPr>
            <a:r>
              <a:rPr lang="en-US" sz="1300" dirty="0">
                <a:solidFill>
                  <a:srgbClr val="AEBBD0"/>
                </a:solidFill>
                <a:latin typeface="Calibri" pitchFamily="34" charset="0"/>
                <a:ea typeface="Calibri" pitchFamily="34" charset="-122"/>
                <a:cs typeface="Calibri" pitchFamily="34" charset="-120"/>
              </a:rPr>
              <a:t>Continuous path collision checking</a:t>
            </a:r>
            <a:endParaRPr lang="en-US" sz="1300" dirty="0"/>
          </a:p>
          <a:p>
            <a:pPr marL="152400" indent="-152400">
              <a:spcAft>
                <a:spcPts val="400"/>
              </a:spcAft>
              <a:buSzPct val="100000"/>
              <a:buChar char="•"/>
            </a:pPr>
            <a:r>
              <a:rPr lang="en-US" sz="1300" dirty="0">
                <a:solidFill>
                  <a:srgbClr val="AEBBD0"/>
                </a:solidFill>
                <a:latin typeface="Calibri" pitchFamily="34" charset="0"/>
                <a:ea typeface="Calibri" pitchFamily="34" charset="-122"/>
                <a:cs typeface="Calibri" pitchFamily="34" charset="-120"/>
              </a:rPr>
              <a:t>IK-branch fallback when the agent is stuck</a:t>
            </a:r>
            <a:endParaRPr lang="en-US" sz="1300" dirty="0"/>
          </a:p>
          <a:p>
            <a:pPr marL="152400" indent="-152400">
              <a:spcAft>
                <a:spcPts val="400"/>
              </a:spcAft>
              <a:buSzPct val="100000"/>
              <a:buChar char="•"/>
            </a:pPr>
            <a:r>
              <a:rPr lang="en-US" sz="1300" dirty="0">
                <a:solidFill>
                  <a:srgbClr val="AEBBD0"/>
                </a:solidFill>
                <a:latin typeface="Calibri" pitchFamily="34" charset="0"/>
                <a:ea typeface="Calibri" pitchFamily="34" charset="-122"/>
                <a:cs typeface="Calibri" pitchFamily="34" charset="-120"/>
              </a:rPr>
              <a:t>Dynamics, free-floating base, hardware-in-the-loop</a:t>
            </a:r>
            <a:endParaRPr lang="en-US" sz="1300" dirty="0"/>
          </a:p>
        </p:txBody>
      </p:sp>
      <p:sp>
        <p:nvSpPr>
          <p:cNvPr id="17" name="Shape 14"/>
          <p:cNvSpPr/>
          <p:nvPr/>
        </p:nvSpPr>
        <p:spPr>
          <a:xfrm>
            <a:off x="548640" y="5486400"/>
            <a:ext cx="11094415" cy="0"/>
          </a:xfrm>
          <a:prstGeom prst="line">
            <a:avLst/>
          </a:prstGeom>
          <a:noFill/>
          <a:ln w="12700">
            <a:solidFill>
              <a:srgbClr val="22324A"/>
            </a:solidFill>
            <a:prstDash val="solid"/>
          </a:ln>
        </p:spPr>
      </p:sp>
      <p:sp>
        <p:nvSpPr>
          <p:cNvPr id="18" name="k_end"/>
          <p:cNvSpPr txBox="1"/>
          <p:nvPr/>
        </p:nvSpPr>
        <p:spPr>
          <a:xfrm>
            <a:off x="548640" y="5596128"/>
            <a:ext cx="5486400" cy="457200"/>
          </a:xfrm>
          <a:prstGeom prst="rect">
            <a:avLst/>
          </a:prstGeom>
          <a:noFill/>
          <a:ln/>
        </p:spPr>
        <p:txBody>
          <a:bodyPr wrap="square" lIns="0" tIns="0" rIns="0" bIns="0" rtlCol="0" anchor="t"/>
          <a:lstStyle/>
          <a:p>
            <a:pPr indent="0" marL="0">
              <a:buNone/>
            </a:pPr>
            <a:r>
              <a:rPr lang="en-US" sz="2200" b="1" dirty="0">
                <a:solidFill>
                  <a:srgbClr val="EEF3FA"/>
                </a:solidFill>
                <a:latin typeface="Calibri" pitchFamily="34" charset="0"/>
                <a:ea typeface="Calibri" pitchFamily="34" charset="-122"/>
                <a:cs typeface="Calibri" pitchFamily="34" charset="-120"/>
              </a:rPr>
              <a:t>Thank you · questions</a:t>
            </a:r>
            <a:endParaRPr lang="en-US" sz="2200" dirty="0"/>
          </a:p>
        </p:txBody>
      </p:sp>
      <p:sp>
        <p:nvSpPr>
          <p:cNvPr id="19" name="k_end#repo"/>
          <p:cNvSpPr txBox="1"/>
          <p:nvPr/>
        </p:nvSpPr>
        <p:spPr>
          <a:xfrm>
            <a:off x="5303520" y="5669280"/>
            <a:ext cx="6339535" cy="329184"/>
          </a:xfrm>
          <a:prstGeom prst="rect">
            <a:avLst/>
          </a:prstGeom>
          <a:noFill/>
          <a:ln/>
        </p:spPr>
        <p:txBody>
          <a:bodyPr wrap="square" lIns="0" tIns="0" rIns="0" bIns="0" rtlCol="0" anchor="t"/>
          <a:lstStyle/>
          <a:p>
            <a:pPr algn="r" indent="0" marL="0">
              <a:buNone/>
            </a:pPr>
            <a:r>
              <a:rPr lang="en-US" sz="1200" dirty="0">
                <a:solidFill>
                  <a:srgbClr val="7F8FA8"/>
                </a:solidFill>
                <a:latin typeface="Calibri" pitchFamily="34" charset="0"/>
                <a:ea typeface="Calibri" pitchFamily="34" charset="-122"/>
                <a:cs typeface="Calibri" pitchFamily="34" charset="-120"/>
              </a:rPr>
              <a:t>Code, data and every number in this deck: github.com/krishna09/neural_ik · deliverables/</a:t>
            </a:r>
            <a:endParaRPr lang="en-US" sz="1200" dirty="0"/>
          </a:p>
        </p:txBody>
      </p:sp>
      <p:sp>
        <p:nvSpPr>
          <p:cNvPr id="25" name="Slide Number Placeholder 0"/>
          <p:cNvSpPr>
            <a:spLocks noGrp="1"/>
          </p:cNvSpPr>
          <p:nvPr>
            <p:ph type="sldNum" sz="quarter" idx="4294967295"/>
          </p:nvPr>
        </p:nvSpPr>
        <p:spPr>
          <a:xfrm>
            <a:off x="11094415" y="6446520"/>
            <a:ext cx="548640" cy="256032"/>
          </a:xfrm>
          <a:prstGeom prst="rect">
            <a:avLst/>
          </a:prstGeom>
          <a:extLst>
            <a:ext uri="{C572A759-6A51-4108-AA02-DFA0A04FC94B}">
              <ma14:wrappingTextBoxFlag xmlns:ma14="http://schemas.microsoft.com/office/mac/drawingml/2011/main" val="0"/>
            </a:ext>
          </a:extLst>
        </p:spPr>
        <p:txBody>
          <a:bodyPr/>
          <a:lstStyle>
            <a:lvl1pPr>
              <a:defRPr sz="900">
                <a:solidFill>
                  <a:srgbClr val="7F8FA8"/>
                </a:solidFill>
              </a:defRPr>
            </a:lvl1pPr>
          </a:lstStyle>
          <a:p>
            <a:pPr algn="r"/>
            <a:fld id="{F7021451-1387-4CA6-816F-3879F97B5CBC}" type="slidenum">
              <a:rPr b="0" lang="en-US"/>
              <a:t>17</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16" fill="hold">
                            <p:stCondLst>
                              <p:cond delay="0"/>
                            </p:stCondLst>
                            <p:childTnLst>
                              <p:par>
                                <p:cTn id="4" presetID="10" presetClass="entr" presetSubtype="0" fill="hold" grpId="0" nodeType="afterEffect">
                                  <p:stCondLst>
                                    <p:cond delay="0"/>
                                  </p:stCondLst>
                                  <p:childTnLst>
                                    <p:set>
                                      <p:cBhvr>
                                        <p:cTn id="5" dur="1" fill="hold">
                                          <p:stCondLst>
                                            <p:cond delay="0"/>
                                          </p:stCondLst>
                                        </p:cTn>
                                        <p:tgtEl>
                                          <p:spTgt spid="5"/>
                                        </p:tgtEl>
                                        <p:attrNameLst>
                                          <p:attrName>style.visibility</p:attrName>
                                        </p:attrNameLst>
                                      </p:cBhvr>
                                      <p:to>
                                        <p:strVal val="visible"/>
                                      </p:to>
                                    </p:set>
                                    <p:animEffect transition="in" filter="fade">
                                      <p:cBhvr>
                                        <p:cTn id="6" dur="420"/>
                                        <p:tgtEl>
                                          <p:spTgt spid="5"/>
                                        </p:tgtEl>
                                      </p:cBhvr>
                                    </p:animEffect>
                                  </p:childTnLst>
                                </p:cTn>
                              </p:par>
                              <p:par>
                                <p:cTn id="7" presetID="10"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animEffect transition="in" filter="fade">
                                      <p:cBhvr>
                                        <p:cTn id="9" dur="420"/>
                                        <p:tgtEl>
                                          <p:spTgt spid="6"/>
                                        </p:tgtEl>
                                      </p:cBhvr>
                                    </p:animEffect>
                                  </p:childTnLst>
                                </p:cTn>
                              </p:par>
                              <p:par>
                                <p:cTn id="10" presetID="10" presetClass="entr" presetSubtype="0" fill="hold" grpId="0" nodeType="with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420"/>
                                        <p:tgtEl>
                                          <p:spTgt spid="7"/>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8"/>
                                        </p:tgtEl>
                                        <p:attrNameLst>
                                          <p:attrName>style.visibility</p:attrName>
                                        </p:attrNameLst>
                                      </p:cBhvr>
                                      <p:to>
                                        <p:strVal val="visible"/>
                                      </p:to>
                                    </p:set>
                                    <p:animEffect transition="in" filter="fade">
                                      <p:cBhvr>
                                        <p:cTn id="15" dur="420"/>
                                        <p:tgtEl>
                                          <p:spTgt spid="8"/>
                                        </p:tgtEl>
                                      </p:cBhvr>
                                    </p:animEffect>
                                  </p:childTnLst>
                                </p:cTn>
                              </p:par>
                            </p:childTnLst>
                          </p:cTn>
                        </p:par>
                        <p:par>
                          <p:cTn id="29" fill="hold">
                            <p:stCondLst>
                              <p:cond delay="0"/>
                            </p:stCondLst>
                            <p:childTnLst>
                              <p:par>
                                <p:cTn id="17" presetID="10" presetClass="entr" presetSubtype="0" fill="hold" grpId="0" nodeType="afterEffect">
                                  <p:stCondLst>
                                    <p:cond delay="0"/>
                                  </p:stCondLst>
                                  <p:childTnLst>
                                    <p:set>
                                      <p:cBhvr>
                                        <p:cTn id="18" dur="1" fill="hold">
                                          <p:stCondLst>
                                            <p:cond delay="0"/>
                                          </p:stCondLst>
                                        </p:cTn>
                                        <p:tgtEl>
                                          <p:spTgt spid="9"/>
                                        </p:tgtEl>
                                        <p:attrNameLst>
                                          <p:attrName>style.visibility</p:attrName>
                                        </p:attrNameLst>
                                      </p:cBhvr>
                                      <p:to>
                                        <p:strVal val="visible"/>
                                      </p:to>
                                    </p:set>
                                    <p:animEffect transition="in" filter="fade">
                                      <p:cBhvr>
                                        <p:cTn id="19" dur="420"/>
                                        <p:tgtEl>
                                          <p:spTgt spid="9"/>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fade">
                                      <p:cBhvr>
                                        <p:cTn id="22" dur="420"/>
                                        <p:tgtEl>
                                          <p:spTgt spid="10"/>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1"/>
                                        </p:tgtEl>
                                        <p:attrNameLst>
                                          <p:attrName>style.visibility</p:attrName>
                                        </p:attrNameLst>
                                      </p:cBhvr>
                                      <p:to>
                                        <p:strVal val="visible"/>
                                      </p:to>
                                    </p:set>
                                    <p:animEffect transition="in" filter="fade">
                                      <p:cBhvr>
                                        <p:cTn id="25" dur="420"/>
                                        <p:tgtEl>
                                          <p:spTgt spid="11"/>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2"/>
                                        </p:tgtEl>
                                        <p:attrNameLst>
                                          <p:attrName>style.visibility</p:attrName>
                                        </p:attrNameLst>
                                      </p:cBhvr>
                                      <p:to>
                                        <p:strVal val="visible"/>
                                      </p:to>
                                    </p:set>
                                    <p:animEffect transition="in" filter="fade">
                                      <p:cBhvr>
                                        <p:cTn id="28" dur="420"/>
                                        <p:tgtEl>
                                          <p:spTgt spid="12"/>
                                        </p:tgtEl>
                                      </p:cBhvr>
                                    </p:animEffect>
                                  </p:childTnLst>
                                </p:cTn>
                              </p:par>
                            </p:childTnLst>
                          </p:cTn>
                        </p:par>
                        <p:par>
                          <p:cTn id="42" fill="hold">
                            <p:stCondLst>
                              <p:cond delay="260"/>
                            </p:stCondLst>
                            <p:childTnLst>
                              <p:par>
                                <p:cTn id="30" presetID="10" presetClass="entr" presetSubtype="0" fill="hold" grpId="0" nodeType="after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fade">
                                      <p:cBhvr>
                                        <p:cTn id="32" dur="420"/>
                                        <p:tgtEl>
                                          <p:spTgt spid="13"/>
                                        </p:tgtEl>
                                      </p:cBhvr>
                                    </p:animEffect>
                                  </p:childTnLst>
                                </p:cTn>
                              </p:par>
                              <p:par>
                                <p:cTn id="33" presetID="10" presetClass="entr" presetSubtype="0" fill="hold" grpId="0" nodeType="withEffect">
                                  <p:stCondLst>
                                    <p:cond delay="0"/>
                                  </p:stCondLst>
                                  <p:childTnLst>
                                    <p:set>
                                      <p:cBhvr>
                                        <p:cTn id="34" dur="1" fill="hold">
                                          <p:stCondLst>
                                            <p:cond delay="0"/>
                                          </p:stCondLst>
                                        </p:cTn>
                                        <p:tgtEl>
                                          <p:spTgt spid="14"/>
                                        </p:tgtEl>
                                        <p:attrNameLst>
                                          <p:attrName>style.visibility</p:attrName>
                                        </p:attrNameLst>
                                      </p:cBhvr>
                                      <p:to>
                                        <p:strVal val="visible"/>
                                      </p:to>
                                    </p:set>
                                    <p:animEffect transition="in" filter="fade">
                                      <p:cBhvr>
                                        <p:cTn id="35" dur="420"/>
                                        <p:tgtEl>
                                          <p:spTgt spid="14"/>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5"/>
                                        </p:tgtEl>
                                        <p:attrNameLst>
                                          <p:attrName>style.visibility</p:attrName>
                                        </p:attrNameLst>
                                      </p:cBhvr>
                                      <p:to>
                                        <p:strVal val="visible"/>
                                      </p:to>
                                    </p:set>
                                    <p:animEffect transition="in" filter="fade">
                                      <p:cBhvr>
                                        <p:cTn id="38" dur="420"/>
                                        <p:tgtEl>
                                          <p:spTgt spid="15"/>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fade">
                                      <p:cBhvr>
                                        <p:cTn id="41" dur="420"/>
                                        <p:tgtEl>
                                          <p:spTgt spid="16"/>
                                        </p:tgtEl>
                                      </p:cBhvr>
                                    </p:animEffect>
                                  </p:childTnLst>
                                </p:cTn>
                              </p:par>
                            </p:childTnLst>
                          </p:cTn>
                        </p:par>
                        <p:par>
                          <p:cTn id="49" fill="hold">
                            <p:stCondLst>
                              <p:cond delay="520"/>
                            </p:stCondLst>
                            <p:childTnLst>
                              <p:par>
                                <p:cTn id="43" presetID="10" presetClass="entr" presetSubtype="0" fill="hold" grpId="0" nodeType="afterEffect">
                                  <p:stCondLst>
                                    <p:cond delay="0"/>
                                  </p:stCondLst>
                                  <p:childTnLst>
                                    <p:set>
                                      <p:cBhvr>
                                        <p:cTn id="44" dur="1" fill="hold">
                                          <p:stCondLst>
                                            <p:cond delay="0"/>
                                          </p:stCondLst>
                                        </p:cTn>
                                        <p:tgtEl>
                                          <p:spTgt spid="18"/>
                                        </p:tgtEl>
                                        <p:attrNameLst>
                                          <p:attrName>style.visibility</p:attrName>
                                        </p:attrNameLst>
                                      </p:cBhvr>
                                      <p:to>
                                        <p:strVal val="visible"/>
                                      </p:to>
                                    </p:set>
                                    <p:animEffect transition="in" filter="fade">
                                      <p:cBhvr>
                                        <p:cTn id="45" dur="420"/>
                                        <p:tgtEl>
                                          <p:spTgt spid="18"/>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19"/>
                                        </p:tgtEl>
                                        <p:attrNameLst>
                                          <p:attrName>style.visibility</p:attrName>
                                        </p:attrNameLst>
                                      </p:cBhvr>
                                      <p:to>
                                        <p:strVal val="visible"/>
                                      </p:to>
                                    </p:set>
                                    <p:animEffect transition="in" filter="fade">
                                      <p:cBhvr>
                                        <p:cTn id="48" dur="42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6" grpId="0" animBg="1"/>
      <p:bldP spid="7" grpId="0" animBg="1"/>
      <p:bldP spid="8" grpId="0" animBg="1"/>
      <p:bldP spid="9" grpId="0"/>
      <p:bldP spid="10" grpId="0" animBg="1"/>
      <p:bldP spid="11" grpId="0" animBg="1"/>
      <p:bldP spid="12" grpId="0" animBg="1"/>
      <p:bldP spid="13" grpId="0"/>
      <p:bldP spid="14" grpId="0" animBg="1"/>
      <p:bldP spid="15" grpId="0" animBg="1"/>
      <p:bldP spid="16" grpId="0" animBg="1"/>
      <p:bldP spid="18" grpId="0" animBg="1"/>
      <p:bldP spid="19" grpId="0" animBg="1"/>
    </p:bldLst>
  </p:timing>
</p:sld>
</file>

<file path=ppt/theme/theme1.xml><?xml version="1.0" encoding="utf-8"?>
<a:theme xmlns:a="http://schemas.openxmlformats.org/drawingml/2006/main" name="Neural IK Navy">
  <a:themeElements>
    <a:clrScheme name="Neural IK Navy">
      <a:dk1>
        <a:srgbClr val="0A1527"/>
      </a:dk1>
      <a:lt1>
        <a:srgbClr val="FFFFFF"/>
      </a:lt1>
      <a:dk2>
        <a:srgbClr val="0F1B2D"/>
      </a:dk2>
      <a:lt2>
        <a:srgbClr val="EEF3FA"/>
      </a:lt2>
      <a:accent1>
        <a:srgbClr val="3987E5"/>
      </a:accent1>
      <a:accent2>
        <a:srgbClr val="D95926"/>
      </a:accent2>
      <a:accent3>
        <a:srgbClr val="199E70"/>
      </a:accent3>
      <a:accent4>
        <a:srgbClr val="C98500"/>
      </a:accent4>
      <a:accent5>
        <a:srgbClr val="4FD6F2"/>
      </a:accent5>
      <a:accent6>
        <a:srgbClr val="D03B3B"/>
      </a:accent6>
      <a:hlink>
        <a:srgbClr val="4FD6F2"/>
      </a:hlink>
      <a:folHlink>
        <a:srgbClr val="AEBBD0"/>
      </a:folHlink>
    </a:clrScheme>
    <a:fontScheme name="Neural IK Navy">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STP 2026 Team 06</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Neural Kinematics for Intelligent Space Manipulators</dc:title>
  <dc:subject>Neural Kinematics and Reinforcement Learning for Collision-Free Space Manipulator Path Planning</dc:subject>
  <dc:creator>STP 2026 Team 06</dc:creator>
  <cp:lastModifiedBy>STP 2026 Team 06</cp:lastModifiedBy>
  <cp:revision>1</cp:revision>
  <dcterms:created xsi:type="dcterms:W3CDTF">2026-10-14T10:13:22Z</dcterms:created>
  <dcterms:modified xsi:type="dcterms:W3CDTF">2026-10-14T10:13:22Z</dcterms:modified>
</cp:coreProperties>
</file>